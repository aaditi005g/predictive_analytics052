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c8bb4a1a89014be8" /><Relationship Type="http://schemas.openxmlformats.org/officeDocument/2006/relationships/extended-properties" Target="/docProps/app.xml" Id="R64ae6b5b645e4d29" /><Relationship Type="http://schemas.openxmlformats.org/officeDocument/2006/relationships/officeDocument" Target="/ppt/presentation.xml" Id="Rfb7098420a8d47f6" /></Relationships>
</file>

<file path=ppt/presentation.xml><?xml version="1.0" encoding="utf-8"?>
<p:presentation xmlns:p="http://schemas.openxmlformats.org/presentationml/2006/main">
  <p:sldMasterIdLst>
    <p:sldMasterId xmlns:r="http://schemas.openxmlformats.org/officeDocument/2006/relationships" id="2147483648" r:id="R5fd4795810084407"/>
  </p:sldMasterIdLst>
  <p:notesMasterIdLst>
    <p:notesMasterId xmlns:r="http://schemas.openxmlformats.org/officeDocument/2006/relationships" r:id="R227fb5ec65394e6d"/>
  </p:notesMasterIdLst>
  <p:sldIdLst>
    <p:sldId xmlns:r="http://schemas.openxmlformats.org/officeDocument/2006/relationships" id="256" r:id="R687281f9e454485f"/>
    <p:sldId xmlns:r="http://schemas.openxmlformats.org/officeDocument/2006/relationships" id="257" r:id="R8bd10bf6e93249fa"/>
    <p:sldId xmlns:r="http://schemas.openxmlformats.org/officeDocument/2006/relationships" id="258" r:id="Rbf229b0d9c8d446f"/>
    <p:sldId xmlns:r="http://schemas.openxmlformats.org/officeDocument/2006/relationships" id="259" r:id="R15a2b98a535d48be"/>
    <p:sldId xmlns:r="http://schemas.openxmlformats.org/officeDocument/2006/relationships" id="260" r:id="R69b95b91fc704500"/>
    <p:sldId xmlns:r="http://schemas.openxmlformats.org/officeDocument/2006/relationships" id="261" r:id="Rc5c12dd56e6f42fb"/>
    <p:sldId xmlns:r="http://schemas.openxmlformats.org/officeDocument/2006/relationships" id="262" r:id="R962c3bd400da4f50"/>
    <p:sldId xmlns:r="http://schemas.openxmlformats.org/officeDocument/2006/relationships" id="263" r:id="R658d2d0cc1174260"/>
    <p:sldId xmlns:r="http://schemas.openxmlformats.org/officeDocument/2006/relationships" id="264" r:id="R523e90330d824b43"/>
    <p:sldId xmlns:r="http://schemas.openxmlformats.org/officeDocument/2006/relationships" id="265" r:id="Rcec16137a27740c2"/>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f5accb842284891" /><Relationship Type="http://schemas.openxmlformats.org/officeDocument/2006/relationships/slideMaster" Target="/ppt/slideMasters/slideMaster1.xml" Id="R5fd4795810084407" /><Relationship Type="http://schemas.openxmlformats.org/officeDocument/2006/relationships/notesMaster" Target="/ppt/notesMasters/notesMaster1.xml" Id="R227fb5ec65394e6d" /><Relationship Type="http://schemas.openxmlformats.org/officeDocument/2006/relationships/presProps" Target="/ppt/presProps.xml" Id="R7e8f30bef861484a" /><Relationship Type="http://schemas.openxmlformats.org/officeDocument/2006/relationships/tableStyles" Target="/ppt/tableStyles.xml" Id="Re51474c4c56449bf" /><Relationship Type="http://schemas.openxmlformats.org/officeDocument/2006/relationships/slide" Target="/ppt/slides/slide1.xml" Id="R687281f9e454485f" /><Relationship Type="http://schemas.openxmlformats.org/officeDocument/2006/relationships/slide" Target="/ppt/slides/slide2.xml" Id="R8bd10bf6e93249fa" /><Relationship Type="http://schemas.openxmlformats.org/officeDocument/2006/relationships/slide" Target="/ppt/slides/slide3.xml" Id="Rbf229b0d9c8d446f" /><Relationship Type="http://schemas.openxmlformats.org/officeDocument/2006/relationships/slide" Target="/ppt/slides/slide4.xml" Id="R15a2b98a535d48be" /><Relationship Type="http://schemas.openxmlformats.org/officeDocument/2006/relationships/slide" Target="/ppt/slides/slide5.xml" Id="R69b95b91fc704500" /><Relationship Type="http://schemas.openxmlformats.org/officeDocument/2006/relationships/slide" Target="/ppt/slides/slide6.xml" Id="Rc5c12dd56e6f42fb" /><Relationship Type="http://schemas.openxmlformats.org/officeDocument/2006/relationships/slide" Target="/ppt/slides/slide7.xml" Id="R962c3bd400da4f50" /><Relationship Type="http://schemas.openxmlformats.org/officeDocument/2006/relationships/slide" Target="/ppt/slides/slide8.xml" Id="R658d2d0cc1174260" /><Relationship Type="http://schemas.openxmlformats.org/officeDocument/2006/relationships/slide" Target="/ppt/slides/slide9.xml" Id="R523e90330d824b43" /><Relationship Type="http://schemas.openxmlformats.org/officeDocument/2006/relationships/slide" Target="/ppt/slides/slide10.xml" Id="Rcec16137a27740c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8cd97683b06418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ccbb77aa2644b0c" /><Relationship Type="http://schemas.openxmlformats.org/officeDocument/2006/relationships/notesMaster" Target="/ppt/notesMasters/notesMaster1.xml" Id="Rc2f2413c0a2c4d92" /></Relationships>
</file>

<file path=ppt/notesSlides/_rels/notesSlide2.xml.rels>&#65279;<?xml version="1.0" encoding="utf-8"?><Relationships xmlns="http://schemas.openxmlformats.org/package/2006/relationships"><Relationship Type="http://schemas.openxmlformats.org/officeDocument/2006/relationships/slide" Target="/ppt/slides/slide2.xml" Id="R37c61bfac1834886" /><Relationship Type="http://schemas.openxmlformats.org/officeDocument/2006/relationships/notesMaster" Target="/ppt/notesMasters/notesMaster1.xml" Id="R261ba399acfb46d1" /></Relationships>
</file>

<file path=ppt/notesSlides/_rels/notesSlide3.xml.rels>&#65279;<?xml version="1.0" encoding="utf-8"?><Relationships xmlns="http://schemas.openxmlformats.org/package/2006/relationships"><Relationship Type="http://schemas.openxmlformats.org/officeDocument/2006/relationships/slide" Target="/ppt/slides/slide3.xml" Id="R84850a9cefd44d58" /><Relationship Type="http://schemas.openxmlformats.org/officeDocument/2006/relationships/notesMaster" Target="/ppt/notesMasters/notesMaster1.xml" Id="R5f3e162b4a194a58" /></Relationships>
</file>

<file path=ppt/notesSlides/_rels/notesSlide4.xml.rels>&#65279;<?xml version="1.0" encoding="utf-8"?><Relationships xmlns="http://schemas.openxmlformats.org/package/2006/relationships"><Relationship Type="http://schemas.openxmlformats.org/officeDocument/2006/relationships/slide" Target="/ppt/slides/slide4.xml" Id="R396603817a4547c0" /><Relationship Type="http://schemas.openxmlformats.org/officeDocument/2006/relationships/notesMaster" Target="/ppt/notesMasters/notesMaster1.xml" Id="Rcea2e72d4ba94afc" /></Relationships>
</file>

<file path=ppt/notesSlides/_rels/notesSlide5.xml.rels>&#65279;<?xml version="1.0" encoding="utf-8"?><Relationships xmlns="http://schemas.openxmlformats.org/package/2006/relationships"><Relationship Type="http://schemas.openxmlformats.org/officeDocument/2006/relationships/slide" Target="/ppt/slides/slide5.xml" Id="Re2a20ffeeb7d497a" /><Relationship Type="http://schemas.openxmlformats.org/officeDocument/2006/relationships/notesMaster" Target="/ppt/notesMasters/notesMaster1.xml" Id="Red0bacd659e34dcb" /></Relationships>
</file>

<file path=ppt/notesSlides/_rels/notesSlide6.xml.rels>&#65279;<?xml version="1.0" encoding="utf-8"?><Relationships xmlns="http://schemas.openxmlformats.org/package/2006/relationships"><Relationship Type="http://schemas.openxmlformats.org/officeDocument/2006/relationships/slide" Target="/ppt/slides/slide6.xml" Id="Rc4cdf0f8666445c1" /><Relationship Type="http://schemas.openxmlformats.org/officeDocument/2006/relationships/notesMaster" Target="/ppt/notesMasters/notesMaster1.xml" Id="Rf07cbc6590b8437d" /></Relationships>
</file>

<file path=ppt/notesSlides/_rels/notesSlide7.xml.rels>&#65279;<?xml version="1.0" encoding="utf-8"?><Relationships xmlns="http://schemas.openxmlformats.org/package/2006/relationships"><Relationship Type="http://schemas.openxmlformats.org/officeDocument/2006/relationships/slide" Target="/ppt/slides/slide7.xml" Id="Re1f93ed250484117" /><Relationship Type="http://schemas.openxmlformats.org/officeDocument/2006/relationships/notesMaster" Target="/ppt/notesMasters/notesMaster1.xml" Id="Rbff8bfa40d364d5b" /></Relationships>
</file>

<file path=ppt/notesSlides/_rels/notesSlide8.xml.rels>&#65279;<?xml version="1.0" encoding="utf-8"?><Relationships xmlns="http://schemas.openxmlformats.org/package/2006/relationships"><Relationship Type="http://schemas.openxmlformats.org/officeDocument/2006/relationships/slide" Target="/ppt/slides/slide8.xml" Id="Rad8ddc579acc4dae" /><Relationship Type="http://schemas.openxmlformats.org/officeDocument/2006/relationships/notesMaster" Target="/ppt/notesMasters/notesMaster1.xml" Id="R7b30454ed06d40e7" /></Relationships>
</file>

<file path=ppt/notesSlides/_rels/notesSlide9.xml.rels>&#65279;<?xml version="1.0" encoding="utf-8"?><Relationships xmlns="http://schemas.openxmlformats.org/package/2006/relationships"><Relationship Type="http://schemas.openxmlformats.org/officeDocument/2006/relationships/slide" Target="/ppt/slides/slide9.xml" Id="R9c9ce9d5d9ea4ea3" /><Relationship Type="http://schemas.openxmlformats.org/officeDocument/2006/relationships/notesMaster" Target="/ppt/notesMasters/notesMaster1.xml" Id="R7f3da392f54c41a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874710042584208" /><Relationship Type="http://schemas.openxmlformats.org/officeDocument/2006/relationships/notesMaster" Target="/ppt/notesMasters/notesMaster1.xml" Id="R0bc8706ac5c4498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evidence: executed Food_Delivery_Three_Datasets_KDD.ipynb, features.py, results/audits.json, cv_comparison.csv, summary.json and importance CSVs. The experiments are separate. A and B duration endpoints are not fully specified, while C excludes preparation. No deployment or causal improvement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https://www.kaggle.com/datasets/denkuznetz/food-delivery-time-prediction</a:t>
            </a:r>
          </a:p>
          <a:p xmlns:a="http://schemas.openxmlformats.org/drawingml/2006/main">
            <a:r>
              <a:t>https://www.kaggle.com/datasets/rajatkumar30/food-delivery-time</a:t>
            </a:r>
          </a:p>
          <a:p xmlns:a="http://schemas.openxmlformats.org/drawingml/2006/main">
            <a:r>
              <a:t>https://www.kaggle.com/datasets/ahsan81/food-ordering-and-delivery-app-dataset</a:t>
            </a:r>
          </a:p>
          <a:p xmlns:a="http://schemas.openxmlformats.org/drawingml/2006/main">
            <a:r>
              <a:t>Project evidence: executed Food_Delivery_Three_Datasets_KDD.ipynb, features.py, results/audits.json, cv_comparison.csv, summary.json and importance CSVs. All versions are 1. Metadata snapshots and unchanged CSV files are bundled. A licence: Apache 2.0. B: ODbL/DbCL. C: CC0. Source collection protocols are not independently 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evidence: executed Food_Delivery_Three_Datasets_KDD.ipynb, features.py, results/audits.json, cv_comparison.csv, summary.json and importance CSVs. The stages are selection, preprocessing, transformation, data mining and interpretation/evaluation. Problem definition frames those stages; persistence demonstrates reuse. The model is not trained across concatenated datasets.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evidence: executed Food_Delivery_Three_Datasets_KDD.ipynb, features.py, results/audits.json, cv_comparison.csv, summary.json and importance CSVs. Leakage means using information not available when the estimate is requested or allowing related entities to contaminate evaluation. Rules were declared before test scoring. B ages outside 18–80 and distances above 100 km become missing. No target-guided trimming or coordinate sign reversal occurs.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evidence: executed Food_Delivery_Three_Datasets_KDD.ipynb, features.py, results/audits.json, cv_comparison.csv, summary.json and importance CSVs. B Haversine distance uses Earth radius 6371 km. Validity requires nonzero coordinates in latitude/longitude bounds and distance at most 100 km. There is no sign correction. Preprocessing uses SimpleImputer, StandardScaler and OneHotEncoder in a ColumnTransformer/Pipeline.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evidence: executed Food_Delivery_Three_Datasets_KDD.ipynb, features.py, results/audits.json, cv_comparison.csv, summary.json and importance CSVs. A KFold shuffle seed 42. B/C GroupShuffleSplit holds out 20% of entities, then GroupKFold splits development into five folds. C customers may span restaurant groups. All splits and assertions are in the notebook.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evidence: executed Food_Delivery_Three_Datasets_KDD.ipynb, features.py, results/audits.json, cv_comparison.csv, summary.json and importance CSVs. Model settings are unchanged from executed code. CV standard deviations are in cv_comparison.csv. C boosting 3.614629 and Ridge 3.616046 are practically tied. No claim of statistical significance.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evidence: executed Food_Delivery_Three_Datasets_KDD.ipynb, features.py, results/audits.json, cv_comparison.csv, summary.json and importance CSVs. Exact summary values support all displayed rounded numbers. Baseline MAEs 17.465,7.61273358,4.275167785 and selected 8.568365194,6.477185668,3.640465015. Chart data rounded to four decimals. Reductions measured separately, not pooled.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evidence: executed Food_Delivery_Three_Datasets_KDD.ipynb, features.py, results/audits.json, cv_comparison.csv, summary.json and importance CSVs. Permutation importance uses five repeats after model selection. A Distance_km importance12.7879; B distance0.99375 and age0.99029 nearly tied; C day1.36536, cost-0.06283,cuisine-0.08079. No test-based tuning follows explanation.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evidence: executed Food_Delivery_Three_Datasets_KDD.ipynb, features.py, results/audits.json, cv_comparison.csv, summary.json and importance CSVs. Data source URLs and metadata are included. Literature summaries use public abstracts. Dataset B attribution: contains information from Food Delivery Time by Rajat Kumar under ODbL https://opendatacommons.org/licenses/odbl/1-0/ and DbCL https://opendatacommons.org/licenses/dbcl/1-0/. C CC0 https://creativecommons.org/publicdomain/zero/1.0/.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d60550a5e1346d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82298676ad54d7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095befe5c5048a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0218034c73a460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97880edd4a34f1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bd10052d7cb48b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AE47412-1A6D-47C4-AD35-0BF272066927}"/>
              </a:ext>
            </a:extLst>
          </p:cNvPr>
          <p:cNvSpPr>
            <a:spLocks xmlns:a="http://schemas.openxmlformats.org/drawingml/2006/main" noGrp="1"/>
          </p:cNvSpPr>
          <p:nvPr>
            <p:ph type="title" idx="0"/>
          </p:nvPr>
        </p:nvSpPr>
        <p:spPr>
          <a:xfrm xmlns:a="http://schemas.openxmlformats.org/drawingml/2006/main">
            <a:off x="1524000" y="3238500"/>
            <a:ext cx="12192000" cy="1238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0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9EA0979-9547-408E-A8EE-F639C6B0008A}"/>
              </a:ext>
            </a:extLst>
          </p:cNvPr>
          <p:cNvSpPr>
            <a:spLocks xmlns:a="http://schemas.openxmlformats.org/drawingml/2006/main" noGrp="1"/>
          </p:cNvSpPr>
          <p:nvPr>
            <p:ph type="subTitle" idx="1"/>
          </p:nvPr>
        </p:nvSpPr>
        <p:spPr>
          <a:xfrm xmlns:a="http://schemas.openxmlformats.org/drawingml/2006/main">
            <a:off x="2286000" y="4714875"/>
            <a:ext cx="10668000" cy="952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25"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0930943-4103-42D3-9308-0FEBAC9D0F2E}"/>
              </a:ext>
            </a:extLst>
          </p:cNvPr>
          <p:cNvSpPr>
            <a:spLocks xmlns:a="http://schemas.openxmlformats.org/drawingml/2006/main" noGrp="1"/>
          </p:cNvSpPr>
          <p:nvPr>
            <p:ph type="title" idx="0"/>
          </p:nvPr>
        </p:nvSpPr>
        <p:spPr>
          <a:xfrm xmlns:a="http://schemas.openxmlformats.org/drawingml/2006/main">
            <a:off x="1524000" y="3571875"/>
            <a:ext cx="12192000" cy="1428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2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D7D9BCF-E244-433B-A872-D614168792B1}"/>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7B62F22-F9EB-4A02-9DB5-A2E20BA6BBFE}"/>
              </a:ext>
            </a:extLst>
          </p:cNvPr>
          <p:cNvSpPr>
            <a:spLocks xmlns:a="http://schemas.openxmlformats.org/drawingml/2006/main" noGrp="1"/>
          </p:cNvSpPr>
          <p:nvPr>
            <p:ph type="body" idx="1"/>
          </p:nvPr>
        </p:nvSpPr>
        <p:spPr>
          <a:xfrm xmlns:a="http://schemas.openxmlformats.org/drawingml/2006/main">
            <a:off x="857250" y="2381250"/>
            <a:ext cx="13525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1AAA445-D5C4-4355-B64B-B3EF8167F138}"/>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C5FD280-7D81-41FB-BF09-183A8A894E34}"/>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7B91D66-421D-4443-9D06-20B19EC5E1F3}"/>
              </a:ext>
            </a:extLst>
          </p:cNvPr>
          <p:cNvSpPr>
            <a:spLocks xmlns:a="http://schemas.openxmlformats.org/drawingml/2006/main" noGrp="1"/>
          </p:cNvSpPr>
          <p:nvPr>
            <p:ph type="body" idx="2"/>
          </p:nvPr>
        </p:nvSpPr>
        <p:spPr>
          <a:xfrm xmlns:a="http://schemas.openxmlformats.org/drawingml/2006/main">
            <a:off x="8096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1032329-9B37-45BD-B0E7-3334144B2B5F}"/>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DAABF1B-4FE6-4957-895D-ADB10C3A028B}"/>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27ccd238af64c92" /><Relationship Type="http://schemas.openxmlformats.org/officeDocument/2006/relationships/slideLayout" Target="/ppt/slideLayouts/slideLayout1.xml" Id="Rabf850ebe5a2477d" /><Relationship Type="http://schemas.openxmlformats.org/officeDocument/2006/relationships/slideLayout" Target="/ppt/slideLayouts/slideLayout2.xml" Id="Rbff3d7aa3733478e" /><Relationship Type="http://schemas.openxmlformats.org/officeDocument/2006/relationships/slideLayout" Target="/ppt/slideLayouts/slideLayout3.xml" Id="R8ea14993239048eb" /><Relationship Type="http://schemas.openxmlformats.org/officeDocument/2006/relationships/slideLayout" Target="/ppt/slideLayouts/slideLayout4.xml" Id="Rf4ef7bf74fca47fe" /><Relationship Type="http://schemas.openxmlformats.org/officeDocument/2006/relationships/slideLayout" Target="/ppt/slideLayouts/slideLayout5.xml" Id="Rcc9639020d8b4249" /><Relationship Type="http://schemas.openxmlformats.org/officeDocument/2006/relationships/slideLayout" Target="/ppt/slideLayouts/slideLayout6.xml" Id="Rdbce86d7bd9c402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bf850ebe5a2477d"/>
    <p:sldLayoutId xmlns:r="http://schemas.openxmlformats.org/officeDocument/2006/relationships" id="2147483650" r:id="Rbff3d7aa3733478e"/>
    <p:sldLayoutId xmlns:r="http://schemas.openxmlformats.org/officeDocument/2006/relationships" id="2147483651" r:id="R8ea14993239048eb"/>
    <p:sldLayoutId xmlns:r="http://schemas.openxmlformats.org/officeDocument/2006/relationships" id="2147483652" r:id="Rf4ef7bf74fca47fe"/>
    <p:sldLayoutId xmlns:r="http://schemas.openxmlformats.org/officeDocument/2006/relationships" id="2147483653" r:id="Rcc9639020d8b4249"/>
    <p:sldLayoutId xmlns:r="http://schemas.openxmlformats.org/officeDocument/2006/relationships" id="2147483654" r:id="Rdbce86d7bd9c402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ns0:Relationships xmlns:ns0="http://schemas.openxmlformats.org/package/2006/relationships"><ns0:Relationship Type="http://schemas.openxmlformats.org/officeDocument/2006/relationships/slideLayout" Target="/ppt/slideLayouts/slideLayout6.xml" Id="Rbd01f0a9bc094e62" /><ns0:Relationship Type="http://schemas.openxmlformats.org/officeDocument/2006/relationships/notesSlide" Target="/ppt/notesSlides/notesSlide1.xml" Id="R218db7d824254607" /></ns0:Relationships>
</file>

<file path=ppt/slides/_rels/slide2.xml.rels><?xml version='1.0' encoding='utf-8'?>
<ns0:Relationships xmlns:ns0="http://schemas.openxmlformats.org/package/2006/relationships"><ns0:Relationship Type="http://schemas.openxmlformats.org/officeDocument/2006/relationships/slideLayout" Target="/ppt/slideLayouts/slideLayout6.xml" Id="R0889a396f6c0449f" /><ns0:Relationship Type="http://schemas.openxmlformats.org/officeDocument/2006/relationships/notesSlide" Target="/ppt/notesSlides/notesSlide2.xml" Id="R394bb1a7131d4002" /><ns0:Relationship Id="rIdDatasetLink1" Type="http://schemas.openxmlformats.org/officeDocument/2006/relationships/hyperlink" Target="https://www.kaggle.com/datasets/denkuznetz/food-delivery-time-prediction" TargetMode="External" /><ns0:Relationship Id="rIdDatasetLink2" Type="http://schemas.openxmlformats.org/officeDocument/2006/relationships/hyperlink" Target="https://www.kaggle.com/datasets/rajatkumar30/food-delivery-time" TargetMode="External" /><ns0:Relationship Id="rIdDatasetLink3" Type="http://schemas.openxmlformats.org/officeDocument/2006/relationships/hyperlink" Target="https://www.kaggle.com/datasets/ahsan81/food-ordering-and-delivery-app-dataset" TargetMode="External" /></ns0:Relationships>
</file>

<file path=ppt/slides/_rels/slide3.xml.rels><?xml version='1.0' encoding='utf-8'?>
<ns0:Relationships xmlns:ns0="http://schemas.openxmlformats.org/package/2006/relationships"><ns0:Relationship Type="http://schemas.openxmlformats.org/officeDocument/2006/relationships/slideLayout" Target="/ppt/slideLayouts/slideLayout6.xml" Id="R5f4430af63594cbf" /><ns0:Relationship Type="http://schemas.openxmlformats.org/officeDocument/2006/relationships/notesSlide" Target="/ppt/notesSlides/notesSlide3.xml" Id="Rff1cfca0b4754859" /></ns0:Relationships>
</file>

<file path=ppt/slides/_rels/slide4.xml.rels><?xml version='1.0' encoding='utf-8'?>
<ns0:Relationships xmlns:ns0="http://schemas.openxmlformats.org/package/2006/relationships"><ns0:Relationship Type="http://schemas.openxmlformats.org/officeDocument/2006/relationships/slideLayout" Target="/ppt/slideLayouts/slideLayout6.xml" Id="Rb5bf94d33e3744a8" /><ns0:Relationship Type="http://schemas.openxmlformats.org/officeDocument/2006/relationships/notesSlide" Target="/ppt/notesSlides/notesSlide4.xml" Id="Rcdef920d96ac4750" /></ns0:Relationships>
</file>

<file path=ppt/slides/_rels/slide5.xml.rels><?xml version='1.0' encoding='utf-8'?>
<ns0:Relationships xmlns:ns0="http://schemas.openxmlformats.org/package/2006/relationships"><ns0:Relationship Type="http://schemas.openxmlformats.org/officeDocument/2006/relationships/slideLayout" Target="/ppt/slideLayouts/slideLayout6.xml" Id="Rbdd2476864234be9" /><ns0:Relationship Type="http://schemas.openxmlformats.org/officeDocument/2006/relationships/notesSlide" Target="/ppt/notesSlides/notesSlide5.xml" Id="R94a4e9c672bd4a5b" /></ns0:Relationships>
</file>

<file path=ppt/slides/_rels/slide6.xml.rels><?xml version='1.0' encoding='utf-8'?>
<ns0:Relationships xmlns:ns0="http://schemas.openxmlformats.org/package/2006/relationships"><ns0:Relationship Type="http://schemas.openxmlformats.org/officeDocument/2006/relationships/slideLayout" Target="/ppt/slideLayouts/slideLayout6.xml" Id="R84bafe6386df42c3" /><ns0:Relationship Type="http://schemas.openxmlformats.org/officeDocument/2006/relationships/notesSlide" Target="/ppt/notesSlides/notesSlide6.xml" Id="Rcb6a74b96a4b4487" /></ns0:Relationships>
</file>

<file path=ppt/slides/_rels/slide7.xml.rels><?xml version='1.0' encoding='utf-8'?>
<ns0:Relationships xmlns:ns0="http://schemas.openxmlformats.org/package/2006/relationships"><ns0:Relationship Type="http://schemas.openxmlformats.org/officeDocument/2006/relationships/slideLayout" Target="/ppt/slideLayouts/slideLayout6.xml" Id="Rc137965da7624ea5" /><ns0:Relationship Type="http://schemas.openxmlformats.org/officeDocument/2006/relationships/notesSlide" Target="/ppt/notesSlides/notesSlide7.xml" Id="R582e7aa0dada4750" /></ns0:Relationships>
</file>

<file path=ppt/slides/_rels/slide8.xml.rels><?xml version='1.0' encoding='utf-8'?>
<ns0:Relationships xmlns:ns0="http://schemas.openxmlformats.org/package/2006/relationships"><ns0:Relationship Type="http://schemas.openxmlformats.org/officeDocument/2006/relationships/slideLayout" Target="/ppt/slideLayouts/slideLayout6.xml" Id="R4e352f181dbb4fb2" /><ns0:Relationship Type="http://schemas.openxmlformats.org/officeDocument/2006/relationships/chart" Target="/ppt/slides/charts/chart1.xml" Id="R92debd22cbf943ec" /><ns0:Relationship Type="http://schemas.openxmlformats.org/officeDocument/2006/relationships/notesSlide" Target="/ppt/notesSlides/notesSlide8.xml" Id="R81060f86d91e41ac" /></ns0:Relationships>
</file>

<file path=ppt/slides/_rels/slide9.xml.rels><?xml version='1.0' encoding='utf-8'?>
<ns0:Relationships xmlns:ns0="http://schemas.openxmlformats.org/package/2006/relationships"><ns0:Relationship Type="http://schemas.openxmlformats.org/officeDocument/2006/relationships/slideLayout" Target="/ppt/slideLayouts/slideLayout6.xml" Id="R204fa6ced8834fdf" /><ns0:Relationship Type="http://schemas.openxmlformats.org/officeDocument/2006/relationships/notesSlide" Target="/ppt/notesSlides/notesSlide9.xml" Id="R612a1a1b7fa94dd0" /></ns0:Relationships>
</file>

<file path=ppt/slides/_rels/slide10.xml.rels><?xml version='1.0' encoding='utf-8'?>
<ns0:Relationships xmlns:ns0="http://schemas.openxmlformats.org/package/2006/relationships"><ns0:Relationship Type="http://schemas.openxmlformats.org/officeDocument/2006/relationships/slideLayout" Target="/ppt/slideLayouts/slideLayout6.xml" Id="R08442dc52cb54bc6" /><ns0:Relationship Type="http://schemas.openxmlformats.org/officeDocument/2006/relationships/notesSlide" Target="/ppt/notesSlides/notesSlide10.xml" Id="R54314784b6664e7f" /><ns0:Relationship Id="rIdDatasetLink4" Type="http://schemas.openxmlformats.org/officeDocument/2006/relationships/hyperlink" Target="https://www.kaggle.com/datasets/denkuznetz/food-delivery-time-prediction" TargetMode="External" /><ns0:Relationship Id="rIdDatasetLink5" Type="http://schemas.openxmlformats.org/officeDocument/2006/relationships/hyperlink" Target="https://www.kaggle.com/datasets/rajatkumar30/food-delivery-time" TargetMode="External" /><ns0:Relationship Id="rIdDatasetLink6" Type="http://schemas.openxmlformats.org/officeDocument/2006/relationships/hyperlink" Target="https://www.kaggle.com/datasets/ahsan81/food-ordering-and-delivery-app-dataset" TargetMode="External" /></ns0: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Median baseline</c:v>
          </c:tx>
          <c:spPr>
            <a:solidFill xmlns:a="http://schemas.openxmlformats.org/drawingml/2006/main">
              <a:srgbClr val="BBAAD8"/>
            </a:solidFill>
          </c:spPr>
          <c:invertIfNegative val="0"/>
          <c:cat>
            <c:strRef>
              <c:f>'Chart Data'!$A$2:$A$4</c:f>
              <c:strCache>
                <c:ptCount val="3"/>
                <c:pt idx="0">
                  <c:v>A</c:v>
                </c:pt>
                <c:pt idx="1">
                  <c:v>B</c:v>
                </c:pt>
                <c:pt idx="2">
                  <c:v>C</c:v>
                </c:pt>
              </c:strCache>
            </c:strRef>
          </c:cat>
          <c:val>
            <c:numRef>
              <c:f>'Chart Data'!$B$2:$B$4</c:f>
              <c:numCache>
                <c:formatCode>0.00</c:formatCode>
                <c:ptCount val="3"/>
                <c:pt idx="0">
                  <c:v>17.465</c:v>
                </c:pt>
                <c:pt idx="1">
                  <c:v>7.6127</c:v>
                </c:pt>
                <c:pt idx="2">
                  <c:v>4.2752</c:v>
                </c:pt>
              </c:numCache>
            </c:numRef>
          </c:val>
        </c:ser>
        <c:ser>
          <c:idx val="1"/>
          <c:order val="1"/>
          <c:tx>
            <c:v>Selected model</c:v>
          </c:tx>
          <c:spPr>
            <a:solidFill xmlns:a="http://schemas.openxmlformats.org/drawingml/2006/main">
              <a:srgbClr val="007F82"/>
            </a:solidFill>
          </c:spPr>
          <c:invertIfNegative val="0"/>
          <c:cat>
            <c:strRef>
              <c:f>'Chart Data'!$C$2:$C$4</c:f>
              <c:strCache>
                <c:ptCount val="3"/>
                <c:pt idx="0">
                  <c:v>A</c:v>
                </c:pt>
                <c:pt idx="1">
                  <c:v>B</c:v>
                </c:pt>
                <c:pt idx="2">
                  <c:v>C</c:v>
                </c:pt>
              </c:strCache>
            </c:strRef>
          </c:cat>
          <c:val>
            <c:numRef>
              <c:f>'Chart Data'!$D$2:$D$4</c:f>
              <c:numCache>
                <c:formatCode>0.00</c:formatCode>
                <c:ptCount val="3"/>
                <c:pt idx="0">
                  <c:v>8.5684</c:v>
                </c:pt>
                <c:pt idx="1">
                  <c:v>6.4772</c:v>
                </c:pt>
                <c:pt idx="2">
                  <c:v>3.6405</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575">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75">
                <a:solidFill>
                  <a:srgbClr val="666666"/>
                </a:solidFill>
                <a:latin typeface="Arial"/>
                <a:ea typeface="Arial"/>
                <a:cs typeface="Arial"/>
              </a:defRPr>
            </a:pPr>
          </a:p>
        </c:txPr>
        <c:crossAx val="48672768"/>
      </c:catAx>
      <c:valAx>
        <c:axId val="48672768"/>
        <c:scaling>
          <c:orientation val="minMax"/>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legend>
    <c:plotVisOnly val="1"/>
  </c:chart>
  <c:spPr>
    <a:solidFill xmlns:a="http://schemas.openxmlformats.org/drawingml/2006/main">
      <a:srgbClr val="FCFAF6"/>
    </a:solidFill>
  </c:spPr>
  <c:externalData r:id="rIdChartSnapshot1">
    <c:autoUpdate val="0"/>
  </c:externalData>
</c:chartSpace>
</file>

<file path=ppt/slides/slide1.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211D38"/>
        </a:solidFill>
      </p:bgPr>
    </p:bg>
    <p:spTree>
      <p:nvGrpSpPr>
        <p:cNvPr id="1" name=""/>
        <p:cNvGrpSpPr/>
        <p:nvPr/>
      </p:nvGrpSpPr>
      <p:grpSpPr>
        <a:xfrm/>
      </p:grpSpPr>
      <p:sp>
        <p:nvSpPr>
          <p:cNvPr id="15" name="">
            <a:extLst>
              <a:ext uri="{FF2B5EF4-FFF2-40B4-BE49-F238E27FC236}">
                <ns2:creationId id="{36F00E52-FDB9-414C-A406-34507DDA11AA}"/>
              </a:ext>
            </a:extLst>
          </p:cNvPr>
          <p:cNvSpPr>
            <a:spLocks noGrp="1"/>
          </p:cNvSpPr>
          <p:nvPr/>
        </p:nvSpPr>
        <p:spPr>
          <a:xfrm>
            <a:off x="609600" y="266700"/>
            <a:ext cx="13525500" cy="285750"/>
          </a:xfrm>
          <a:prstGeom prst="rect">
            <a:avLst/>
          </a:prstGeom>
          <a:noFill/>
          <a:ln w="0">
            <a:noFill/>
          </a:ln>
        </p:spPr>
        <p:txBody>
          <a:bodyPr/>
          <a:lstStyle>
            <a:defPPr>
              <a:defRPr sz="1425" b="1">
                <a:solidFill>
                  <a:srgbClr val="9CE2D1"/>
                </a:solidFill>
                <a:latin typeface="Arial"/>
                <a:ea typeface="Arial"/>
                <a:cs typeface="Arial"/>
              </a:defRPr>
            </a:defPPr>
          </a:lstStyle>
          <a:p>
            <a:pPr>
              <a:defRPr sz="1425" b="1">
                <a:solidFill>
                  <a:srgbClr val="9CE2D1"/>
                </a:solidFill>
                <a:latin typeface="Arial"/>
                <a:ea typeface="Arial"/>
                <a:cs typeface="Arial"/>
              </a:defRPr>
            </a:pPr>
            <a:r>
              <a:rPr sz="1425" b="1">
                <a:solidFill>
                  <a:srgbClr val="9CE2D1"/>
                </a:solidFill>
                <a:latin typeface="Arial"/>
                <a:ea typeface="Arial"/>
                <a:cs typeface="Arial"/>
              </a:rPr>
              <a:t>THREE KAGGLE DATASETS / END-TO-END KDD STUDY</a:t>
            </a:r>
          </a:p>
        </p:txBody>
      </p:sp>
      <p:sp>
        <p:nvSpPr>
          <p:cNvPr id="2" name="">
            <a:extLst>
              <a:ext uri="{FF2B5EF4-FFF2-40B4-BE49-F238E27FC236}">
                <ns2:creationId id="{FF6A535E-30EC-49C2-A03B-1327581A21FD}"/>
              </a:ext>
            </a:extLst>
          </p:cNvPr>
          <p:cNvSpPr>
            <a:spLocks noGrp="1"/>
          </p:cNvSpPr>
          <p:nvPr/>
        </p:nvSpPr>
        <p:spPr>
          <a:xfrm>
            <a:off x="609600" y="704850"/>
            <a:ext cx="14020800" cy="895350"/>
          </a:xfrm>
          <a:prstGeom prst="rect">
            <a:avLst/>
          </a:prstGeom>
          <a:noFill/>
          <a:ln w="0">
            <a:noFill/>
          </a:ln>
        </p:spPr>
        <p:txBody>
          <a:bodyPr/>
          <a:lstStyle>
            <a:defPPr>
              <a:defRPr sz="3600" b="1">
                <a:solidFill>
                  <a:srgbClr val="FFFFFF"/>
                </a:solidFill>
                <a:latin typeface="Arial"/>
                <a:ea typeface="Arial"/>
                <a:cs typeface="Arial"/>
              </a:defRPr>
            </a:defPPr>
          </a:lstStyle>
          <a:p>
            <a:pPr>
              <a:defRPr sz="3600" b="1">
                <a:solidFill>
                  <a:srgbClr val="FFFFFF"/>
                </a:solidFill>
                <a:latin typeface="Arial"/>
                <a:ea typeface="Arial"/>
                <a:cs typeface="Arial"/>
              </a:defRPr>
            </a:pPr>
            <a:r>
              <a:rPr sz="3600" b="1">
                <a:solidFill>
                  <a:srgbClr val="FFFFFF"/>
                </a:solidFill>
                <a:latin typeface="Arial"/>
                <a:ea typeface="Arial"/>
                <a:cs typeface="Arial"/>
              </a:rPr>
              <a:t>Food Delivery Time Prediction</a:t>
            </a:r>
          </a:p>
        </p:txBody>
      </p:sp>
      <p:sp>
        <p:nvSpPr>
          <p:cNvPr id="3" name="">
            <a:extLst>
              <a:ext uri="{FF2B5EF4-FFF2-40B4-BE49-F238E27FC236}">
                <ns2:creationId id="{8106CEB7-C037-41CE-B27E-3D5B1BC47DB2}"/>
              </a:ext>
            </a:extLst>
          </p:cNvPr>
          <p:cNvSpPr>
            <a:spLocks noGrp="1"/>
          </p:cNvSpPr>
          <p:nvPr/>
        </p:nvSpPr>
        <p:spPr>
          <a:xfrm>
            <a:off x="609600" y="8220075"/>
            <a:ext cx="12858750" cy="219075"/>
          </a:xfrm>
          <a:prstGeom prst="rect">
            <a:avLst/>
          </a:prstGeom>
          <a:noFill/>
          <a:ln w="0">
            <a:noFill/>
          </a:ln>
        </p:spPr>
        <p:txBody>
          <a:bodyPr/>
          <a:lstStyle>
            <a:defPPr>
              <a:defRPr sz="1125" b="0">
                <a:solidFill>
                  <a:srgbClr val="BAB4CD"/>
                </a:solidFill>
                <a:latin typeface="Arial"/>
                <a:ea typeface="Arial"/>
                <a:cs typeface="Arial"/>
              </a:defRPr>
            </a:defPPr>
          </a:lstStyle>
          <a:p>
            <a:pPr>
              <a:defRPr sz="1125" b="0">
                <a:solidFill>
                  <a:srgbClr val="BAB4CD"/>
                </a:solidFill>
                <a:latin typeface="Arial"/>
                <a:ea typeface="Arial"/>
                <a:cs typeface="Arial"/>
              </a:defRPr>
            </a:pPr>
            <a:r>
              <a:rPr sz="1125" b="0">
                <a:solidFill>
                  <a:srgbClr val="BAB4CD"/>
                </a:solidFill>
                <a:latin typeface="Arial"/>
                <a:ea typeface="Arial"/>
                <a:cs typeface="Arial"/>
              </a:rPr>
              <a:t>AADITI GAIKWAD   /   PREDICTIVE ANALYTICS</a:t>
            </a:r>
          </a:p>
        </p:txBody>
      </p:sp>
      <p:sp>
        <p:nvSpPr>
          <p:cNvPr id="4" name="">
            <a:extLst>
              <a:ext uri="{FF2B5EF4-FFF2-40B4-BE49-F238E27FC236}">
                <ns2:creationId id="{C2A51D06-E8E6-48F4-8819-9ED912E81CEE}"/>
              </a:ext>
            </a:extLst>
          </p:cNvPr>
          <p:cNvSpPr>
            <a:spLocks noGrp="1"/>
          </p:cNvSpPr>
          <p:nvPr/>
        </p:nvSpPr>
        <p:spPr>
          <a:xfrm>
            <a:off x="14144625" y="8172450"/>
            <a:ext cx="571500" cy="276225"/>
          </a:xfrm>
          <a:prstGeom prst="rect">
            <a:avLst/>
          </a:prstGeom>
          <a:noFill/>
          <a:ln w="0">
            <a:noFill/>
          </a:ln>
        </p:spPr>
        <p:txBody>
          <a:bodyPr/>
          <a:lstStyle>
            <a:defPPr>
              <a:defRPr sz="1500" b="1">
                <a:solidFill>
                  <a:srgbClr val="9CE2D1"/>
                </a:solidFill>
                <a:latin typeface="Arial"/>
                <a:ea typeface="Arial"/>
                <a:cs typeface="Arial"/>
              </a:defRPr>
            </a:defPPr>
          </a:lstStyle>
          <a:p>
            <a:pPr>
              <a:defRPr sz="1500" b="1">
                <a:solidFill>
                  <a:srgbClr val="9CE2D1"/>
                </a:solidFill>
                <a:latin typeface="Arial"/>
                <a:ea typeface="Arial"/>
                <a:cs typeface="Arial"/>
              </a:defRPr>
            </a:pPr>
            <a:r>
              <a:rPr sz="1500" b="1">
                <a:solidFill>
                  <a:srgbClr val="9CE2D1"/>
                </a:solidFill>
                <a:latin typeface="Arial"/>
                <a:ea typeface="Arial"/>
                <a:cs typeface="Arial"/>
              </a:rPr>
              <a:t>01</a:t>
            </a:r>
          </a:p>
        </p:txBody>
      </p:sp>
      <p:sp>
        <p:nvSpPr>
          <p:cNvPr id="5" name="">
            <a:extLst>
              <a:ext uri="{FF2B5EF4-FFF2-40B4-BE49-F238E27FC236}">
                <ns2:creationId id="{CDABFD5F-1066-4B22-965C-DBD748A3AA31}"/>
              </a:ext>
            </a:extLst>
          </p:cNvPr>
          <p:cNvSpPr>
            <a:spLocks noGrp="1"/>
          </p:cNvSpPr>
          <p:nvPr/>
        </p:nvSpPr>
        <p:spPr>
          <a:xfrm>
            <a:off x="647700" y="1676400"/>
            <a:ext cx="13811250" cy="428625"/>
          </a:xfrm>
          <a:prstGeom prst="rect">
            <a:avLst/>
          </a:prstGeom>
          <a:noFill/>
          <a:ln w="0">
            <a:noFill/>
          </a:ln>
        </p:spPr>
        <p:txBody>
          <a:bodyPr/>
          <a:lstStyle>
            <a:defPPr>
              <a:defRPr sz="2175" b="1">
                <a:solidFill>
                  <a:srgbClr val="9CE2D1"/>
                </a:solidFill>
                <a:latin typeface="Arial"/>
                <a:ea typeface="Arial"/>
                <a:cs typeface="Arial"/>
              </a:defRPr>
            </a:defPPr>
          </a:lstStyle>
          <a:p>
            <a:pPr>
              <a:defRPr sz="2175" b="1">
                <a:solidFill>
                  <a:srgbClr val="9CE2D1"/>
                </a:solidFill>
                <a:latin typeface="Arial"/>
                <a:ea typeface="Arial"/>
                <a:cs typeface="Arial"/>
              </a:defRPr>
            </a:pPr>
            <a:r>
              <a:rPr sz="2175" b="1">
                <a:solidFill>
                  <a:srgbClr val="9CE2D1"/>
                </a:solidFill>
                <a:latin typeface="Arial"/>
                <a:ea typeface="Arial"/>
                <a:cs typeface="Arial"/>
              </a:rPr>
              <a:t>Aaditi Gaikwad     PRN 23070521052</a:t>
            </a:r>
          </a:p>
        </p:txBody>
      </p:sp>
      <p:sp>
        <p:nvSpPr>
          <p:cNvPr id="6" name="">
            <a:extLst>
              <a:ext uri="{FF2B5EF4-FFF2-40B4-BE49-F238E27FC236}">
                <ns2:creationId id="{0521C35E-CD45-4835-A1F9-BDDCAE67C71A}"/>
              </a:ext>
            </a:extLst>
          </p:cNvPr>
          <p:cNvSpPr>
            <a:spLocks noGrp="1"/>
          </p:cNvSpPr>
          <p:nvPr/>
        </p:nvSpPr>
        <p:spPr>
          <a:xfrm>
            <a:off x="647700" y="2219325"/>
            <a:ext cx="13811250" cy="742950"/>
          </a:xfrm>
          <a:prstGeom prst="rect">
            <a:avLst/>
          </a:prstGeom>
          <a:noFill/>
          <a:ln w="0">
            <a:noFill/>
          </a:ln>
        </p:spPr>
        <p:txBody>
          <a:bodyPr/>
          <a:lstStyle>
            <a:defPPr>
              <a:defRPr sz="2025" b="0">
                <a:solidFill>
                  <a:srgbClr val="D9D3E8"/>
                </a:solidFill>
                <a:latin typeface="Arial"/>
                <a:ea typeface="Arial"/>
                <a:cs typeface="Arial"/>
              </a:defRPr>
            </a:defPPr>
          </a:lstStyle>
          <a:p>
            <a:pPr>
              <a:defRPr sz="2025" b="0">
                <a:solidFill>
                  <a:srgbClr val="D9D3E8"/>
                </a:solidFill>
                <a:latin typeface="Arial"/>
                <a:ea typeface="Arial"/>
                <a:cs typeface="Arial"/>
              </a:defRPr>
            </a:pPr>
            <a:r>
              <a:rPr sz="2025" b="0">
                <a:solidFill>
                  <a:srgbClr val="D9D3E8"/>
                </a:solidFill>
                <a:latin typeface="Arial"/>
                <a:ea typeface="Arial"/>
                <a:cs typeface="Arial"/>
              </a:rPr>
              <a:t>Submitted to Dr. Deepak Asudani</a:t>
            </a:r>
          </a:p>
          <a:p>
            <a:pPr>
              <a:defRPr sz="2025" b="0">
                <a:solidFill>
                  <a:srgbClr val="D9D3E8"/>
                </a:solidFill>
                <a:latin typeface="Arial"/>
                <a:ea typeface="Arial"/>
                <a:cs typeface="Arial"/>
              </a:defRPr>
            </a:pPr>
            <a:r>
              <a:rPr sz="2025" b="0">
                <a:solidFill>
                  <a:srgbClr val="D9D3E8"/>
                </a:solidFill>
                <a:latin typeface="Arial"/>
                <a:ea typeface="Arial"/>
                <a:cs typeface="Arial"/>
              </a:rPr>
              <a:t>Symbiosis Institute of Technology, Nagpur</a:t>
            </a:r>
          </a:p>
        </p:txBody>
      </p:sp>
      <p:sp>
        <p:nvSpPr>
          <p:cNvPr id="7" name="">
            <a:extLst>
              <a:ext uri="{FF2B5EF4-FFF2-40B4-BE49-F238E27FC236}">
                <ns2:creationId id="{9634D59D-686F-4FB4-BD07-BE5F1CF31472}"/>
              </a:ext>
            </a:extLst>
          </p:cNvPr>
          <p:cNvSpPr>
            <a:spLocks noGrp="1"/>
          </p:cNvSpPr>
          <p:nvPr/>
        </p:nvSpPr>
        <p:spPr>
          <a:xfrm>
            <a:off x="647700" y="3362325"/>
            <a:ext cx="8382000" cy="419100"/>
          </a:xfrm>
          <a:prstGeom prst="rect">
            <a:avLst/>
          </a:prstGeom>
          <a:noFill/>
          <a:ln w="0">
            <a:noFill/>
          </a:ln>
        </p:spPr>
        <p:txBody>
          <a:bodyPr/>
          <a:lstStyle>
            <a:defPPr>
              <a:defRPr sz="2325" b="1">
                <a:solidFill>
                  <a:srgbClr val="9CE2D1"/>
                </a:solidFill>
                <a:latin typeface="Arial"/>
                <a:ea typeface="Arial"/>
                <a:cs typeface="Arial"/>
              </a:defRPr>
            </a:defPPr>
          </a:lstStyle>
          <a:p>
            <a:pPr>
              <a:defRPr sz="2325" b="1">
                <a:solidFill>
                  <a:srgbClr val="9CE2D1"/>
                </a:solidFill>
                <a:latin typeface="Arial"/>
                <a:ea typeface="Arial"/>
                <a:cs typeface="Arial"/>
              </a:defRPr>
            </a:pPr>
            <a:r>
              <a:rPr sz="2325" b="1">
                <a:solidFill>
                  <a:srgbClr val="9CE2D1"/>
                </a:solidFill>
                <a:latin typeface="Arial"/>
                <a:ea typeface="Arial"/>
                <a:cs typeface="Arial"/>
              </a:rPr>
              <a:t>Problem statement</a:t>
            </a:r>
          </a:p>
        </p:txBody>
      </p:sp>
      <p:sp>
        <p:nvSpPr>
          <p:cNvPr id="8" name="">
            <a:extLst>
              <a:ext uri="{FF2B5EF4-FFF2-40B4-BE49-F238E27FC236}">
                <ns2:creationId id="{07A10F2A-5DE1-4DCF-886E-CDB2A92397DB}"/>
              </a:ext>
            </a:extLst>
          </p:cNvPr>
          <p:cNvSpPr>
            <a:spLocks noGrp="1"/>
          </p:cNvSpPr>
          <p:nvPr/>
        </p:nvSpPr>
        <p:spPr>
          <a:xfrm>
            <a:off x="647700" y="3886200"/>
            <a:ext cx="8477250" cy="1495425"/>
          </a:xfrm>
          <a:prstGeom prst="rect">
            <a:avLst/>
          </a:prstGeom>
          <a:noFill/>
          <a:ln w="0">
            <a:noFill/>
          </a:ln>
        </p:spPr>
        <p:txBody>
          <a:bodyPr/>
          <a:lstStyle>
            <a:defPPr>
              <a:defRPr sz="2325" b="0">
                <a:solidFill>
                  <a:srgbClr val="FFFFFF"/>
                </a:solidFill>
                <a:latin typeface="Arial"/>
                <a:ea typeface="Arial"/>
                <a:cs typeface="Arial"/>
              </a:defRPr>
            </a:defPPr>
          </a:lstStyle>
          <a:p>
            <a:pPr>
              <a:defRPr sz="2325" b="0">
                <a:solidFill>
                  <a:srgbClr val="FFFFFF"/>
                </a:solidFill>
                <a:latin typeface="Arial"/>
                <a:ea typeface="Arial"/>
                <a:cs typeface="Arial"/>
              </a:defRPr>
            </a:pPr>
            <a:r>
              <a:rPr sz="2325" b="0">
                <a:solidFill>
                  <a:srgbClr val="FFFFFF"/>
                </a:solidFill>
                <a:latin typeface="Arial"/>
                <a:ea typeface="Arial"/>
                <a:cs typeface="Arial"/>
              </a:rPr>
              <a:t>Food orders take different amounts of time to reach customers. This project predicts recorded delivery duration in minutes using order information and available context, rather than assigning every order the same expected time.</a:t>
            </a:r>
          </a:p>
        </p:txBody>
      </p:sp>
      <p:sp>
        <p:nvSpPr>
          <p:cNvPr id="9" name="">
            <a:extLst>
              <a:ext uri="{FF2B5EF4-FFF2-40B4-BE49-F238E27FC236}">
                <ns2:creationId id="{74CCB021-C6A4-4D6D-8DE6-B35AFF03DC63}"/>
              </a:ext>
            </a:extLst>
          </p:cNvPr>
          <p:cNvSpPr>
            <a:spLocks noGrp="1"/>
          </p:cNvSpPr>
          <p:nvPr/>
        </p:nvSpPr>
        <p:spPr>
          <a:xfrm>
            <a:off x="647700" y="5886450"/>
            <a:ext cx="8382000" cy="419100"/>
          </a:xfrm>
          <a:prstGeom prst="rect">
            <a:avLst/>
          </a:prstGeom>
          <a:noFill/>
          <a:ln w="0">
            <a:noFill/>
          </a:ln>
        </p:spPr>
        <p:txBody>
          <a:bodyPr/>
          <a:lstStyle>
            <a:defPPr>
              <a:defRPr sz="2325" b="1">
                <a:solidFill>
                  <a:srgbClr val="9CE2D1"/>
                </a:solidFill>
                <a:latin typeface="Arial"/>
                <a:ea typeface="Arial"/>
                <a:cs typeface="Arial"/>
              </a:defRPr>
            </a:defPPr>
          </a:lstStyle>
          <a:p>
            <a:pPr>
              <a:defRPr sz="2325" b="1">
                <a:solidFill>
                  <a:srgbClr val="9CE2D1"/>
                </a:solidFill>
                <a:latin typeface="Arial"/>
                <a:ea typeface="Arial"/>
                <a:cs typeface="Arial"/>
              </a:defRPr>
            </a:pPr>
            <a:r>
              <a:rPr sz="2325" b="1">
                <a:solidFill>
                  <a:srgbClr val="9CE2D1"/>
                </a:solidFill>
                <a:latin typeface="Arial"/>
                <a:ea typeface="Arial"/>
                <a:cs typeface="Arial"/>
              </a:rPr>
              <a:t>What this study demonstrates</a:t>
            </a:r>
          </a:p>
        </p:txBody>
      </p:sp>
      <p:sp>
        <p:nvSpPr>
          <p:cNvPr id="10" name="">
            <a:extLst>
              <a:ext uri="{FF2B5EF4-FFF2-40B4-BE49-F238E27FC236}">
                <ns2:creationId id="{09F9ED00-6FBA-4BD7-A480-B140D7008797}"/>
              </a:ext>
            </a:extLst>
          </p:cNvPr>
          <p:cNvSpPr>
            <a:spLocks noGrp="1"/>
          </p:cNvSpPr>
          <p:nvPr/>
        </p:nvSpPr>
        <p:spPr>
          <a:xfrm>
            <a:off x="647700" y="6429375"/>
            <a:ext cx="8477250" cy="1390650"/>
          </a:xfrm>
          <a:prstGeom prst="rect">
            <a:avLst/>
          </a:prstGeom>
          <a:noFill/>
          <a:ln w="0">
            <a:noFill/>
          </a:ln>
        </p:spPr>
        <p:txBody>
          <a:bodyPr/>
          <a:lstStyle>
            <a:defPPr>
              <a:defRPr sz="2175" b="0">
                <a:solidFill>
                  <a:srgbClr val="FFFFFF"/>
                </a:solidFill>
                <a:latin typeface="Arial"/>
                <a:ea typeface="Arial"/>
                <a:cs typeface="Arial"/>
              </a:defRPr>
            </a:defPPr>
          </a:lstStyle>
          <a:p>
            <a:pPr>
              <a:defRPr sz="2175" b="0">
                <a:solidFill>
                  <a:srgbClr val="FFFFFF"/>
                </a:solidFill>
                <a:latin typeface="Arial"/>
                <a:ea typeface="Arial"/>
                <a:cs typeface="Arial"/>
              </a:defRPr>
            </a:pPr>
            <a:r>
              <a:rPr sz="2175" b="0">
                <a:solidFill>
                  <a:srgbClr val="FFFFFF"/>
                </a:solidFill>
                <a:latin typeface="Arial"/>
                <a:ea typeface="Arial"/>
                <a:cs typeface="Arial"/>
              </a:rPr>
              <a:t>The complete KDD process: select and inspect data, clean records, transform inputs, compare regression models, evaluate unseen data and explain the results. The final output is one reusable prediction pipeline for each dataset.</a:t>
            </a:r>
          </a:p>
        </p:txBody>
      </p:sp>
      <p:sp>
        <p:nvSpPr>
          <p:cNvPr id="11" name="">
            <a:extLst>
              <a:ext uri="{FF2B5EF4-FFF2-40B4-BE49-F238E27FC236}">
                <ns2:creationId id="{EDEA1304-F65A-497F-B411-EEB3A0F0B4FA}"/>
              </a:ext>
            </a:extLst>
          </p:cNvPr>
          <p:cNvSpPr>
            <a:spLocks noGrp="1"/>
          </p:cNvSpPr>
          <p:nvPr/>
        </p:nvSpPr>
        <p:spPr>
          <a:xfrm>
            <a:off x="10477500" y="3333750"/>
            <a:ext cx="3429000" cy="828675"/>
          </a:xfrm>
          <a:prstGeom prst="rect">
            <a:avLst/>
          </a:prstGeom>
          <a:noFill/>
          <a:ln w="0">
            <a:noFill/>
          </a:ln>
        </p:spPr>
        <p:txBody>
          <a:bodyPr/>
          <a:lstStyle>
            <a:defPPr>
              <a:defRPr sz="5850" b="1">
                <a:solidFill>
                  <a:srgbClr val="9CE2D1"/>
                </a:solidFill>
                <a:latin typeface="Arial"/>
                <a:ea typeface="Arial"/>
                <a:cs typeface="Arial"/>
              </a:defRPr>
            </a:defPPr>
          </a:lstStyle>
          <a:p>
            <a:pPr>
              <a:defRPr sz="5850" b="1">
                <a:solidFill>
                  <a:srgbClr val="9CE2D1"/>
                </a:solidFill>
                <a:latin typeface="Arial"/>
                <a:ea typeface="Arial"/>
                <a:cs typeface="Arial"/>
              </a:defRPr>
            </a:pPr>
            <a:r>
              <a:rPr sz="5850" b="1">
                <a:solidFill>
                  <a:srgbClr val="9CE2D1"/>
                </a:solidFill>
                <a:latin typeface="Arial"/>
                <a:ea typeface="Arial"/>
                <a:cs typeface="Arial"/>
              </a:rPr>
              <a:t>3</a:t>
            </a:r>
          </a:p>
        </p:txBody>
      </p:sp>
      <p:sp>
        <p:nvSpPr>
          <p:cNvPr id="12" name="">
            <a:extLst>
              <a:ext uri="{FF2B5EF4-FFF2-40B4-BE49-F238E27FC236}">
                <ns2:creationId id="{68C001AB-EC58-4E69-B5E3-6E22F1A85CB6}"/>
              </a:ext>
            </a:extLst>
          </p:cNvPr>
          <p:cNvSpPr>
            <a:spLocks noGrp="1"/>
          </p:cNvSpPr>
          <p:nvPr/>
        </p:nvSpPr>
        <p:spPr>
          <a:xfrm>
            <a:off x="10477500" y="4267200"/>
            <a:ext cx="3714750" cy="638175"/>
          </a:xfrm>
          <a:prstGeom prst="rect">
            <a:avLst/>
          </a:prstGeom>
          <a:noFill/>
          <a:ln w="0">
            <a:noFill/>
          </a:ln>
        </p:spPr>
        <p:txBody>
          <a:bodyPr/>
          <a:lstStyle>
            <a:defPPr>
              <a:defRPr sz="2100" b="0">
                <a:solidFill>
                  <a:srgbClr val="FFFFFF"/>
                </a:solidFill>
                <a:latin typeface="Arial"/>
                <a:ea typeface="Arial"/>
                <a:cs typeface="Arial"/>
              </a:defRPr>
            </a:defPPr>
          </a:lstStyle>
          <a:p>
            <a:pPr>
              <a:defRPr sz="2100" b="0">
                <a:solidFill>
                  <a:srgbClr val="FFFFFF"/>
                </a:solidFill>
                <a:latin typeface="Arial"/>
                <a:ea typeface="Arial"/>
                <a:cs typeface="Arial"/>
              </a:defRPr>
            </a:pPr>
            <a:r>
              <a:rPr sz="2100" b="0">
                <a:solidFill>
                  <a:srgbClr val="FFFFFF"/>
                </a:solidFill>
                <a:latin typeface="Arial"/>
                <a:ea typeface="Arial"/>
                <a:cs typeface="Arial"/>
              </a:rPr>
              <a:t>separate data experiments</a:t>
            </a:r>
          </a:p>
        </p:txBody>
      </p:sp>
      <p:sp>
        <p:nvSpPr>
          <p:cNvPr id="13" name="">
            <a:extLst>
              <a:ext uri="{FF2B5EF4-FFF2-40B4-BE49-F238E27FC236}">
                <ns2:creationId id="{17A53F82-4FE9-46B4-AFB8-AD605ECF4D0E}"/>
              </a:ext>
            </a:extLst>
          </p:cNvPr>
          <p:cNvSpPr>
            <a:spLocks noGrp="1"/>
          </p:cNvSpPr>
          <p:nvPr/>
        </p:nvSpPr>
        <p:spPr>
          <a:xfrm>
            <a:off x="10477500" y="5276850"/>
            <a:ext cx="3429000" cy="828675"/>
          </a:xfrm>
          <a:prstGeom prst="rect">
            <a:avLst/>
          </a:prstGeom>
          <a:noFill/>
          <a:ln w="0">
            <a:noFill/>
          </a:ln>
        </p:spPr>
        <p:txBody>
          <a:bodyPr/>
          <a:lstStyle>
            <a:defPPr>
              <a:defRPr sz="5850" b="1">
                <a:solidFill>
                  <a:srgbClr val="F1BA87"/>
                </a:solidFill>
                <a:latin typeface="Arial"/>
                <a:ea typeface="Arial"/>
                <a:cs typeface="Arial"/>
              </a:defRPr>
            </a:defPPr>
          </a:lstStyle>
          <a:p>
            <a:pPr>
              <a:defRPr sz="5850" b="1">
                <a:solidFill>
                  <a:srgbClr val="F1BA87"/>
                </a:solidFill>
                <a:latin typeface="Arial"/>
                <a:ea typeface="Arial"/>
                <a:cs typeface="Arial"/>
              </a:defRPr>
            </a:pPr>
            <a:r>
              <a:rPr sz="5850" b="1">
                <a:solidFill>
                  <a:srgbClr val="F1BA87"/>
                </a:solidFill>
                <a:latin typeface="Arial"/>
                <a:ea typeface="Arial"/>
                <a:cs typeface="Arial"/>
              </a:rPr>
              <a:t>4</a:t>
            </a:r>
          </a:p>
        </p:txBody>
      </p:sp>
      <p:sp>
        <p:nvSpPr>
          <p:cNvPr id="14" name="">
            <a:extLst>
              <a:ext uri="{FF2B5EF4-FFF2-40B4-BE49-F238E27FC236}">
                <ns2:creationId id="{4F9E8B66-17F0-44FE-AFAA-DD4EF341FDEC}"/>
              </a:ext>
            </a:extLst>
          </p:cNvPr>
          <p:cNvSpPr>
            <a:spLocks noGrp="1"/>
          </p:cNvSpPr>
          <p:nvPr/>
        </p:nvSpPr>
        <p:spPr>
          <a:xfrm>
            <a:off x="10477500" y="6210300"/>
            <a:ext cx="3714750" cy="1000125"/>
          </a:xfrm>
          <a:prstGeom prst="rect">
            <a:avLst/>
          </a:prstGeom>
          <a:noFill/>
          <a:ln w="0">
            <a:noFill/>
          </a:ln>
        </p:spPr>
        <p:txBody>
          <a:bodyPr/>
          <a:lstStyle>
            <a:defPPr>
              <a:defRPr sz="2100" b="0">
                <a:solidFill>
                  <a:srgbClr val="FFFFFF"/>
                </a:solidFill>
                <a:latin typeface="Arial"/>
                <a:ea typeface="Arial"/>
                <a:cs typeface="Arial"/>
              </a:defRPr>
            </a:defPPr>
          </a:lstStyle>
          <a:p>
            <a:pPr>
              <a:defRPr sz="2100" b="0">
                <a:solidFill>
                  <a:srgbClr val="FFFFFF"/>
                </a:solidFill>
                <a:latin typeface="Arial"/>
                <a:ea typeface="Arial"/>
                <a:cs typeface="Arial"/>
              </a:defRPr>
            </a:pPr>
            <a:r>
              <a:rPr sz="2100" b="0">
                <a:solidFill>
                  <a:srgbClr val="FFFFFF"/>
                </a:solidFill>
                <a:latin typeface="Arial"/>
                <a:ea typeface="Arial"/>
                <a:cs typeface="Arial"/>
              </a:rPr>
              <a:t>model families compared</a:t>
            </a:r>
          </a:p>
          <a:p>
            <a:pPr>
              <a:defRPr sz="2100" b="0">
                <a:solidFill>
                  <a:srgbClr val="FFFFFF"/>
                </a:solidFill>
                <a:latin typeface="Arial"/>
                <a:ea typeface="Arial"/>
                <a:cs typeface="Arial"/>
              </a:defRPr>
            </a:pPr>
            <a:r>
              <a:rPr sz="2100" b="0">
                <a:solidFill>
                  <a:srgbClr val="FFFFFF"/>
                </a:solidFill>
                <a:latin typeface="Arial"/>
                <a:ea typeface="Arial"/>
                <a:cs typeface="Arial"/>
              </a:rPr>
              <a:t>with five-fold validation</a:t>
            </a:r>
          </a:p>
        </p:txBody>
      </p:sp>
    </p:spTree>
    <p:extLst>
      <p:ext uri="{BB962C8B-B14F-4D97-AF65-F5344CB8AC3E}">
        <ns3:creationId val="244047548"/>
      </p:ext>
    </p:extLst>
  </p:cSld>
  <p:transition spd="med"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400"/>
                                        <p:tgtEl>
                                          <p:spTgt spid="8"/>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CFAF6"/>
        </a:solidFill>
      </p:bgPr>
    </p:bg>
    <p:spTree>
      <p:nvGrpSpPr>
        <p:cNvPr id="1" name=""/>
        <p:cNvGrpSpPr/>
        <p:nvPr/>
      </p:nvGrpSpPr>
      <p:grpSpPr>
        <a:xfrm/>
      </p:grpSpPr>
      <p:sp>
        <p:nvSpPr>
          <p:cNvPr id="14" name="">
            <a:extLst>
              <a:ext uri="{FF2B5EF4-FFF2-40B4-BE49-F238E27FC236}">
                <ns2:creationId id="{1D8D636B-AB80-4649-8283-3BD48B9297F9}"/>
              </a:ext>
            </a:extLst>
          </p:cNvPr>
          <p:cNvSpPr>
            <a:spLocks noGrp="1"/>
          </p:cNvSpPr>
          <p:nvPr/>
        </p:nvSpPr>
        <p:spPr>
          <a:xfrm>
            <a:off x="609600" y="266700"/>
            <a:ext cx="13525500" cy="285750"/>
          </a:xfrm>
          <a:prstGeom prst="rect">
            <a:avLst/>
          </a:prstGeom>
          <a:noFill/>
          <a:ln w="0">
            <a:noFill/>
          </a:ln>
        </p:spPr>
        <p:txBody>
          <a:bodyPr/>
          <a:lstStyle>
            <a:defPPr>
              <a:defRPr sz="1425" b="1">
                <a:solidFill>
                  <a:srgbClr val="6246A4"/>
                </a:solidFill>
                <a:latin typeface="Arial"/>
                <a:ea typeface="Arial"/>
                <a:cs typeface="Arial"/>
              </a:defRPr>
            </a:defPPr>
          </a:lstStyle>
          <a:p>
            <a:pPr>
              <a:defRPr sz="1425" b="1">
                <a:solidFill>
                  <a:srgbClr val="6246A4"/>
                </a:solidFill>
                <a:latin typeface="Arial"/>
                <a:ea typeface="Arial"/>
                <a:cs typeface="Arial"/>
              </a:defRPr>
            </a:pPr>
            <a:r>
              <a:rPr sz="1425" b="1">
                <a:solidFill>
                  <a:srgbClr val="6246A4"/>
                </a:solidFill>
                <a:latin typeface="Arial"/>
                <a:ea typeface="Arial"/>
                <a:cs typeface="Arial"/>
              </a:rPr>
              <a:t>KDD 1 / DATA SELECTION</a:t>
            </a:r>
          </a:p>
        </p:txBody>
      </p:sp>
      <p:sp>
        <p:nvSpPr>
          <p:cNvPr id="2" name="">
            <a:extLst>
              <a:ext uri="{FF2B5EF4-FFF2-40B4-BE49-F238E27FC236}">
                <ns2:creationId id="{514262E6-3C3A-40D4-8C77-987FB51489DD}"/>
              </a:ext>
            </a:extLst>
          </p:cNvPr>
          <p:cNvSpPr>
            <a:spLocks noGrp="1"/>
          </p:cNvSpPr>
          <p:nvPr/>
        </p:nvSpPr>
        <p:spPr>
          <a:xfrm>
            <a:off x="609600" y="704850"/>
            <a:ext cx="14020800" cy="895350"/>
          </a:xfrm>
          <a:prstGeom prst="rect">
            <a:avLst/>
          </a:prstGeom>
          <a:noFill/>
          <a:ln w="0">
            <a:noFill/>
          </a:ln>
        </p:spPr>
        <p:txBody>
          <a:bodyPr/>
          <a:lstStyle>
            <a:defPPr>
              <a:defRPr sz="3600" b="1">
                <a:solidFill>
                  <a:srgbClr val="25233E"/>
                </a:solidFill>
                <a:latin typeface="Arial"/>
                <a:ea typeface="Arial"/>
                <a:cs typeface="Arial"/>
              </a:defRPr>
            </a:defPPr>
          </a:lstStyle>
          <a:p>
            <a:pPr>
              <a:defRPr sz="3600" b="1">
                <a:solidFill>
                  <a:srgbClr val="25233E"/>
                </a:solidFill>
                <a:latin typeface="Arial"/>
                <a:ea typeface="Arial"/>
                <a:cs typeface="Arial"/>
              </a:defRPr>
            </a:pPr>
            <a:r>
              <a:rPr sz="3600" b="1">
                <a:solidFill>
                  <a:srgbClr val="25233E"/>
                </a:solidFill>
                <a:latin typeface="Arial"/>
                <a:ea typeface="Arial"/>
                <a:cs typeface="Arial"/>
              </a:rPr>
              <a:t>Dataset sources, targets and available information</a:t>
            </a:r>
          </a:p>
        </p:txBody>
      </p:sp>
      <p:sp>
        <p:nvSpPr>
          <p:cNvPr id="3" name="">
            <a:extLst>
              <a:ext uri="{FF2B5EF4-FFF2-40B4-BE49-F238E27FC236}">
                <ns2:creationId id="{88E6AB9E-D8E2-4368-94B7-0205D4902341}"/>
              </a:ext>
            </a:extLst>
          </p:cNvPr>
          <p:cNvSpPr>
            <a:spLocks noGrp="1"/>
          </p:cNvSpPr>
          <p:nvPr/>
        </p:nvSpPr>
        <p:spPr>
          <a:xfrm>
            <a:off x="609600" y="8220075"/>
            <a:ext cx="12858750" cy="219075"/>
          </a:xfrm>
          <a:prstGeom prst="rect">
            <a:avLst/>
          </a:prstGeom>
          <a:noFill/>
          <a:ln w="0">
            <a:noFill/>
          </a:ln>
        </p:spPr>
        <p:txBody>
          <a:bodyPr/>
          <a:lstStyle>
            <a:defPPr>
              <a:defRPr sz="1125" b="0">
                <a:solidFill>
                  <a:srgbClr val="5C5C70"/>
                </a:solidFill>
                <a:latin typeface="Arial"/>
                <a:ea typeface="Arial"/>
                <a:cs typeface="Arial"/>
              </a:defRPr>
            </a:defPPr>
          </a:lstStyle>
          <a:p>
            <a:pPr>
              <a:defRPr sz="1125" b="0">
                <a:solidFill>
                  <a:srgbClr val="5C5C70"/>
                </a:solidFill>
                <a:latin typeface="Arial"/>
                <a:ea typeface="Arial"/>
                <a:cs typeface="Arial"/>
              </a:defRPr>
            </a:pPr>
            <a:r>
              <a:rPr sz="1125" b="0">
                <a:solidFill>
                  <a:srgbClr val="5C5C70"/>
                </a:solidFill>
                <a:latin typeface="Arial"/>
                <a:ea typeface="Arial"/>
                <a:cs typeface="Arial"/>
              </a:rPr>
              <a:t>AADITI GAIKWAD   /   PREDICTIVE ANALYTICS</a:t>
            </a:r>
          </a:p>
        </p:txBody>
      </p:sp>
      <p:sp>
        <p:nvSpPr>
          <p:cNvPr id="4" name="">
            <a:extLst>
              <a:ext uri="{FF2B5EF4-FFF2-40B4-BE49-F238E27FC236}">
                <ns2:creationId id="{255440A0-217B-433B-BA23-850807D9BE71}"/>
              </a:ext>
            </a:extLst>
          </p:cNvPr>
          <p:cNvSpPr>
            <a:spLocks noGrp="1"/>
          </p:cNvSpPr>
          <p:nvPr/>
        </p:nvSpPr>
        <p:spPr>
          <a:xfrm>
            <a:off x="14144625" y="8172450"/>
            <a:ext cx="571500" cy="276225"/>
          </a:xfrm>
          <a:prstGeom prst="rect">
            <a:avLst/>
          </a:prstGeom>
          <a:noFill/>
          <a:ln w="0">
            <a:noFill/>
          </a:ln>
        </p:spPr>
        <p:txBody>
          <a:bodyPr/>
          <a:lstStyle>
            <a:defPPr>
              <a:defRPr sz="1500" b="1">
                <a:solidFill>
                  <a:srgbClr val="6246A4"/>
                </a:solidFill>
                <a:latin typeface="Arial"/>
                <a:ea typeface="Arial"/>
                <a:cs typeface="Arial"/>
              </a:defRPr>
            </a:defPPr>
          </a:lstStyle>
          <a:p>
            <a:pPr>
              <a:defRPr sz="1500" b="1">
                <a:solidFill>
                  <a:srgbClr val="6246A4"/>
                </a:solidFill>
                <a:latin typeface="Arial"/>
                <a:ea typeface="Arial"/>
                <a:cs typeface="Arial"/>
              </a:defRPr>
            </a:pPr>
            <a:r>
              <a:rPr sz="1500" b="1">
                <a:solidFill>
                  <a:srgbClr val="6246A4"/>
                </a:solidFill>
                <a:latin typeface="Arial"/>
                <a:ea typeface="Arial"/>
                <a:cs typeface="Arial"/>
              </a:rPr>
              <a:t>02</a:t>
            </a:r>
          </a:p>
        </p:txBody>
      </p:sp>
      <p:sp>
        <p:nvSpPr>
          <p:cNvPr id="5" name="">
            <a:extLst>
              <a:ext uri="{FF2B5EF4-FFF2-40B4-BE49-F238E27FC236}">
                <ns2:creationId id="{633AE410-DED7-4E5E-B50C-FA33847C9208}"/>
              </a:ext>
            </a:extLst>
          </p:cNvPr>
          <p:cNvSpPr>
            <a:spLocks noGrp="1"/>
          </p:cNvSpPr>
          <p:nvPr/>
        </p:nvSpPr>
        <p:spPr>
          <a:xfrm>
            <a:off x="647700" y="1666875"/>
            <a:ext cx="13906500" cy="419100"/>
          </a:xfrm>
          <a:prstGeom prst="rect">
            <a:avLst/>
          </a:prstGeom>
          <a:noFill/>
          <a:ln w="0">
            <a:noFill/>
          </a:ln>
        </p:spPr>
        <p:txBody>
          <a:bodyPr/>
          <a:lstStyle>
            <a:defPPr>
              <a:defRPr sz="2325" b="1">
                <a:solidFill>
                  <a:srgbClr val="6246A4"/>
                </a:solidFill>
                <a:latin typeface="Arial"/>
                <a:ea typeface="Arial"/>
                <a:cs typeface="Arial"/>
              </a:defRPr>
            </a:defPPr>
          </a:lstStyle>
          <a:p>
            <a:pPr>
              <a:defRPr sz="2325" b="1">
                <a:solidFill>
                  <a:srgbClr val="6246A4"/>
                </a:solidFill>
                <a:latin typeface="Arial"/>
                <a:ea typeface="Arial"/>
                <a:cs typeface="Arial"/>
              </a:defRPr>
            </a:pPr>
            <a:r>
              <a:rPr sz="2325" b="1">
                <a:solidFill>
                  <a:srgbClr val="6246A4"/>
                </a:solidFill>
                <a:latin typeface="Arial"/>
                <a:ea typeface="Arial"/>
                <a:cs typeface="Arial"/>
              </a:rPr>
              <a:t>A. Food Delivery Time Prediction</a:t>
            </a:r>
          </a:p>
        </p:txBody>
      </p:sp>
      <p:sp>
        <p:nvSpPr>
          <p:cNvPr id="6" name="">
            <a:extLst>
              <a:ext uri="{FF2B5EF4-FFF2-40B4-BE49-F238E27FC236}">
                <ns2:creationId id="{66F9F00F-3701-48E0-92B7-FF056062FA83}"/>
              </a:ext>
            </a:extLst>
          </p:cNvPr>
          <p:cNvSpPr>
            <a:spLocks noGrp="1"/>
          </p:cNvSpPr>
          <p:nvPr/>
        </p:nvSpPr>
        <p:spPr>
          <a:xfrm>
            <a:off x="647700" y="2124075"/>
            <a:ext cx="13811250" cy="1028700"/>
          </a:xfrm>
          <a:prstGeom prst="rect">
            <a:avLst/>
          </a:prstGeom>
          <a:noFill/>
          <a:ln w="0">
            <a:noFill/>
          </a:ln>
        </p:spPr>
        <p:txBody>
          <a:bodyPr/>
          <a:lstStyle>
            <a:defPPr>
              <a:defRPr sz="2025" b="0">
                <a:solidFill>
                  <a:srgbClr val="25233E"/>
                </a:solidFill>
                <a:latin typeface="Arial"/>
                <a:ea typeface="Arial"/>
                <a:cs typeface="Arial"/>
              </a:defRPr>
            </a:defPPr>
          </a:lstStyle>
          <a:p>
            <a:pPr>
              <a:defRPr sz="2025" b="0">
                <a:solidFill>
                  <a:srgbClr val="25233E"/>
                </a:solidFill>
                <a:latin typeface="Arial"/>
                <a:ea typeface="Arial"/>
                <a:cs typeface="Arial"/>
              </a:defRPr>
            </a:pPr>
            <a:r>
              <a:rPr sz="2025" b="0">
                <a:solidFill>
                  <a:srgbClr val="25233E"/>
                </a:solidFill>
                <a:latin typeface="Arial"/>
                <a:ea typeface="Arial"/>
                <a:cs typeface="Arial"/>
              </a:rPr>
              <a:t>Den_Kuznetz. Food_Delivery_Times.csv: 1,000 rows, 9 columns. Target: Delivery_Time_min. Six inputs: distance, courier experience, weather, traffic, time of day and vehicle. Kaggle metadata lists Apache 2.0.</a:t>
            </a:r>
          </a:p>
        </p:txBody>
      </p:sp>
      <p:sp>
        <p:nvSpPr>
          <p:cNvPr id="7" name="">
            <a:extLst>
              <a:ext uri="{FF2B5EF4-FFF2-40B4-BE49-F238E27FC236}">
                <ns2:creationId id="{19E460B0-5D1E-42F6-944F-0B014253FAC1}"/>
              </a:ext>
            </a:extLst>
          </p:cNvPr>
          <p:cNvSpPr>
            <a:spLocks noGrp="1"/>
          </p:cNvSpPr>
          <p:nvPr/>
        </p:nvSpPr>
        <p:spPr>
          <a:xfrm>
            <a:off x="647700" y="3219450"/>
            <a:ext cx="13811250" cy="342900"/>
          </a:xfrm>
          <a:prstGeom prst="rect">
            <a:avLst/>
          </a:prstGeom>
          <a:noFill/>
          <a:ln w="0">
            <a:noFill/>
          </a:ln>
        </p:spPr>
        <p:txBody>
          <a:bodyPr/>
          <a:lstStyle>
            <a:defPPr>
              <a:defRPr sz="1575" b="0">
                <a:solidFill>
                  <a:srgbClr val="007F82"/>
                </a:solidFill>
                <a:latin typeface="Arial"/>
                <a:ea typeface="Arial"/>
                <a:cs typeface="Arial"/>
              </a:defRPr>
            </a:defPPr>
          </a:lstStyle>
          <a:p>
            <a:pPr>
              <a:defRPr sz="1575" b="0">
                <a:solidFill>
                  <a:srgbClr val="007F82"/>
                </a:solidFill>
                <a:latin typeface="Arial"/>
                <a:ea typeface="Arial"/>
                <a:cs typeface="Arial"/>
              </a:defRPr>
            </a:pPr>
            <a:r>
              <a:rPr sz="1575" b="0">
                <a:solidFill>
                  <a:srgbClr val="007F82"/>
                </a:solidFill>
                <a:latin typeface="Arial"/>
                <a:ea typeface="Arial"/>
                <a:cs typeface="Arial"/>
                <a:hlinkClick r:id="rIdDatasetLink1"/>
              </a:rPr>
              <a:t>https://www.kaggle.com/datasets/denkuznetz/food-delivery-time-prediction</a:t>
            </a:r>
          </a:p>
        </p:txBody>
      </p:sp>
      <p:sp>
        <p:nvSpPr>
          <p:cNvPr id="8" name="">
            <a:extLst>
              <a:ext uri="{FF2B5EF4-FFF2-40B4-BE49-F238E27FC236}">
                <ns2:creationId id="{A197A308-D868-42EF-8DDD-B74F4C8B85EA}"/>
              </a:ext>
            </a:extLst>
          </p:cNvPr>
          <p:cNvSpPr>
            <a:spLocks noGrp="1"/>
          </p:cNvSpPr>
          <p:nvPr/>
        </p:nvSpPr>
        <p:spPr>
          <a:xfrm>
            <a:off x="647700" y="3752850"/>
            <a:ext cx="13906500" cy="419100"/>
          </a:xfrm>
          <a:prstGeom prst="rect">
            <a:avLst/>
          </a:prstGeom>
          <a:noFill/>
          <a:ln w="0">
            <a:noFill/>
          </a:ln>
        </p:spPr>
        <p:txBody>
          <a:bodyPr/>
          <a:lstStyle>
            <a:defPPr>
              <a:defRPr sz="2325" b="1">
                <a:solidFill>
                  <a:srgbClr val="6246A4"/>
                </a:solidFill>
                <a:latin typeface="Arial"/>
                <a:ea typeface="Arial"/>
                <a:cs typeface="Arial"/>
              </a:defRPr>
            </a:defPPr>
          </a:lstStyle>
          <a:p>
            <a:pPr>
              <a:defRPr sz="2325" b="1">
                <a:solidFill>
                  <a:srgbClr val="6246A4"/>
                </a:solidFill>
                <a:latin typeface="Arial"/>
                <a:ea typeface="Arial"/>
                <a:cs typeface="Arial"/>
              </a:defRPr>
            </a:pPr>
            <a:r>
              <a:rPr sz="2325" b="1">
                <a:solidFill>
                  <a:srgbClr val="6246A4"/>
                </a:solidFill>
                <a:latin typeface="Arial"/>
                <a:ea typeface="Arial"/>
                <a:cs typeface="Arial"/>
              </a:rPr>
              <a:t>B. Food Delivery Time</a:t>
            </a:r>
          </a:p>
        </p:txBody>
      </p:sp>
      <p:sp>
        <p:nvSpPr>
          <p:cNvPr id="9" name="">
            <a:extLst>
              <a:ext uri="{FF2B5EF4-FFF2-40B4-BE49-F238E27FC236}">
                <ns2:creationId id="{519ED73D-295E-4B58-B061-EFBB1DB385F0}"/>
              </a:ext>
            </a:extLst>
          </p:cNvPr>
          <p:cNvSpPr>
            <a:spLocks noGrp="1"/>
          </p:cNvSpPr>
          <p:nvPr/>
        </p:nvSpPr>
        <p:spPr>
          <a:xfrm>
            <a:off x="647700" y="4210050"/>
            <a:ext cx="13811250" cy="1028700"/>
          </a:xfrm>
          <a:prstGeom prst="rect">
            <a:avLst/>
          </a:prstGeom>
          <a:noFill/>
          <a:ln w="0">
            <a:noFill/>
          </a:ln>
        </p:spPr>
        <p:txBody>
          <a:bodyPr/>
          <a:lstStyle>
            <a:defPPr>
              <a:defRPr sz="2025" b="0">
                <a:solidFill>
                  <a:srgbClr val="25233E"/>
                </a:solidFill>
                <a:latin typeface="Arial"/>
                <a:ea typeface="Arial"/>
                <a:cs typeface="Arial"/>
              </a:defRPr>
            </a:defPPr>
          </a:lstStyle>
          <a:p>
            <a:pPr>
              <a:defRPr sz="2025" b="0">
                <a:solidFill>
                  <a:srgbClr val="25233E"/>
                </a:solidFill>
                <a:latin typeface="Arial"/>
                <a:ea typeface="Arial"/>
                <a:cs typeface="Arial"/>
              </a:defRPr>
            </a:pPr>
            <a:r>
              <a:rPr sz="2025" b="0">
                <a:solidFill>
                  <a:srgbClr val="25233E"/>
                </a:solidFill>
                <a:latin typeface="Arial"/>
                <a:ea typeface="Arial"/>
                <a:cs typeface="Arial"/>
              </a:rPr>
              <a:t>Rajat Kumar. deliverytime.csv: 45,593 rows, 11 columns. Target: Time_taken(min). We retain 45,334 rows and use derived distance, courier age, order type and vehicle. Courier IDs support grouped testing. Licence: ODbL/DbCL.</a:t>
            </a:r>
          </a:p>
        </p:txBody>
      </p:sp>
      <p:sp>
        <p:nvSpPr>
          <p:cNvPr id="10" name="">
            <a:extLst>
              <a:ext uri="{FF2B5EF4-FFF2-40B4-BE49-F238E27FC236}">
                <ns2:creationId id="{3769C787-0AB7-499F-B4C6-A1AE0A1579BF}"/>
              </a:ext>
            </a:extLst>
          </p:cNvPr>
          <p:cNvSpPr>
            <a:spLocks noGrp="1"/>
          </p:cNvSpPr>
          <p:nvPr/>
        </p:nvSpPr>
        <p:spPr>
          <a:xfrm>
            <a:off x="647700" y="5305425"/>
            <a:ext cx="13811250" cy="342900"/>
          </a:xfrm>
          <a:prstGeom prst="rect">
            <a:avLst/>
          </a:prstGeom>
          <a:noFill/>
          <a:ln w="0">
            <a:noFill/>
          </a:ln>
        </p:spPr>
        <p:txBody>
          <a:bodyPr/>
          <a:lstStyle>
            <a:defPPr>
              <a:defRPr sz="1575" b="0">
                <a:solidFill>
                  <a:srgbClr val="007F82"/>
                </a:solidFill>
                <a:latin typeface="Arial"/>
                <a:ea typeface="Arial"/>
                <a:cs typeface="Arial"/>
              </a:defRPr>
            </a:defPPr>
          </a:lstStyle>
          <a:p>
            <a:pPr>
              <a:defRPr sz="1575" b="0">
                <a:solidFill>
                  <a:srgbClr val="007F82"/>
                </a:solidFill>
                <a:latin typeface="Arial"/>
                <a:ea typeface="Arial"/>
                <a:cs typeface="Arial"/>
              </a:defRPr>
            </a:pPr>
            <a:r>
              <a:rPr sz="1575" b="0">
                <a:solidFill>
                  <a:srgbClr val="007F82"/>
                </a:solidFill>
                <a:latin typeface="Arial"/>
                <a:ea typeface="Arial"/>
                <a:cs typeface="Arial"/>
                <a:hlinkClick r:id="rIdDatasetLink2"/>
              </a:rPr>
              <a:t>https://www.kaggle.com/datasets/rajatkumar30/food-delivery-time</a:t>
            </a:r>
          </a:p>
        </p:txBody>
      </p:sp>
      <p:sp>
        <p:nvSpPr>
          <p:cNvPr id="11" name="">
            <a:extLst>
              <a:ext uri="{FF2B5EF4-FFF2-40B4-BE49-F238E27FC236}">
                <ns2:creationId id="{0C2E634F-F5B8-4337-932A-11593B8ED169}"/>
              </a:ext>
            </a:extLst>
          </p:cNvPr>
          <p:cNvSpPr>
            <a:spLocks noGrp="1"/>
          </p:cNvSpPr>
          <p:nvPr/>
        </p:nvSpPr>
        <p:spPr>
          <a:xfrm>
            <a:off x="647700" y="5838825"/>
            <a:ext cx="13906500" cy="419100"/>
          </a:xfrm>
          <a:prstGeom prst="rect">
            <a:avLst/>
          </a:prstGeom>
          <a:noFill/>
          <a:ln w="0">
            <a:noFill/>
          </a:ln>
        </p:spPr>
        <p:txBody>
          <a:bodyPr/>
          <a:lstStyle>
            <a:defPPr>
              <a:defRPr sz="2325" b="1">
                <a:solidFill>
                  <a:srgbClr val="6246A4"/>
                </a:solidFill>
                <a:latin typeface="Arial"/>
                <a:ea typeface="Arial"/>
                <a:cs typeface="Arial"/>
              </a:defRPr>
            </a:defPPr>
          </a:lstStyle>
          <a:p>
            <a:pPr>
              <a:defRPr sz="2325" b="1">
                <a:solidFill>
                  <a:srgbClr val="6246A4"/>
                </a:solidFill>
                <a:latin typeface="Arial"/>
                <a:ea typeface="Arial"/>
                <a:cs typeface="Arial"/>
              </a:defRPr>
            </a:pPr>
            <a:r>
              <a:rPr sz="2325" b="1">
                <a:solidFill>
                  <a:srgbClr val="6246A4"/>
                </a:solidFill>
                <a:latin typeface="Arial"/>
                <a:ea typeface="Arial"/>
                <a:cs typeface="Arial"/>
              </a:rPr>
              <a:t>C. NYC Restaurants Data – Food Ordering and Delivery</a:t>
            </a:r>
          </a:p>
        </p:txBody>
      </p:sp>
      <p:sp>
        <p:nvSpPr>
          <p:cNvPr id="12" name="">
            <a:extLst>
              <a:ext uri="{FF2B5EF4-FFF2-40B4-BE49-F238E27FC236}">
                <ns2:creationId id="{EDCB1C2F-E860-40C2-8BA1-A0B240ED921E}"/>
              </a:ext>
            </a:extLst>
          </p:cNvPr>
          <p:cNvSpPr>
            <a:spLocks noGrp="1"/>
          </p:cNvSpPr>
          <p:nvPr/>
        </p:nvSpPr>
        <p:spPr>
          <a:xfrm>
            <a:off x="647700" y="6296025"/>
            <a:ext cx="13811250" cy="1028700"/>
          </a:xfrm>
          <a:prstGeom prst="rect">
            <a:avLst/>
          </a:prstGeom>
          <a:noFill/>
          <a:ln w="0">
            <a:noFill/>
          </a:ln>
        </p:spPr>
        <p:txBody>
          <a:bodyPr/>
          <a:lstStyle>
            <a:defPPr>
              <a:defRPr sz="2025" b="0">
                <a:solidFill>
                  <a:srgbClr val="25233E"/>
                </a:solidFill>
                <a:latin typeface="Arial"/>
                <a:ea typeface="Arial"/>
                <a:cs typeface="Arial"/>
              </a:defRPr>
            </a:defPPr>
          </a:lstStyle>
          <a:p>
            <a:pPr>
              <a:defRPr sz="2025" b="0">
                <a:solidFill>
                  <a:srgbClr val="25233E"/>
                </a:solidFill>
                <a:latin typeface="Arial"/>
                <a:ea typeface="Arial"/>
                <a:cs typeface="Arial"/>
              </a:defRPr>
            </a:pPr>
            <a:r>
              <a:rPr sz="2025" b="0">
                <a:solidFill>
                  <a:srgbClr val="25233E"/>
                </a:solidFill>
                <a:latin typeface="Arial"/>
                <a:ea typeface="Arial"/>
                <a:cs typeface="Arial"/>
              </a:rPr>
              <a:t>Ahsan Raza. food_order.csv: 1,898 rows, 9 columns, 178 restaurants. Target: delivery_time, excluding preparation. Inputs: order cost, cuisine and weekday/weekend. Restaurant names define split groups. Licence: CC0.</a:t>
            </a:r>
          </a:p>
        </p:txBody>
      </p:sp>
      <p:sp>
        <p:nvSpPr>
          <p:cNvPr id="13" name="">
            <a:extLst>
              <a:ext uri="{FF2B5EF4-FFF2-40B4-BE49-F238E27FC236}">
                <ns2:creationId id="{A696897B-09B8-4B9C-BA2A-467539C1AF73}"/>
              </a:ext>
            </a:extLst>
          </p:cNvPr>
          <p:cNvSpPr>
            <a:spLocks noGrp="1"/>
          </p:cNvSpPr>
          <p:nvPr/>
        </p:nvSpPr>
        <p:spPr>
          <a:xfrm>
            <a:off x="647700" y="7391400"/>
            <a:ext cx="13811250" cy="342900"/>
          </a:xfrm>
          <a:prstGeom prst="rect">
            <a:avLst/>
          </a:prstGeom>
          <a:noFill/>
          <a:ln w="0">
            <a:noFill/>
          </a:ln>
        </p:spPr>
        <p:txBody>
          <a:bodyPr/>
          <a:lstStyle>
            <a:defPPr>
              <a:defRPr sz="1575" b="0">
                <a:solidFill>
                  <a:srgbClr val="007F82"/>
                </a:solidFill>
                <a:latin typeface="Arial"/>
                <a:ea typeface="Arial"/>
                <a:cs typeface="Arial"/>
              </a:defRPr>
            </a:defPPr>
          </a:lstStyle>
          <a:p>
            <a:pPr>
              <a:defRPr sz="1575" b="0">
                <a:solidFill>
                  <a:srgbClr val="007F82"/>
                </a:solidFill>
                <a:latin typeface="Arial"/>
                <a:ea typeface="Arial"/>
                <a:cs typeface="Arial"/>
              </a:defRPr>
            </a:pPr>
            <a:r>
              <a:rPr sz="1575" b="0">
                <a:solidFill>
                  <a:srgbClr val="007F82"/>
                </a:solidFill>
                <a:latin typeface="Arial"/>
                <a:ea typeface="Arial"/>
                <a:cs typeface="Arial"/>
                <a:hlinkClick r:id="rIdDatasetLink3"/>
              </a:rPr>
              <a:t>https://www.kaggle.com/datasets/ahsan81/food-ordering-and-delivery-app-dataset</a:t>
            </a:r>
          </a:p>
        </p:txBody>
      </p:sp>
    </p:spTree>
    <p:extLst>
      <p:ext uri="{BB962C8B-B14F-4D97-AF65-F5344CB8AC3E}">
        <ns4:creationId val="1024769513"/>
      </p:ext>
    </p:extLst>
  </p:cSld>
  <p:transition spd="med"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400"/>
                                        <p:tgtEl>
                                          <p:spTgt spid="6"/>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211D38"/>
        </a:solidFill>
      </p:bgPr>
    </p:bg>
    <p:spTree>
      <p:nvGrpSpPr>
        <p:cNvPr id="1" name=""/>
        <p:cNvGrpSpPr/>
        <p:nvPr/>
      </p:nvGrpSpPr>
      <p:grpSpPr>
        <a:xfrm/>
      </p:grpSpPr>
      <p:sp>
        <p:nvSpPr>
          <p:cNvPr id="7" name="">
            <a:extLst>
              <a:ext uri="{FF2B5EF4-FFF2-40B4-BE49-F238E27FC236}">
                <ns2:creationId id="{A635780C-6CE8-4809-89F5-621BDE64B4B1}"/>
              </a:ext>
            </a:extLst>
          </p:cNvPr>
          <p:cNvSpPr>
            <a:spLocks noGrp="1"/>
          </p:cNvSpPr>
          <p:nvPr/>
        </p:nvSpPr>
        <p:spPr>
          <a:xfrm>
            <a:off x="609600" y="266700"/>
            <a:ext cx="13525500" cy="285750"/>
          </a:xfrm>
          <a:prstGeom prst="rect">
            <a:avLst/>
          </a:prstGeom>
          <a:noFill/>
          <a:ln w="0">
            <a:noFill/>
          </a:ln>
        </p:spPr>
        <p:txBody>
          <a:bodyPr/>
          <a:lstStyle>
            <a:defPPr>
              <a:defRPr sz="1425" b="1">
                <a:solidFill>
                  <a:srgbClr val="9CE2D1"/>
                </a:solidFill>
                <a:latin typeface="Arial"/>
                <a:ea typeface="Arial"/>
                <a:cs typeface="Arial"/>
              </a:defRPr>
            </a:defPPr>
          </a:lstStyle>
          <a:p>
            <a:pPr>
              <a:defRPr sz="1425" b="1">
                <a:solidFill>
                  <a:srgbClr val="9CE2D1"/>
                </a:solidFill>
                <a:latin typeface="Arial"/>
                <a:ea typeface="Arial"/>
                <a:cs typeface="Arial"/>
              </a:defRPr>
            </a:pPr>
            <a:r>
              <a:rPr sz="1425" b="1">
                <a:solidFill>
                  <a:srgbClr val="9CE2D1"/>
                </a:solidFill>
                <a:latin typeface="Arial"/>
                <a:ea typeface="Arial"/>
                <a:cs typeface="Arial"/>
              </a:rPr>
              <a:t>METHODOLOGY / KNOWLEDGE DISCOVERY IN DATABASES</a:t>
            </a:r>
          </a:p>
        </p:txBody>
      </p:sp>
      <p:sp>
        <p:nvSpPr>
          <p:cNvPr id="2" name="">
            <a:extLst>
              <a:ext uri="{FF2B5EF4-FFF2-40B4-BE49-F238E27FC236}">
                <ns2:creationId id="{AC4E23DA-0F0F-4BE6-A6D1-E19426900ACA}"/>
              </a:ext>
            </a:extLst>
          </p:cNvPr>
          <p:cNvSpPr>
            <a:spLocks noGrp="1"/>
          </p:cNvSpPr>
          <p:nvPr/>
        </p:nvSpPr>
        <p:spPr>
          <a:xfrm>
            <a:off x="609600" y="704850"/>
            <a:ext cx="14020800" cy="895350"/>
          </a:xfrm>
          <a:prstGeom prst="rect">
            <a:avLst/>
          </a:prstGeom>
          <a:noFill/>
          <a:ln w="0">
            <a:noFill/>
          </a:ln>
        </p:spPr>
        <p:txBody>
          <a:bodyPr/>
          <a:lstStyle>
            <a:defPPr>
              <a:defRPr sz="3600" b="1">
                <a:solidFill>
                  <a:srgbClr val="FFFFFF"/>
                </a:solidFill>
                <a:latin typeface="Arial"/>
                <a:ea typeface="Arial"/>
                <a:cs typeface="Arial"/>
              </a:defRPr>
            </a:defPPr>
          </a:lstStyle>
          <a:p>
            <a:pPr>
              <a:defRPr sz="3600" b="1">
                <a:solidFill>
                  <a:srgbClr val="FFFFFF"/>
                </a:solidFill>
                <a:latin typeface="Arial"/>
                <a:ea typeface="Arial"/>
                <a:cs typeface="Arial"/>
              </a:defRPr>
            </a:pPr>
            <a:r>
              <a:rPr sz="3600" b="1">
                <a:solidFill>
                  <a:srgbClr val="FFFFFF"/>
                </a:solidFill>
                <a:latin typeface="Arial"/>
                <a:ea typeface="Arial"/>
                <a:cs typeface="Arial"/>
              </a:rPr>
              <a:t>The KDD steps actually applied</a:t>
            </a:r>
          </a:p>
        </p:txBody>
      </p:sp>
      <p:sp>
        <p:nvSpPr>
          <p:cNvPr id="3" name="">
            <a:extLst>
              <a:ext uri="{FF2B5EF4-FFF2-40B4-BE49-F238E27FC236}">
                <ns2:creationId id="{45FA8DE6-EC9F-4A11-9D64-2C333772ABE1}"/>
              </a:ext>
            </a:extLst>
          </p:cNvPr>
          <p:cNvSpPr>
            <a:spLocks noGrp="1"/>
          </p:cNvSpPr>
          <p:nvPr/>
        </p:nvSpPr>
        <p:spPr>
          <a:xfrm>
            <a:off x="609600" y="8220075"/>
            <a:ext cx="12858750" cy="219075"/>
          </a:xfrm>
          <a:prstGeom prst="rect">
            <a:avLst/>
          </a:prstGeom>
          <a:noFill/>
          <a:ln w="0">
            <a:noFill/>
          </a:ln>
        </p:spPr>
        <p:txBody>
          <a:bodyPr/>
          <a:lstStyle>
            <a:defPPr>
              <a:defRPr sz="1125" b="0">
                <a:solidFill>
                  <a:srgbClr val="BAB4CD"/>
                </a:solidFill>
                <a:latin typeface="Arial"/>
                <a:ea typeface="Arial"/>
                <a:cs typeface="Arial"/>
              </a:defRPr>
            </a:defPPr>
          </a:lstStyle>
          <a:p>
            <a:pPr>
              <a:defRPr sz="1125" b="0">
                <a:solidFill>
                  <a:srgbClr val="BAB4CD"/>
                </a:solidFill>
                <a:latin typeface="Arial"/>
                <a:ea typeface="Arial"/>
                <a:cs typeface="Arial"/>
              </a:defRPr>
            </a:pPr>
            <a:r>
              <a:rPr sz="1125" b="0">
                <a:solidFill>
                  <a:srgbClr val="BAB4CD"/>
                </a:solidFill>
                <a:latin typeface="Arial"/>
                <a:ea typeface="Arial"/>
                <a:cs typeface="Arial"/>
              </a:rPr>
              <a:t>AADITI GAIKWAD   /   PREDICTIVE ANALYTICS</a:t>
            </a:r>
          </a:p>
        </p:txBody>
      </p:sp>
      <p:sp>
        <p:nvSpPr>
          <p:cNvPr id="4" name="">
            <a:extLst>
              <a:ext uri="{FF2B5EF4-FFF2-40B4-BE49-F238E27FC236}">
                <ns2:creationId id="{B3ABD024-C151-49CF-9099-A7F5601D15CB}"/>
              </a:ext>
            </a:extLst>
          </p:cNvPr>
          <p:cNvSpPr>
            <a:spLocks noGrp="1"/>
          </p:cNvSpPr>
          <p:nvPr/>
        </p:nvSpPr>
        <p:spPr>
          <a:xfrm>
            <a:off x="14144625" y="8172450"/>
            <a:ext cx="571500" cy="276225"/>
          </a:xfrm>
          <a:prstGeom prst="rect">
            <a:avLst/>
          </a:prstGeom>
          <a:noFill/>
          <a:ln w="0">
            <a:noFill/>
          </a:ln>
        </p:spPr>
        <p:txBody>
          <a:bodyPr/>
          <a:lstStyle>
            <a:defPPr>
              <a:defRPr sz="1500" b="1">
                <a:solidFill>
                  <a:srgbClr val="9CE2D1"/>
                </a:solidFill>
                <a:latin typeface="Arial"/>
                <a:ea typeface="Arial"/>
                <a:cs typeface="Arial"/>
              </a:defRPr>
            </a:defPPr>
          </a:lstStyle>
          <a:p>
            <a:pPr>
              <a:defRPr sz="1500" b="1">
                <a:solidFill>
                  <a:srgbClr val="9CE2D1"/>
                </a:solidFill>
                <a:latin typeface="Arial"/>
                <a:ea typeface="Arial"/>
                <a:cs typeface="Arial"/>
              </a:defRPr>
            </a:pPr>
            <a:r>
              <a:rPr sz="1500" b="1">
                <a:solidFill>
                  <a:srgbClr val="9CE2D1"/>
                </a:solidFill>
                <a:latin typeface="Arial"/>
                <a:ea typeface="Arial"/>
                <a:cs typeface="Arial"/>
              </a:rPr>
              <a:t>03</a:t>
            </a:r>
          </a:p>
        </p:txBody>
      </p:sp>
      <p:graphicFrame>
        <p:nvGraphicFramePr>
          <p:cNvPr id="5" name="">
            <a:extLst>
              <a:ext uri="{FF2B5EF4-FFF2-40B4-BE49-F238E27FC236}">
                <ns2:creationId id="{3A098266-D635-4E71-BA11-0D7E42A589AE}"/>
              </a:ext>
            </a:extLst>
          </p:cNvPr>
          <p:cNvGraphicFramePr/>
          <p:nvPr/>
        </p:nvGraphicFramePr>
        <p:xfrm>
          <a:off x="647700" y="1704975"/>
          <a:ext cx="14001750" cy="5467350"/>
        </p:xfrm>
        <a:graphic>
          <a:graphicData uri="http://schemas.openxmlformats.org/drawingml/2006/table">
            <a:tbl>
              <a:tblPr/>
              <a:tblGrid>
                <a:gridCol w="2952750"/>
                <a:gridCol w="7334250"/>
                <a:gridCol w="3714750"/>
              </a:tblGrid>
              <a:tr h="781050">
                <a:tc>
                  <a:txBody>
                    <a:bodyPr/>
                    <a:lstStyle/>
                    <a:p>
                      <a:r>
                        <a:rPr sz="1950" b="1">
                          <a:solidFill>
                            <a:srgbClr val="FFFFFF"/>
                          </a:solidFill>
                          <a:latin typeface="Arial"/>
                          <a:ea typeface="Arial"/>
                          <a:cs typeface="Arial"/>
                        </a:rPr>
                        <a:t>KDD stage</a:t>
                      </a:r>
                    </a:p>
                  </a:txBody>
                  <a:tcPr marL="91440" marR="91440" marT="45720" marB="45720">
                    <a:lnL w="4763">
                      <a:solidFill>
                        <a:srgbClr val="544A71"/>
                      </a:solidFill>
                    </a:lnL>
                    <a:lnR w="4763">
                      <a:solidFill>
                        <a:srgbClr val="544A71"/>
                      </a:solidFill>
                    </a:lnR>
                    <a:lnT w="4763">
                      <a:solidFill>
                        <a:srgbClr val="544A71"/>
                      </a:solidFill>
                    </a:lnT>
                    <a:lnB w="4763">
                      <a:solidFill>
                        <a:srgbClr val="544A71"/>
                      </a:solidFill>
                    </a:lnB>
                    <a:solidFill>
                      <a:srgbClr val="493568"/>
                    </a:solidFill>
                  </a:tcPr>
                </a:tc>
                <a:tc>
                  <a:txBody>
                    <a:bodyPr/>
                    <a:lstStyle/>
                    <a:p>
                      <a:r>
                        <a:rPr sz="1950" b="1">
                          <a:solidFill>
                            <a:srgbClr val="FFFFFF"/>
                          </a:solidFill>
                          <a:latin typeface="Arial"/>
                          <a:ea typeface="Arial"/>
                          <a:cs typeface="Arial"/>
                        </a:rPr>
                        <a:t>What was done in this project</a:t>
                      </a:r>
                    </a:p>
                  </a:txBody>
                  <a:tcPr marL="91440" marR="91440" marT="45720" marB="45720">
                    <a:lnR w="4763">
                      <a:solidFill>
                        <a:srgbClr val="544A71"/>
                      </a:solidFill>
                    </a:lnR>
                    <a:lnT w="4763">
                      <a:solidFill>
                        <a:srgbClr val="544A71"/>
                      </a:solidFill>
                    </a:lnT>
                    <a:lnB w="4763">
                      <a:solidFill>
                        <a:srgbClr val="544A71"/>
                      </a:solidFill>
                    </a:lnB>
                    <a:solidFill>
                      <a:srgbClr val="493568"/>
                    </a:solidFill>
                  </a:tcPr>
                </a:tc>
                <a:tc>
                  <a:txBody>
                    <a:bodyPr/>
                    <a:lstStyle/>
                    <a:p>
                      <a:r>
                        <a:rPr sz="1950" b="1">
                          <a:solidFill>
                            <a:srgbClr val="FFFFFF"/>
                          </a:solidFill>
                          <a:latin typeface="Arial"/>
                          <a:ea typeface="Arial"/>
                          <a:cs typeface="Arial"/>
                        </a:rPr>
                        <a:t>Evidence / output</a:t>
                      </a:r>
                    </a:p>
                  </a:txBody>
                  <a:tcPr marL="91440" marR="91440" marT="45720" marB="45720">
                    <a:lnR w="4763">
                      <a:solidFill>
                        <a:srgbClr val="544A71"/>
                      </a:solidFill>
                    </a:lnR>
                    <a:lnT w="4763">
                      <a:solidFill>
                        <a:srgbClr val="544A71"/>
                      </a:solidFill>
                    </a:lnT>
                    <a:lnB w="4763">
                      <a:solidFill>
                        <a:srgbClr val="544A71"/>
                      </a:solidFill>
                    </a:lnB>
                    <a:solidFill>
                      <a:srgbClr val="493568"/>
                    </a:solidFill>
                  </a:tcPr>
                </a:tc>
              </a:tr>
              <a:tr h="781050">
                <a:tc>
                  <a:txBody>
                    <a:bodyPr/>
                    <a:lstStyle/>
                    <a:p>
                      <a:r>
                        <a:rPr sz="1950" b="0">
                          <a:solidFill>
                            <a:srgbClr val="FFFFFF"/>
                          </a:solidFill>
                          <a:latin typeface="Arial"/>
                          <a:ea typeface="Arial"/>
                          <a:cs typeface="Arial"/>
                        </a:rPr>
                        <a:t>1. Data selection</a:t>
                      </a:r>
                    </a:p>
                  </a:txBody>
                  <a:tcPr marL="91440" marR="91440" marT="45720" marB="45720">
                    <a:lnL w="4763">
                      <a:solidFill>
                        <a:srgbClr val="544A71"/>
                      </a:solidFill>
                    </a:lnL>
                    <a:lnR w="4763">
                      <a:solidFill>
                        <a:srgbClr val="544A71"/>
                      </a:solidFill>
                    </a:lnR>
                    <a:lnB w="4763">
                      <a:solidFill>
                        <a:srgbClr val="544A71"/>
                      </a:solidFill>
                    </a:lnB>
                    <a:solidFill>
                      <a:srgbClr val="2D2745"/>
                    </a:solidFill>
                  </a:tcPr>
                </a:tc>
                <a:tc>
                  <a:txBody>
                    <a:bodyPr/>
                    <a:lstStyle/>
                    <a:p>
                      <a:r>
                        <a:rPr sz="1950" b="0">
                          <a:solidFill>
                            <a:srgbClr val="FFFFFF"/>
                          </a:solidFill>
                          <a:latin typeface="Arial"/>
                          <a:ea typeface="Arial"/>
                          <a:cs typeface="Arial"/>
                        </a:rPr>
                        <a:t>Choose three relevant Kaggle files, define each target and retain only justified prediction inputs.</a:t>
                      </a:r>
                    </a:p>
                  </a:txBody>
                  <a:tcPr marL="91440" marR="91440" marT="45720" marB="45720">
                    <a:lnR w="4763">
                      <a:solidFill>
                        <a:srgbClr val="544A71"/>
                      </a:solidFill>
                    </a:lnR>
                    <a:lnB w="4763">
                      <a:solidFill>
                        <a:srgbClr val="544A71"/>
                      </a:solidFill>
                    </a:lnB>
                    <a:solidFill>
                      <a:srgbClr val="2D2745"/>
                    </a:solidFill>
                  </a:tcPr>
                </a:tc>
                <a:tc>
                  <a:txBody>
                    <a:bodyPr/>
                    <a:lstStyle/>
                    <a:p>
                      <a:r>
                        <a:rPr sz="1950" b="0">
                          <a:solidFill>
                            <a:srgbClr val="FFFFFF"/>
                          </a:solidFill>
                          <a:latin typeface="Arial"/>
                          <a:ea typeface="Arial"/>
                          <a:cs typeface="Arial"/>
                        </a:rPr>
                        <a:t>Separate A, B and C experiments</a:t>
                      </a:r>
                    </a:p>
                  </a:txBody>
                  <a:tcPr marL="91440" marR="91440" marT="45720" marB="45720">
                    <a:lnR w="4763">
                      <a:solidFill>
                        <a:srgbClr val="544A71"/>
                      </a:solidFill>
                    </a:lnR>
                    <a:lnB w="4763">
                      <a:solidFill>
                        <a:srgbClr val="544A71"/>
                      </a:solidFill>
                    </a:lnB>
                    <a:solidFill>
                      <a:srgbClr val="2D2745"/>
                    </a:solidFill>
                  </a:tcPr>
                </a:tc>
              </a:tr>
              <a:tr h="781050">
                <a:tc>
                  <a:txBody>
                    <a:bodyPr/>
                    <a:lstStyle/>
                    <a:p>
                      <a:r>
                        <a:rPr sz="1950" b="0">
                          <a:solidFill>
                            <a:srgbClr val="FFFFFF"/>
                          </a:solidFill>
                          <a:latin typeface="Arial"/>
                          <a:ea typeface="Arial"/>
                          <a:cs typeface="Arial"/>
                        </a:rPr>
                        <a:t>2. Preprocessing</a:t>
                      </a:r>
                    </a:p>
                  </a:txBody>
                  <a:tcPr marL="91440" marR="91440" marT="45720" marB="45720">
                    <a:lnL w="4763">
                      <a:solidFill>
                        <a:srgbClr val="544A71"/>
                      </a:solidFill>
                    </a:lnL>
                    <a:lnR w="4763">
                      <a:solidFill>
                        <a:srgbClr val="544A71"/>
                      </a:solidFill>
                    </a:lnR>
                    <a:lnB w="4763">
                      <a:solidFill>
                        <a:srgbClr val="544A71"/>
                      </a:solidFill>
                    </a:lnB>
                    <a:solidFill>
                      <a:srgbClr val="2D2745"/>
                    </a:solidFill>
                  </a:tcPr>
                </a:tc>
                <a:tc>
                  <a:txBody>
                    <a:bodyPr/>
                    <a:lstStyle/>
                    <a:p>
                      <a:r>
                        <a:rPr sz="1950" b="0">
                          <a:solidFill>
                            <a:srgbClr val="FFFFFF"/>
                          </a:solidFill>
                          <a:latin typeface="Arial"/>
                          <a:ea typeface="Arial"/>
                          <a:cs typeface="Arial"/>
                        </a:rPr>
                        <a:t>Check missingness and IDs, exclude ambiguous B records, and flag implausible distance or age.</a:t>
                      </a:r>
                    </a:p>
                  </a:txBody>
                  <a:tcPr marL="91440" marR="91440" marT="45720" marB="45720">
                    <a:lnR w="4763">
                      <a:solidFill>
                        <a:srgbClr val="544A71"/>
                      </a:solidFill>
                    </a:lnR>
                    <a:lnB w="4763">
                      <a:solidFill>
                        <a:srgbClr val="544A71"/>
                      </a:solidFill>
                    </a:lnB>
                    <a:solidFill>
                      <a:srgbClr val="2D2745"/>
                    </a:solidFill>
                  </a:tcPr>
                </a:tc>
                <a:tc>
                  <a:txBody>
                    <a:bodyPr/>
                    <a:lstStyle/>
                    <a:p>
                      <a:r>
                        <a:rPr sz="1950" b="0">
                          <a:solidFill>
                            <a:srgbClr val="FFFFFF"/>
                          </a:solidFill>
                          <a:latin typeface="Arial"/>
                          <a:ea typeface="Arial"/>
                          <a:cs typeface="Arial"/>
                        </a:rPr>
                        <a:t>Audits and exclusion logs</a:t>
                      </a:r>
                    </a:p>
                  </a:txBody>
                  <a:tcPr marL="91440" marR="91440" marT="45720" marB="45720">
                    <a:lnR w="4763">
                      <a:solidFill>
                        <a:srgbClr val="544A71"/>
                      </a:solidFill>
                    </a:lnR>
                    <a:lnB w="4763">
                      <a:solidFill>
                        <a:srgbClr val="544A71"/>
                      </a:solidFill>
                    </a:lnB>
                    <a:solidFill>
                      <a:srgbClr val="2D2745"/>
                    </a:solidFill>
                  </a:tcPr>
                </a:tc>
              </a:tr>
              <a:tr h="781050">
                <a:tc>
                  <a:txBody>
                    <a:bodyPr/>
                    <a:lstStyle/>
                    <a:p>
                      <a:r>
                        <a:rPr sz="1950" b="0">
                          <a:solidFill>
                            <a:srgbClr val="FFFFFF"/>
                          </a:solidFill>
                          <a:latin typeface="Arial"/>
                          <a:ea typeface="Arial"/>
                          <a:cs typeface="Arial"/>
                        </a:rPr>
                        <a:t>3. Transformation</a:t>
                      </a:r>
                    </a:p>
                  </a:txBody>
                  <a:tcPr marL="91440" marR="91440" marT="45720" marB="45720">
                    <a:lnL w="4763">
                      <a:solidFill>
                        <a:srgbClr val="544A71"/>
                      </a:solidFill>
                    </a:lnL>
                    <a:lnR w="4763">
                      <a:solidFill>
                        <a:srgbClr val="544A71"/>
                      </a:solidFill>
                    </a:lnR>
                    <a:lnB w="4763">
                      <a:solidFill>
                        <a:srgbClr val="544A71"/>
                      </a:solidFill>
                    </a:lnB>
                    <a:solidFill>
                      <a:srgbClr val="2D2745"/>
                    </a:solidFill>
                  </a:tcPr>
                </a:tc>
                <a:tc>
                  <a:txBody>
                    <a:bodyPr/>
                    <a:lstStyle/>
                    <a:p>
                      <a:r>
                        <a:rPr sz="1950" b="0">
                          <a:solidFill>
                            <a:srgbClr val="FFFFFF"/>
                          </a:solidFill>
                          <a:latin typeface="Arial"/>
                          <a:ea typeface="Arial"/>
                          <a:cs typeface="Arial"/>
                        </a:rPr>
                        <a:t>Derive B distance, impute inputs, encode categories and scale numeric features within training folds.</a:t>
                      </a:r>
                    </a:p>
                  </a:txBody>
                  <a:tcPr marL="91440" marR="91440" marT="45720" marB="45720">
                    <a:lnR w="4763">
                      <a:solidFill>
                        <a:srgbClr val="544A71"/>
                      </a:solidFill>
                    </a:lnR>
                    <a:lnB w="4763">
                      <a:solidFill>
                        <a:srgbClr val="544A71"/>
                      </a:solidFill>
                    </a:lnB>
                    <a:solidFill>
                      <a:srgbClr val="2D2745"/>
                    </a:solidFill>
                  </a:tcPr>
                </a:tc>
                <a:tc>
                  <a:txBody>
                    <a:bodyPr/>
                    <a:lstStyle/>
                    <a:p>
                      <a:r>
                        <a:rPr sz="1950" b="0">
                          <a:solidFill>
                            <a:srgbClr val="FFFFFF"/>
                          </a:solidFill>
                          <a:latin typeface="Arial"/>
                          <a:ea typeface="Arial"/>
                          <a:cs typeface="Arial"/>
                        </a:rPr>
                        <a:t>Shared feature code and pipelines</a:t>
                      </a:r>
                    </a:p>
                  </a:txBody>
                  <a:tcPr marL="91440" marR="91440" marT="45720" marB="45720">
                    <a:lnR w="4763">
                      <a:solidFill>
                        <a:srgbClr val="544A71"/>
                      </a:solidFill>
                    </a:lnR>
                    <a:lnB w="4763">
                      <a:solidFill>
                        <a:srgbClr val="544A71"/>
                      </a:solidFill>
                    </a:lnB>
                    <a:solidFill>
                      <a:srgbClr val="2D2745"/>
                    </a:solidFill>
                  </a:tcPr>
                </a:tc>
              </a:tr>
              <a:tr h="781050">
                <a:tc>
                  <a:txBody>
                    <a:bodyPr/>
                    <a:lstStyle/>
                    <a:p>
                      <a:r>
                        <a:rPr sz="1950" b="0">
                          <a:solidFill>
                            <a:srgbClr val="FFFFFF"/>
                          </a:solidFill>
                          <a:latin typeface="Arial"/>
                          <a:ea typeface="Arial"/>
                          <a:cs typeface="Arial"/>
                        </a:rPr>
                        <a:t>4. Data mining</a:t>
                      </a:r>
                    </a:p>
                  </a:txBody>
                  <a:tcPr marL="91440" marR="91440" marT="45720" marB="45720">
                    <a:lnL w="4763">
                      <a:solidFill>
                        <a:srgbClr val="544A71"/>
                      </a:solidFill>
                    </a:lnL>
                    <a:lnR w="4763">
                      <a:solidFill>
                        <a:srgbClr val="544A71"/>
                      </a:solidFill>
                    </a:lnR>
                    <a:lnB w="4763">
                      <a:solidFill>
                        <a:srgbClr val="544A71"/>
                      </a:solidFill>
                    </a:lnB>
                    <a:solidFill>
                      <a:srgbClr val="2D2745"/>
                    </a:solidFill>
                  </a:tcPr>
                </a:tc>
                <a:tc>
                  <a:txBody>
                    <a:bodyPr/>
                    <a:lstStyle/>
                    <a:p>
                      <a:r>
                        <a:rPr sz="1950" b="0">
                          <a:solidFill>
                            <a:srgbClr val="FFFFFF"/>
                          </a:solidFill>
                          <a:latin typeface="Arial"/>
                          <a:ea typeface="Arial"/>
                          <a:cs typeface="Arial"/>
                        </a:rPr>
                        <a:t>Compare a median baseline, Ridge, random forest and gradient boosting using five-fold validation.</a:t>
                      </a:r>
                    </a:p>
                  </a:txBody>
                  <a:tcPr marL="91440" marR="91440" marT="45720" marB="45720">
                    <a:lnR w="4763">
                      <a:solidFill>
                        <a:srgbClr val="544A71"/>
                      </a:solidFill>
                    </a:lnR>
                    <a:lnB w="4763">
                      <a:solidFill>
                        <a:srgbClr val="544A71"/>
                      </a:solidFill>
                    </a:lnB>
                    <a:solidFill>
                      <a:srgbClr val="2D2745"/>
                    </a:solidFill>
                  </a:tcPr>
                </a:tc>
                <a:tc>
                  <a:txBody>
                    <a:bodyPr/>
                    <a:lstStyle/>
                    <a:p>
                      <a:r>
                        <a:rPr sz="1950" b="0">
                          <a:solidFill>
                            <a:srgbClr val="FFFFFF"/>
                          </a:solidFill>
                          <a:latin typeface="Arial"/>
                          <a:ea typeface="Arial"/>
                          <a:cs typeface="Arial"/>
                        </a:rPr>
                        <a:t>Validation MAE for every model</a:t>
                      </a:r>
                    </a:p>
                  </a:txBody>
                  <a:tcPr marL="91440" marR="91440" marT="45720" marB="45720">
                    <a:lnR w="4763">
                      <a:solidFill>
                        <a:srgbClr val="544A71"/>
                      </a:solidFill>
                    </a:lnR>
                    <a:lnB w="4763">
                      <a:solidFill>
                        <a:srgbClr val="544A71"/>
                      </a:solidFill>
                    </a:lnB>
                    <a:solidFill>
                      <a:srgbClr val="2D2745"/>
                    </a:solidFill>
                  </a:tcPr>
                </a:tc>
              </a:tr>
              <a:tr h="781050">
                <a:tc>
                  <a:txBody>
                    <a:bodyPr/>
                    <a:lstStyle/>
                    <a:p>
                      <a:r>
                        <a:rPr sz="1950" b="0">
                          <a:solidFill>
                            <a:srgbClr val="FFFFFF"/>
                          </a:solidFill>
                          <a:latin typeface="Arial"/>
                          <a:ea typeface="Arial"/>
                          <a:cs typeface="Arial"/>
                        </a:rPr>
                        <a:t>5. Evaluation / interpretation</a:t>
                      </a:r>
                    </a:p>
                  </a:txBody>
                  <a:tcPr marL="91440" marR="91440" marT="45720" marB="45720">
                    <a:lnL w="4763">
                      <a:solidFill>
                        <a:srgbClr val="544A71"/>
                      </a:solidFill>
                    </a:lnL>
                    <a:lnR w="4763">
                      <a:solidFill>
                        <a:srgbClr val="544A71"/>
                      </a:solidFill>
                    </a:lnR>
                    <a:lnB w="4763">
                      <a:solidFill>
                        <a:srgbClr val="544A71"/>
                      </a:solidFill>
                    </a:lnB>
                    <a:solidFill>
                      <a:srgbClr val="2D2745"/>
                    </a:solidFill>
                  </a:tcPr>
                </a:tc>
                <a:tc>
                  <a:txBody>
                    <a:bodyPr/>
                    <a:lstStyle/>
                    <a:p>
                      <a:r>
                        <a:rPr sz="1950" b="0">
                          <a:solidFill>
                            <a:srgbClr val="FFFFFF"/>
                          </a:solidFill>
                          <a:latin typeface="Arial"/>
                          <a:ea typeface="Arial"/>
                          <a:cs typeface="Arial"/>
                        </a:rPr>
                        <a:t>Score reserved test data, compare with baselines, inspect feature importance and example errors.</a:t>
                      </a:r>
                    </a:p>
                  </a:txBody>
                  <a:tcPr marL="91440" marR="91440" marT="45720" marB="45720">
                    <a:lnR w="4763">
                      <a:solidFill>
                        <a:srgbClr val="544A71"/>
                      </a:solidFill>
                    </a:lnR>
                    <a:lnB w="4763">
                      <a:solidFill>
                        <a:srgbClr val="544A71"/>
                      </a:solidFill>
                    </a:lnB>
                    <a:solidFill>
                      <a:srgbClr val="2D2745"/>
                    </a:solidFill>
                  </a:tcPr>
                </a:tc>
                <a:tc>
                  <a:txBody>
                    <a:bodyPr/>
                    <a:lstStyle/>
                    <a:p>
                      <a:r>
                        <a:rPr sz="1950" b="0">
                          <a:solidFill>
                            <a:srgbClr val="FFFFFF"/>
                          </a:solidFill>
                          <a:latin typeface="Arial"/>
                          <a:ea typeface="Arial"/>
                          <a:cs typeface="Arial"/>
                        </a:rPr>
                        <a:t>MAE, RMSE, R² and explanations</a:t>
                      </a:r>
                    </a:p>
                  </a:txBody>
                  <a:tcPr marL="91440" marR="91440" marT="45720" marB="45720">
                    <a:lnR w="4763">
                      <a:solidFill>
                        <a:srgbClr val="544A71"/>
                      </a:solidFill>
                    </a:lnR>
                    <a:lnB w="4763">
                      <a:solidFill>
                        <a:srgbClr val="544A71"/>
                      </a:solidFill>
                    </a:lnB>
                    <a:solidFill>
                      <a:srgbClr val="2D2745"/>
                    </a:solidFill>
                  </a:tcPr>
                </a:tc>
              </a:tr>
              <a:tr h="781050">
                <a:tc>
                  <a:txBody>
                    <a:bodyPr/>
                    <a:lstStyle/>
                    <a:p>
                      <a:r>
                        <a:rPr sz="1950" b="0">
                          <a:solidFill>
                            <a:srgbClr val="FFFFFF"/>
                          </a:solidFill>
                          <a:latin typeface="Arial"/>
                          <a:ea typeface="Arial"/>
                          <a:cs typeface="Arial"/>
                        </a:rPr>
                        <a:t>6. Knowledge application</a:t>
                      </a:r>
                    </a:p>
                  </a:txBody>
                  <a:tcPr marL="91440" marR="91440" marT="45720" marB="45720">
                    <a:lnL w="4763">
                      <a:solidFill>
                        <a:srgbClr val="544A71"/>
                      </a:solidFill>
                    </a:lnL>
                    <a:lnR w="4763">
                      <a:solidFill>
                        <a:srgbClr val="544A71"/>
                      </a:solidFill>
                    </a:lnR>
                    <a:lnB w="4763">
                      <a:solidFill>
                        <a:srgbClr val="544A71"/>
                      </a:solidFill>
                    </a:lnB>
                    <a:solidFill>
                      <a:srgbClr val="2D2745"/>
                    </a:solidFill>
                  </a:tcPr>
                </a:tc>
                <a:tc>
                  <a:txBody>
                    <a:bodyPr/>
                    <a:lstStyle/>
                    <a:p>
                      <a:r>
                        <a:rPr sz="1950" b="0">
                          <a:solidFill>
                            <a:srgbClr val="FFFFFF"/>
                          </a:solidFill>
                          <a:latin typeface="Arial"/>
                          <a:ea typeface="Arial"/>
                          <a:cs typeface="Arial"/>
                        </a:rPr>
                        <a:t>Save and reload all three selected pipelines, then predict from example inputs without targets.</a:t>
                      </a:r>
                    </a:p>
                  </a:txBody>
                  <a:tcPr marL="91440" marR="91440" marT="45720" marB="45720">
                    <a:lnR w="4763">
                      <a:solidFill>
                        <a:srgbClr val="544A71"/>
                      </a:solidFill>
                    </a:lnR>
                    <a:lnB w="4763">
                      <a:solidFill>
                        <a:srgbClr val="544A71"/>
                      </a:solidFill>
                    </a:lnB>
                    <a:solidFill>
                      <a:srgbClr val="2D2745"/>
                    </a:solidFill>
                  </a:tcPr>
                </a:tc>
                <a:tc>
                  <a:txBody>
                    <a:bodyPr/>
                    <a:lstStyle/>
                    <a:p>
                      <a:r>
                        <a:rPr sz="1950" b="0">
                          <a:solidFill>
                            <a:srgbClr val="FFFFFF"/>
                          </a:solidFill>
                          <a:latin typeface="Arial"/>
                          <a:ea typeface="Arial"/>
                          <a:cs typeface="Arial"/>
                        </a:rPr>
                        <a:t>Three model files and inference script</a:t>
                      </a:r>
                    </a:p>
                  </a:txBody>
                  <a:tcPr marL="91440" marR="91440" marT="45720" marB="45720">
                    <a:lnR w="4763">
                      <a:solidFill>
                        <a:srgbClr val="544A71"/>
                      </a:solidFill>
                    </a:lnR>
                    <a:lnB w="4763">
                      <a:solidFill>
                        <a:srgbClr val="544A71"/>
                      </a:solidFill>
                    </a:lnB>
                    <a:solidFill>
                      <a:srgbClr val="2D2745"/>
                    </a:solidFill>
                  </a:tcPr>
                </a:tc>
              </a:tr>
            </a:tbl>
          </a:graphicData>
        </a:graphic>
      </p:graphicFrame>
      <p:sp>
        <p:nvSpPr>
          <p:cNvPr id="6" name="">
            <a:extLst>
              <a:ext uri="{FF2B5EF4-FFF2-40B4-BE49-F238E27FC236}">
                <ns2:creationId id="{80334E62-9762-47C7-BBCC-EBA37EB79D44}"/>
              </a:ext>
            </a:extLst>
          </p:cNvPr>
          <p:cNvSpPr>
            <a:spLocks noGrp="1"/>
          </p:cNvSpPr>
          <p:nvPr/>
        </p:nvSpPr>
        <p:spPr>
          <a:xfrm>
            <a:off x="647700" y="7400925"/>
            <a:ext cx="13811250" cy="619125"/>
          </a:xfrm>
          <a:prstGeom prst="rect">
            <a:avLst/>
          </a:prstGeom>
          <a:noFill/>
          <a:ln w="0">
            <a:noFill/>
          </a:ln>
        </p:spPr>
        <p:txBody>
          <a:bodyPr/>
          <a:lstStyle>
            <a:defPPr>
              <a:defRPr sz="1875" b="0">
                <a:solidFill>
                  <a:srgbClr val="DDD5EC"/>
                </a:solidFill>
                <a:latin typeface="Arial"/>
                <a:ea typeface="Arial"/>
                <a:cs typeface="Arial"/>
              </a:defRPr>
            </a:defPPr>
          </a:lstStyle>
          <a:p>
            <a:pPr>
              <a:defRPr sz="1875" b="0">
                <a:solidFill>
                  <a:srgbClr val="DDD5EC"/>
                </a:solidFill>
                <a:latin typeface="Arial"/>
                <a:ea typeface="Arial"/>
                <a:cs typeface="Arial"/>
              </a:defRPr>
            </a:pPr>
            <a:r>
              <a:rPr sz="1875" b="0">
                <a:solidFill>
                  <a:srgbClr val="DDD5EC"/>
                </a:solidFill>
                <a:latin typeface="Arial"/>
                <a:ea typeface="Arial"/>
                <a:cs typeface="Arial"/>
              </a:rPr>
              <a:t>Why the sources stay separate: their columns and duration definitions differ, and no verified common order key exists. Joining or pooling them would change the question and create unsupported relationships.</a:t>
            </a:r>
          </a:p>
        </p:txBody>
      </p:sp>
    </p:spTree>
    <p:extLst>
      <p:ext uri="{BB962C8B-B14F-4D97-AF65-F5344CB8AC3E}">
        <ns3:creationId val="1727472042"/>
      </p:ext>
    </p:extLst>
  </p:cSld>
  <p:transition spd="med"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400"/>
                                        <p:tgtEl>
                                          <p:spTgt spid="5"/>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CFAF6"/>
        </a:solidFill>
      </p:bgPr>
    </p:bg>
    <p:spTree>
      <p:nvGrpSpPr>
        <p:cNvPr id="1" name=""/>
        <p:cNvGrpSpPr/>
        <p:nvPr/>
      </p:nvGrpSpPr>
      <p:grpSpPr>
        <a:xfrm/>
      </p:grpSpPr>
      <p:sp>
        <p:nvSpPr>
          <p:cNvPr id="13" name="">
            <a:extLst>
              <a:ext uri="{FF2B5EF4-FFF2-40B4-BE49-F238E27FC236}">
                <ns2:creationId id="{42A9676E-9067-4F4B-8DC2-AD5C78A85FC9}"/>
              </a:ext>
            </a:extLst>
          </p:cNvPr>
          <p:cNvSpPr>
            <a:spLocks noGrp="1"/>
          </p:cNvSpPr>
          <p:nvPr/>
        </p:nvSpPr>
        <p:spPr>
          <a:xfrm>
            <a:off x="609600" y="266700"/>
            <a:ext cx="13525500" cy="285750"/>
          </a:xfrm>
          <a:prstGeom prst="rect">
            <a:avLst/>
          </a:prstGeom>
          <a:noFill/>
          <a:ln w="0">
            <a:noFill/>
          </a:ln>
        </p:spPr>
        <p:txBody>
          <a:bodyPr/>
          <a:lstStyle>
            <a:defPPr>
              <a:defRPr sz="1425" b="1">
                <a:solidFill>
                  <a:srgbClr val="6246A4"/>
                </a:solidFill>
                <a:latin typeface="Arial"/>
                <a:ea typeface="Arial"/>
                <a:cs typeface="Arial"/>
              </a:defRPr>
            </a:defPPr>
          </a:lstStyle>
          <a:p>
            <a:pPr>
              <a:defRPr sz="1425" b="1">
                <a:solidFill>
                  <a:srgbClr val="6246A4"/>
                </a:solidFill>
                <a:latin typeface="Arial"/>
                <a:ea typeface="Arial"/>
                <a:cs typeface="Arial"/>
              </a:defRPr>
            </a:pPr>
            <a:r>
              <a:rPr sz="1425" b="1">
                <a:solidFill>
                  <a:srgbClr val="6246A4"/>
                </a:solidFill>
                <a:latin typeface="Arial"/>
                <a:ea typeface="Arial"/>
                <a:cs typeface="Arial"/>
              </a:rPr>
              <a:t>KDD 2 / PREPROCESSING</a:t>
            </a:r>
          </a:p>
        </p:txBody>
      </p:sp>
      <p:sp>
        <p:nvSpPr>
          <p:cNvPr id="2" name="">
            <a:extLst>
              <a:ext uri="{FF2B5EF4-FFF2-40B4-BE49-F238E27FC236}">
                <ns2:creationId id="{E6939DF0-74EE-4195-A616-B4E8A23C57E2}"/>
              </a:ext>
            </a:extLst>
          </p:cNvPr>
          <p:cNvSpPr>
            <a:spLocks noGrp="1"/>
          </p:cNvSpPr>
          <p:nvPr/>
        </p:nvSpPr>
        <p:spPr>
          <a:xfrm>
            <a:off x="609600" y="704850"/>
            <a:ext cx="14020800" cy="895350"/>
          </a:xfrm>
          <a:prstGeom prst="rect">
            <a:avLst/>
          </a:prstGeom>
          <a:noFill/>
          <a:ln w="0">
            <a:noFill/>
          </a:ln>
        </p:spPr>
        <p:txBody>
          <a:bodyPr/>
          <a:lstStyle>
            <a:defPPr>
              <a:defRPr sz="3600" b="1">
                <a:solidFill>
                  <a:srgbClr val="25233E"/>
                </a:solidFill>
                <a:latin typeface="Arial"/>
                <a:ea typeface="Arial"/>
                <a:cs typeface="Arial"/>
              </a:defRPr>
            </a:defPPr>
          </a:lstStyle>
          <a:p>
            <a:pPr>
              <a:defRPr sz="3600" b="1">
                <a:solidFill>
                  <a:srgbClr val="25233E"/>
                </a:solidFill>
                <a:latin typeface="Arial"/>
                <a:ea typeface="Arial"/>
                <a:cs typeface="Arial"/>
              </a:defRPr>
            </a:pPr>
            <a:r>
              <a:rPr sz="3600" b="1">
                <a:solidFill>
                  <a:srgbClr val="25233E"/>
                </a:solidFill>
                <a:latin typeface="Arial"/>
                <a:ea typeface="Arial"/>
                <a:cs typeface="Arial"/>
              </a:rPr>
              <a:t>Data cleaning and prevention of target leakage</a:t>
            </a:r>
          </a:p>
        </p:txBody>
      </p:sp>
      <p:sp>
        <p:nvSpPr>
          <p:cNvPr id="3" name="">
            <a:extLst>
              <a:ext uri="{FF2B5EF4-FFF2-40B4-BE49-F238E27FC236}">
                <ns2:creationId id="{AC4554D5-14F2-47C7-812F-60B3E8A34DBE}"/>
              </a:ext>
            </a:extLst>
          </p:cNvPr>
          <p:cNvSpPr>
            <a:spLocks noGrp="1"/>
          </p:cNvSpPr>
          <p:nvPr/>
        </p:nvSpPr>
        <p:spPr>
          <a:xfrm>
            <a:off x="609600" y="8220075"/>
            <a:ext cx="12858750" cy="219075"/>
          </a:xfrm>
          <a:prstGeom prst="rect">
            <a:avLst/>
          </a:prstGeom>
          <a:noFill/>
          <a:ln w="0">
            <a:noFill/>
          </a:ln>
        </p:spPr>
        <p:txBody>
          <a:bodyPr/>
          <a:lstStyle>
            <a:defPPr>
              <a:defRPr sz="1125" b="0">
                <a:solidFill>
                  <a:srgbClr val="5C5C70"/>
                </a:solidFill>
                <a:latin typeface="Arial"/>
                <a:ea typeface="Arial"/>
                <a:cs typeface="Arial"/>
              </a:defRPr>
            </a:defPPr>
          </a:lstStyle>
          <a:p>
            <a:pPr>
              <a:defRPr sz="1125" b="0">
                <a:solidFill>
                  <a:srgbClr val="5C5C70"/>
                </a:solidFill>
                <a:latin typeface="Arial"/>
                <a:ea typeface="Arial"/>
                <a:cs typeface="Arial"/>
              </a:defRPr>
            </a:pPr>
            <a:r>
              <a:rPr sz="1125" b="0">
                <a:solidFill>
                  <a:srgbClr val="5C5C70"/>
                </a:solidFill>
                <a:latin typeface="Arial"/>
                <a:ea typeface="Arial"/>
                <a:cs typeface="Arial"/>
              </a:rPr>
              <a:t>AADITI GAIKWAD   /   PREDICTIVE ANALYTICS</a:t>
            </a:r>
          </a:p>
        </p:txBody>
      </p:sp>
      <p:sp>
        <p:nvSpPr>
          <p:cNvPr id="4" name="">
            <a:extLst>
              <a:ext uri="{FF2B5EF4-FFF2-40B4-BE49-F238E27FC236}">
                <ns2:creationId id="{376F279B-2F81-4A52-8A43-3B2318D523CA}"/>
              </a:ext>
            </a:extLst>
          </p:cNvPr>
          <p:cNvSpPr>
            <a:spLocks noGrp="1"/>
          </p:cNvSpPr>
          <p:nvPr/>
        </p:nvSpPr>
        <p:spPr>
          <a:xfrm>
            <a:off x="14144625" y="8172450"/>
            <a:ext cx="571500" cy="276225"/>
          </a:xfrm>
          <a:prstGeom prst="rect">
            <a:avLst/>
          </a:prstGeom>
          <a:noFill/>
          <a:ln w="0">
            <a:noFill/>
          </a:ln>
        </p:spPr>
        <p:txBody>
          <a:bodyPr/>
          <a:lstStyle>
            <a:defPPr>
              <a:defRPr sz="1500" b="1">
                <a:solidFill>
                  <a:srgbClr val="6246A4"/>
                </a:solidFill>
                <a:latin typeface="Arial"/>
                <a:ea typeface="Arial"/>
                <a:cs typeface="Arial"/>
              </a:defRPr>
            </a:defPPr>
          </a:lstStyle>
          <a:p>
            <a:pPr>
              <a:defRPr sz="1500" b="1">
                <a:solidFill>
                  <a:srgbClr val="6246A4"/>
                </a:solidFill>
                <a:latin typeface="Arial"/>
                <a:ea typeface="Arial"/>
                <a:cs typeface="Arial"/>
              </a:defRPr>
            </a:pPr>
            <a:r>
              <a:rPr sz="1500" b="1">
                <a:solidFill>
                  <a:srgbClr val="6246A4"/>
                </a:solidFill>
                <a:latin typeface="Arial"/>
                <a:ea typeface="Arial"/>
                <a:cs typeface="Arial"/>
              </a:rPr>
              <a:t>04</a:t>
            </a:r>
          </a:p>
        </p:txBody>
      </p:sp>
      <p:sp>
        <p:nvSpPr>
          <p:cNvPr id="5" name="">
            <a:extLst>
              <a:ext uri="{FF2B5EF4-FFF2-40B4-BE49-F238E27FC236}">
                <ns2:creationId id="{E13C3161-0320-4680-B2E2-FCAEE7AFFD4C}"/>
              </a:ext>
            </a:extLst>
          </p:cNvPr>
          <p:cNvSpPr>
            <a:spLocks noGrp="1"/>
          </p:cNvSpPr>
          <p:nvPr/>
        </p:nvSpPr>
        <p:spPr>
          <a:xfrm>
            <a:off x="647700" y="1752600"/>
            <a:ext cx="4429125" cy="419100"/>
          </a:xfrm>
          <a:prstGeom prst="rect">
            <a:avLst/>
          </a:prstGeom>
          <a:noFill/>
          <a:ln w="0">
            <a:noFill/>
          </a:ln>
        </p:spPr>
        <p:txBody>
          <a:bodyPr/>
          <a:lstStyle>
            <a:defPPr>
              <a:defRPr sz="2325" b="1">
                <a:solidFill>
                  <a:srgbClr val="6246A4"/>
                </a:solidFill>
                <a:latin typeface="Arial"/>
                <a:ea typeface="Arial"/>
                <a:cs typeface="Arial"/>
              </a:defRPr>
            </a:defPPr>
          </a:lstStyle>
          <a:p>
            <a:pPr>
              <a:defRPr sz="2325" b="1">
                <a:solidFill>
                  <a:srgbClr val="6246A4"/>
                </a:solidFill>
                <a:latin typeface="Arial"/>
                <a:ea typeface="Arial"/>
                <a:cs typeface="Arial"/>
              </a:defRPr>
            </a:pPr>
            <a:r>
              <a:rPr sz="2325" b="1">
                <a:solidFill>
                  <a:srgbClr val="6246A4"/>
                </a:solidFill>
                <a:latin typeface="Arial"/>
                <a:ea typeface="Arial"/>
                <a:cs typeface="Arial"/>
              </a:rPr>
              <a:t>A. Missing context</a:t>
            </a:r>
          </a:p>
        </p:txBody>
      </p:sp>
      <p:sp>
        <p:nvSpPr>
          <p:cNvPr id="6" name="">
            <a:extLst>
              <a:ext uri="{FF2B5EF4-FFF2-40B4-BE49-F238E27FC236}">
                <ns2:creationId id="{C8E88D90-AE24-4EB6-9F56-B62A6678DDFE}"/>
              </a:ext>
            </a:extLst>
          </p:cNvPr>
          <p:cNvSpPr>
            <a:spLocks noGrp="1"/>
          </p:cNvSpPr>
          <p:nvPr/>
        </p:nvSpPr>
        <p:spPr>
          <a:xfrm>
            <a:off x="647700" y="2362200"/>
            <a:ext cx="4400550" cy="4638675"/>
          </a:xfrm>
          <a:prstGeom prst="rect">
            <a:avLst/>
          </a:prstGeom>
          <a:noFill/>
          <a:ln w="0">
            <a:noFill/>
          </a:ln>
        </p:spPr>
        <p:txBody>
          <a:bodyPr/>
          <a:lstStyle>
            <a:defPPr>
              <a:defRPr sz="2025" b="0">
                <a:solidFill>
                  <a:srgbClr val="25233E"/>
                </a:solidFill>
                <a:latin typeface="Arial"/>
                <a:ea typeface="Arial"/>
                <a:cs typeface="Arial"/>
              </a:defRPr>
            </a:defPPr>
          </a:lstStyle>
          <a:p>
            <a:pPr>
              <a:defRPr sz="2025" b="0">
                <a:solidFill>
                  <a:srgbClr val="25233E"/>
                </a:solidFill>
                <a:latin typeface="Arial"/>
                <a:ea typeface="Arial"/>
                <a:cs typeface="Arial"/>
              </a:defRPr>
            </a:pPr>
            <a:r>
              <a:rPr sz="2025" b="0">
                <a:solidFill>
                  <a:srgbClr val="25233E"/>
                </a:solidFill>
                <a:latin typeface="Arial"/>
                <a:ea typeface="Arial"/>
                <a:cs typeface="Arial"/>
              </a:rPr>
              <a:t>The audit found 120 missing predictor cells: 30 each in experience, weather, traffic and time of day. Targets are complete and order IDs are unique.</a:t>
            </a:r>
          </a:p>
          <a:p>
            <a:r>
              <a:t/>
            </a:r>
          </a:p>
          <a:p>
            <a:pPr>
              <a:defRPr sz="2025" b="0">
                <a:solidFill>
                  <a:srgbClr val="25233E"/>
                </a:solidFill>
                <a:latin typeface="Arial"/>
                <a:ea typeface="Arial"/>
                <a:cs typeface="Arial"/>
              </a:defRPr>
            </a:pPr>
            <a:r>
              <a:rPr sz="2025" b="0">
                <a:solidFill>
                  <a:srgbClr val="25233E"/>
                </a:solidFill>
                <a:latin typeface="Arial"/>
                <a:ea typeface="Arial"/>
                <a:cs typeface="Arial"/>
              </a:rPr>
              <a:t>Retain these orders and fill gaps inside each training fold. Exclude Order_ID and recorded preparation duration because actual preparation time may only be known later.</a:t>
            </a:r>
          </a:p>
        </p:txBody>
      </p:sp>
      <p:sp>
        <p:nvSpPr>
          <p:cNvPr id="7" name="">
            <a:extLst>
              <a:ext uri="{FF2B5EF4-FFF2-40B4-BE49-F238E27FC236}">
                <ns2:creationId id="{CAC3DA9E-28B9-495B-87CE-4459F0384560}"/>
              </a:ext>
            </a:extLst>
          </p:cNvPr>
          <p:cNvSpPr>
            <a:spLocks noGrp="1"/>
          </p:cNvSpPr>
          <p:nvPr/>
        </p:nvSpPr>
        <p:spPr>
          <a:xfrm>
            <a:off x="5429250" y="1752600"/>
            <a:ext cx="4429125" cy="419100"/>
          </a:xfrm>
          <a:prstGeom prst="rect">
            <a:avLst/>
          </a:prstGeom>
          <a:noFill/>
          <a:ln w="0">
            <a:noFill/>
          </a:ln>
        </p:spPr>
        <p:txBody>
          <a:bodyPr/>
          <a:lstStyle>
            <a:defPPr>
              <a:defRPr sz="2325" b="1">
                <a:solidFill>
                  <a:srgbClr val="6246A4"/>
                </a:solidFill>
                <a:latin typeface="Arial"/>
                <a:ea typeface="Arial"/>
                <a:cs typeface="Arial"/>
              </a:defRPr>
            </a:defPPr>
          </a:lstStyle>
          <a:p>
            <a:pPr>
              <a:defRPr sz="2325" b="1">
                <a:solidFill>
                  <a:srgbClr val="6246A4"/>
                </a:solidFill>
                <a:latin typeface="Arial"/>
                <a:ea typeface="Arial"/>
                <a:cs typeface="Arial"/>
              </a:defRPr>
            </a:pPr>
            <a:r>
              <a:rPr sz="2325" b="1">
                <a:solidFill>
                  <a:srgbClr val="6246A4"/>
                </a:solidFill>
                <a:latin typeface="Arial"/>
                <a:ea typeface="Arial"/>
                <a:cs typeface="Arial"/>
              </a:rPr>
              <a:t>B. IDs and input quality</a:t>
            </a:r>
          </a:p>
        </p:txBody>
      </p:sp>
      <p:sp>
        <p:nvSpPr>
          <p:cNvPr id="8" name="">
            <a:extLst>
              <a:ext uri="{FF2B5EF4-FFF2-40B4-BE49-F238E27FC236}">
                <ns2:creationId id="{927F55B3-9B7B-4753-B555-70460864B092}"/>
              </a:ext>
            </a:extLst>
          </p:cNvPr>
          <p:cNvSpPr>
            <a:spLocks noGrp="1"/>
          </p:cNvSpPr>
          <p:nvPr/>
        </p:nvSpPr>
        <p:spPr>
          <a:xfrm>
            <a:off x="5429250" y="2362200"/>
            <a:ext cx="4400550" cy="4638675"/>
          </a:xfrm>
          <a:prstGeom prst="rect">
            <a:avLst/>
          </a:prstGeom>
          <a:noFill/>
          <a:ln w="0">
            <a:noFill/>
          </a:ln>
        </p:spPr>
        <p:txBody>
          <a:bodyPr/>
          <a:lstStyle>
            <a:defPPr>
              <a:defRPr sz="2025" b="0">
                <a:solidFill>
                  <a:srgbClr val="25233E"/>
                </a:solidFill>
                <a:latin typeface="Arial"/>
                <a:ea typeface="Arial"/>
                <a:cs typeface="Arial"/>
              </a:defRPr>
            </a:defPPr>
          </a:lstStyle>
          <a:p>
            <a:pPr>
              <a:defRPr sz="2025" b="0">
                <a:solidFill>
                  <a:srgbClr val="25233E"/>
                </a:solidFill>
                <a:latin typeface="Arial"/>
                <a:ea typeface="Arial"/>
                <a:cs typeface="Arial"/>
              </a:defRPr>
            </a:pPr>
            <a:r>
              <a:rPr sz="2025" b="0">
                <a:solidFill>
                  <a:srgbClr val="25233E"/>
                </a:solidFill>
                <a:latin typeface="Arial"/>
                <a:ea typeface="Arial"/>
                <a:cs typeface="Arial"/>
              </a:rPr>
              <a:t>Exclude all 259 rows with repeated order IDs, leaving 45,334. Do not guess which conflicting record is correct.</a:t>
            </a:r>
          </a:p>
          <a:p>
            <a:r>
              <a:t/>
            </a:r>
          </a:p>
          <a:p>
            <a:pPr>
              <a:defRPr sz="2025" b="0">
                <a:solidFill>
                  <a:srgbClr val="25233E"/>
                </a:solidFill>
                <a:latin typeface="Arial"/>
                <a:ea typeface="Arial"/>
                <a:cs typeface="Arial"/>
              </a:defRPr>
            </a:pPr>
            <a:r>
              <a:rPr sz="2025" b="0">
                <a:solidFill>
                  <a:srgbClr val="25233E"/>
                </a:solidFill>
                <a:latin typeface="Arial"/>
                <a:ea typeface="Arial"/>
                <a:cs typeface="Arial"/>
              </a:rPr>
              <a:t>Flag invalid distance and age values as missing: 4,043 distances and 37 ages. Retain those rows for imputation. Exclude ratings with unclear measurement timing and use courier ID only for splitting.</a:t>
            </a:r>
          </a:p>
        </p:txBody>
      </p:sp>
      <p:sp>
        <p:nvSpPr>
          <p:cNvPr id="9" name="">
            <a:extLst>
              <a:ext uri="{FF2B5EF4-FFF2-40B4-BE49-F238E27FC236}">
                <ns2:creationId id="{F529F99A-A10F-4A13-9DC6-8F01110BF9A6}"/>
              </a:ext>
            </a:extLst>
          </p:cNvPr>
          <p:cNvSpPr>
            <a:spLocks noGrp="1"/>
          </p:cNvSpPr>
          <p:nvPr/>
        </p:nvSpPr>
        <p:spPr>
          <a:xfrm>
            <a:off x="10210800" y="1752600"/>
            <a:ext cx="4429125" cy="419100"/>
          </a:xfrm>
          <a:prstGeom prst="rect">
            <a:avLst/>
          </a:prstGeom>
          <a:noFill/>
          <a:ln w="0">
            <a:noFill/>
          </a:ln>
        </p:spPr>
        <p:txBody>
          <a:bodyPr/>
          <a:lstStyle>
            <a:defPPr>
              <a:defRPr sz="2325" b="1">
                <a:solidFill>
                  <a:srgbClr val="6246A4"/>
                </a:solidFill>
                <a:latin typeface="Arial"/>
                <a:ea typeface="Arial"/>
                <a:cs typeface="Arial"/>
              </a:defRPr>
            </a:defPPr>
          </a:lstStyle>
          <a:p>
            <a:pPr>
              <a:defRPr sz="2325" b="1">
                <a:solidFill>
                  <a:srgbClr val="6246A4"/>
                </a:solidFill>
                <a:latin typeface="Arial"/>
                <a:ea typeface="Arial"/>
                <a:cs typeface="Arial"/>
              </a:defRPr>
            </a:pPr>
            <a:r>
              <a:rPr sz="2325" b="1">
                <a:solidFill>
                  <a:srgbClr val="6246A4"/>
                </a:solidFill>
                <a:latin typeface="Arial"/>
                <a:ea typeface="Arial"/>
                <a:cs typeface="Arial"/>
              </a:rPr>
              <a:t>C. Feature availability</a:t>
            </a:r>
          </a:p>
        </p:txBody>
      </p:sp>
      <p:sp>
        <p:nvSpPr>
          <p:cNvPr id="10" name="">
            <a:extLst>
              <a:ext uri="{FF2B5EF4-FFF2-40B4-BE49-F238E27FC236}">
                <ns2:creationId id="{BA61CC9A-3311-4245-B371-C73993290B1E}"/>
              </a:ext>
            </a:extLst>
          </p:cNvPr>
          <p:cNvSpPr>
            <a:spLocks noGrp="1"/>
          </p:cNvSpPr>
          <p:nvPr/>
        </p:nvSpPr>
        <p:spPr>
          <a:xfrm>
            <a:off x="10210800" y="2362200"/>
            <a:ext cx="4400550" cy="4638675"/>
          </a:xfrm>
          <a:prstGeom prst="rect">
            <a:avLst/>
          </a:prstGeom>
          <a:noFill/>
          <a:ln w="0">
            <a:noFill/>
          </a:ln>
        </p:spPr>
        <p:txBody>
          <a:bodyPr/>
          <a:lstStyle>
            <a:defPPr>
              <a:defRPr sz="2025" b="0">
                <a:solidFill>
                  <a:srgbClr val="25233E"/>
                </a:solidFill>
                <a:latin typeface="Arial"/>
                <a:ea typeface="Arial"/>
                <a:cs typeface="Arial"/>
              </a:defRPr>
            </a:defPPr>
          </a:lstStyle>
          <a:p>
            <a:pPr>
              <a:defRPr sz="2025" b="0">
                <a:solidFill>
                  <a:srgbClr val="25233E"/>
                </a:solidFill>
                <a:latin typeface="Arial"/>
                <a:ea typeface="Arial"/>
                <a:cs typeface="Arial"/>
              </a:defRPr>
            </a:pPr>
            <a:r>
              <a:rPr sz="2025" b="0">
                <a:solidFill>
                  <a:srgbClr val="25233E"/>
                </a:solidFill>
                <a:latin typeface="Arial"/>
                <a:ea typeface="Arial"/>
                <a:cs typeface="Arial"/>
              </a:rPr>
              <a:t>All 1,898 orders have unique IDs, positive targets and complete selected inputs. Use cost, cuisine and weekday/weekend.</a:t>
            </a:r>
          </a:p>
          <a:p>
            <a:r>
              <a:t/>
            </a:r>
          </a:p>
          <a:p>
            <a:pPr>
              <a:defRPr sz="2025" b="0">
                <a:solidFill>
                  <a:srgbClr val="25233E"/>
                </a:solidFill>
                <a:latin typeface="Arial"/>
                <a:ea typeface="Arial"/>
                <a:cs typeface="Arial"/>
              </a:defRPr>
            </a:pPr>
            <a:r>
              <a:rPr sz="2025" b="0">
                <a:solidFill>
                  <a:srgbClr val="25233E"/>
                </a:solidFill>
                <a:latin typeface="Arial"/>
                <a:ea typeface="Arial"/>
                <a:cs typeface="Arial"/>
              </a:rPr>
              <a:t>Exclude order/customer IDs, rating and actual preparation duration. Restaurant name defines evaluation groups only. The predicted target covers delivery, not total preparation-plus-delivery time.</a:t>
            </a:r>
          </a:p>
        </p:txBody>
      </p:sp>
      <p:sp>
        <p:nvSpPr>
          <p:cNvPr id="11" name="">
            <a:extLst>
              <a:ext uri="{FF2B5EF4-FFF2-40B4-BE49-F238E27FC236}">
                <ns2:creationId id="{04799A44-F55C-47C3-BDA3-D97B6F1CBF0B}"/>
              </a:ext>
            </a:extLst>
          </p:cNvPr>
          <p:cNvSpPr>
            <a:spLocks noGrp="1"/>
          </p:cNvSpPr>
          <p:nvPr/>
        </p:nvSpPr>
        <p:spPr>
          <a:xfrm>
            <a:off x="647700" y="7067550"/>
            <a:ext cx="13811250" cy="419100"/>
          </a:xfrm>
          <a:prstGeom prst="rect">
            <a:avLst/>
          </a:prstGeom>
          <a:noFill/>
          <a:ln w="0">
            <a:noFill/>
          </a:ln>
        </p:spPr>
        <p:txBody>
          <a:bodyPr/>
          <a:lstStyle>
            <a:defPPr>
              <a:defRPr sz="2325" b="1">
                <a:solidFill>
                  <a:srgbClr val="007F82"/>
                </a:solidFill>
                <a:latin typeface="Arial"/>
                <a:ea typeface="Arial"/>
                <a:cs typeface="Arial"/>
              </a:defRPr>
            </a:defPPr>
          </a:lstStyle>
          <a:p>
            <a:pPr>
              <a:defRPr sz="2325" b="1">
                <a:solidFill>
                  <a:srgbClr val="007F82"/>
                </a:solidFill>
                <a:latin typeface="Arial"/>
                <a:ea typeface="Arial"/>
                <a:cs typeface="Arial"/>
              </a:defRPr>
            </a:pPr>
            <a:r>
              <a:rPr sz="2325" b="1">
                <a:solidFill>
                  <a:srgbClr val="007F82"/>
                </a:solidFill>
                <a:latin typeface="Arial"/>
                <a:ea typeface="Arial"/>
                <a:cs typeface="Arial"/>
              </a:rPr>
              <a:t>Leakage rule used throughout</a:t>
            </a:r>
          </a:p>
        </p:txBody>
      </p:sp>
      <p:sp>
        <p:nvSpPr>
          <p:cNvPr id="12" name="">
            <a:extLst>
              <a:ext uri="{FF2B5EF4-FFF2-40B4-BE49-F238E27FC236}">
                <ns2:creationId id="{769D1925-B5E9-4016-BF70-907466FBF575}"/>
              </a:ext>
            </a:extLst>
          </p:cNvPr>
          <p:cNvSpPr>
            <a:spLocks noGrp="1"/>
          </p:cNvSpPr>
          <p:nvPr/>
        </p:nvSpPr>
        <p:spPr>
          <a:xfrm>
            <a:off x="647700" y="7496175"/>
            <a:ext cx="13811250" cy="609600"/>
          </a:xfrm>
          <a:prstGeom prst="rect">
            <a:avLst/>
          </a:prstGeom>
          <a:noFill/>
          <a:ln w="0">
            <a:noFill/>
          </a:ln>
        </p:spPr>
        <p:txBody>
          <a:bodyPr/>
          <a:lstStyle>
            <a:defPPr>
              <a:defRPr sz="1875" b="0">
                <a:solidFill>
                  <a:srgbClr val="25233E"/>
                </a:solidFill>
                <a:latin typeface="Arial"/>
                <a:ea typeface="Arial"/>
                <a:cs typeface="Arial"/>
              </a:defRPr>
            </a:defPPr>
          </a:lstStyle>
          <a:p>
            <a:pPr>
              <a:defRPr sz="1875" b="0">
                <a:solidFill>
                  <a:srgbClr val="25233E"/>
                </a:solidFill>
                <a:latin typeface="Arial"/>
                <a:ea typeface="Arial"/>
                <a:cs typeface="Arial"/>
              </a:defRPr>
            </a:pPr>
            <a:r>
              <a:rPr sz="1875" b="0">
                <a:solidFill>
                  <a:srgbClr val="25233E"/>
                </a:solidFill>
                <a:latin typeface="Arial"/>
                <a:ea typeface="Arial"/>
                <a:cs typeface="Arial"/>
              </a:rPr>
              <a:t>The model must not receive the answer, later measurements or fitted preprocessing learned from the test set. Every exclusion has a documented reason rather than being chosen to improve a test score.</a:t>
            </a:r>
          </a:p>
        </p:txBody>
      </p:sp>
    </p:spTree>
    <p:extLst>
      <p:ext uri="{BB962C8B-B14F-4D97-AF65-F5344CB8AC3E}">
        <ns3:creationId val="439616131"/>
      </p:ext>
    </p:extLst>
  </p:cSld>
  <p:transition spd="med"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400"/>
                                        <p:tgtEl>
                                          <p:spTgt spid="6"/>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00"/>
                                        <p:tgtEl>
                                          <p:spTgt spid="8"/>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CFAF6"/>
        </a:solidFill>
      </p:bgPr>
    </p:bg>
    <p:spTree>
      <p:nvGrpSpPr>
        <p:cNvPr id="1" name=""/>
        <p:cNvGrpSpPr/>
        <p:nvPr/>
      </p:nvGrpSpPr>
      <p:grpSpPr>
        <a:xfrm/>
      </p:grpSpPr>
      <p:sp>
        <p:nvSpPr>
          <p:cNvPr id="7" name="">
            <a:extLst>
              <a:ext uri="{FF2B5EF4-FFF2-40B4-BE49-F238E27FC236}">
                <ns2:creationId id="{1A9CF201-6F84-4F50-8859-D3FA7CDF2097}"/>
              </a:ext>
            </a:extLst>
          </p:cNvPr>
          <p:cNvSpPr>
            <a:spLocks noGrp="1"/>
          </p:cNvSpPr>
          <p:nvPr/>
        </p:nvSpPr>
        <p:spPr>
          <a:xfrm>
            <a:off x="609600" y="266700"/>
            <a:ext cx="13525500" cy="285750"/>
          </a:xfrm>
          <a:prstGeom prst="rect">
            <a:avLst/>
          </a:prstGeom>
          <a:noFill/>
          <a:ln w="0">
            <a:noFill/>
          </a:ln>
        </p:spPr>
        <p:txBody>
          <a:bodyPr/>
          <a:lstStyle>
            <a:defPPr>
              <a:defRPr sz="1425" b="1">
                <a:solidFill>
                  <a:srgbClr val="6246A4"/>
                </a:solidFill>
                <a:latin typeface="Arial"/>
                <a:ea typeface="Arial"/>
                <a:cs typeface="Arial"/>
              </a:defRPr>
            </a:defPPr>
          </a:lstStyle>
          <a:p>
            <a:pPr>
              <a:defRPr sz="1425" b="1">
                <a:solidFill>
                  <a:srgbClr val="6246A4"/>
                </a:solidFill>
                <a:latin typeface="Arial"/>
                <a:ea typeface="Arial"/>
                <a:cs typeface="Arial"/>
              </a:defRPr>
            </a:pPr>
            <a:r>
              <a:rPr sz="1425" b="1">
                <a:solidFill>
                  <a:srgbClr val="6246A4"/>
                </a:solidFill>
                <a:latin typeface="Arial"/>
                <a:ea typeface="Arial"/>
                <a:cs typeface="Arial"/>
              </a:rPr>
              <a:t>KDD 3 / TRANSFORMATION AND FEATURE ENGINEERING</a:t>
            </a:r>
          </a:p>
        </p:txBody>
      </p:sp>
      <p:sp>
        <p:nvSpPr>
          <p:cNvPr id="2" name="">
            <a:extLst>
              <a:ext uri="{FF2B5EF4-FFF2-40B4-BE49-F238E27FC236}">
                <ns2:creationId id="{C8F68DD4-24A9-4254-934F-D79CB8A8C9AF}"/>
              </a:ext>
            </a:extLst>
          </p:cNvPr>
          <p:cNvSpPr>
            <a:spLocks noGrp="1"/>
          </p:cNvSpPr>
          <p:nvPr/>
        </p:nvSpPr>
        <p:spPr>
          <a:xfrm>
            <a:off x="609600" y="704850"/>
            <a:ext cx="14020800" cy="895350"/>
          </a:xfrm>
          <a:prstGeom prst="rect">
            <a:avLst/>
          </a:prstGeom>
          <a:noFill/>
          <a:ln w="0">
            <a:noFill/>
          </a:ln>
        </p:spPr>
        <p:txBody>
          <a:bodyPr/>
          <a:lstStyle>
            <a:defPPr>
              <a:defRPr sz="3600" b="1">
                <a:solidFill>
                  <a:srgbClr val="25233E"/>
                </a:solidFill>
                <a:latin typeface="Arial"/>
                <a:ea typeface="Arial"/>
                <a:cs typeface="Arial"/>
              </a:defRPr>
            </a:defPPr>
          </a:lstStyle>
          <a:p>
            <a:pPr>
              <a:defRPr sz="3600" b="1">
                <a:solidFill>
                  <a:srgbClr val="25233E"/>
                </a:solidFill>
                <a:latin typeface="Arial"/>
                <a:ea typeface="Arial"/>
                <a:cs typeface="Arial"/>
              </a:defRPr>
            </a:pPr>
            <a:r>
              <a:rPr sz="3600" b="1">
                <a:solidFill>
                  <a:srgbClr val="25233E"/>
                </a:solidFill>
                <a:latin typeface="Arial"/>
                <a:ea typeface="Arial"/>
                <a:cs typeface="Arial"/>
              </a:rPr>
              <a:t>How raw columns become model-ready features</a:t>
            </a:r>
          </a:p>
        </p:txBody>
      </p:sp>
      <p:sp>
        <p:nvSpPr>
          <p:cNvPr id="3" name="">
            <a:extLst>
              <a:ext uri="{FF2B5EF4-FFF2-40B4-BE49-F238E27FC236}">
                <ns2:creationId id="{3B59E361-BEFA-427C-9DCB-985803FD998A}"/>
              </a:ext>
            </a:extLst>
          </p:cNvPr>
          <p:cNvSpPr>
            <a:spLocks noGrp="1"/>
          </p:cNvSpPr>
          <p:nvPr/>
        </p:nvSpPr>
        <p:spPr>
          <a:xfrm>
            <a:off x="609600" y="8220075"/>
            <a:ext cx="12858750" cy="219075"/>
          </a:xfrm>
          <a:prstGeom prst="rect">
            <a:avLst/>
          </a:prstGeom>
          <a:noFill/>
          <a:ln w="0">
            <a:noFill/>
          </a:ln>
        </p:spPr>
        <p:txBody>
          <a:bodyPr/>
          <a:lstStyle>
            <a:defPPr>
              <a:defRPr sz="1125" b="0">
                <a:solidFill>
                  <a:srgbClr val="5C5C70"/>
                </a:solidFill>
                <a:latin typeface="Arial"/>
                <a:ea typeface="Arial"/>
                <a:cs typeface="Arial"/>
              </a:defRPr>
            </a:defPPr>
          </a:lstStyle>
          <a:p>
            <a:pPr>
              <a:defRPr sz="1125" b="0">
                <a:solidFill>
                  <a:srgbClr val="5C5C70"/>
                </a:solidFill>
                <a:latin typeface="Arial"/>
                <a:ea typeface="Arial"/>
                <a:cs typeface="Arial"/>
              </a:defRPr>
            </a:pPr>
            <a:r>
              <a:rPr sz="1125" b="0">
                <a:solidFill>
                  <a:srgbClr val="5C5C70"/>
                </a:solidFill>
                <a:latin typeface="Arial"/>
                <a:ea typeface="Arial"/>
                <a:cs typeface="Arial"/>
              </a:rPr>
              <a:t>AADITI GAIKWAD   /   PREDICTIVE ANALYTICS</a:t>
            </a:r>
          </a:p>
        </p:txBody>
      </p:sp>
      <p:sp>
        <p:nvSpPr>
          <p:cNvPr id="4" name="">
            <a:extLst>
              <a:ext uri="{FF2B5EF4-FFF2-40B4-BE49-F238E27FC236}">
                <ns2:creationId id="{6110D58B-1DC5-47F0-8702-13562AF8355B}"/>
              </a:ext>
            </a:extLst>
          </p:cNvPr>
          <p:cNvSpPr>
            <a:spLocks noGrp="1"/>
          </p:cNvSpPr>
          <p:nvPr/>
        </p:nvSpPr>
        <p:spPr>
          <a:xfrm>
            <a:off x="14144625" y="8172450"/>
            <a:ext cx="571500" cy="276225"/>
          </a:xfrm>
          <a:prstGeom prst="rect">
            <a:avLst/>
          </a:prstGeom>
          <a:noFill/>
          <a:ln w="0">
            <a:noFill/>
          </a:ln>
        </p:spPr>
        <p:txBody>
          <a:bodyPr/>
          <a:lstStyle>
            <a:defPPr>
              <a:defRPr sz="1500" b="1">
                <a:solidFill>
                  <a:srgbClr val="6246A4"/>
                </a:solidFill>
                <a:latin typeface="Arial"/>
                <a:ea typeface="Arial"/>
                <a:cs typeface="Arial"/>
              </a:defRPr>
            </a:defPPr>
          </a:lstStyle>
          <a:p>
            <a:pPr>
              <a:defRPr sz="1500" b="1">
                <a:solidFill>
                  <a:srgbClr val="6246A4"/>
                </a:solidFill>
                <a:latin typeface="Arial"/>
                <a:ea typeface="Arial"/>
                <a:cs typeface="Arial"/>
              </a:defRPr>
            </a:pPr>
            <a:r>
              <a:rPr sz="1500" b="1">
                <a:solidFill>
                  <a:srgbClr val="6246A4"/>
                </a:solidFill>
                <a:latin typeface="Arial"/>
                <a:ea typeface="Arial"/>
                <a:cs typeface="Arial"/>
              </a:rPr>
              <a:t>05</a:t>
            </a:r>
          </a:p>
        </p:txBody>
      </p:sp>
      <p:graphicFrame>
        <p:nvGraphicFramePr>
          <p:cNvPr id="5" name="">
            <a:extLst>
              <a:ext uri="{FF2B5EF4-FFF2-40B4-BE49-F238E27FC236}">
                <ns2:creationId id="{C09A1944-CA9A-4596-BB6C-577627E281D0}"/>
              </a:ext>
            </a:extLst>
          </p:cNvPr>
          <p:cNvGraphicFramePr/>
          <p:nvPr/>
        </p:nvGraphicFramePr>
        <p:xfrm>
          <a:off x="647700" y="1695450"/>
          <a:ext cx="14001750" cy="5715000"/>
        </p:xfrm>
        <a:graphic>
          <a:graphicData uri="http://schemas.openxmlformats.org/drawingml/2006/table">
            <a:tbl>
              <a:tblPr/>
              <a:tblGrid>
                <a:gridCol w="2857500"/>
                <a:gridCol w="6810375"/>
                <a:gridCol w="4333875"/>
              </a:tblGrid>
              <a:tr h="952500">
                <a:tc>
                  <a:txBody>
                    <a:bodyPr/>
                    <a:lstStyle/>
                    <a:p>
                      <a:r>
                        <a:rPr sz="1875" b="1">
                          <a:solidFill>
                            <a:srgbClr val="25233E"/>
                          </a:solidFill>
                          <a:latin typeface="Arial"/>
                          <a:ea typeface="Arial"/>
                          <a:cs typeface="Arial"/>
                        </a:rPr>
                        <a:t>Transformation</a:t>
                      </a:r>
                    </a:p>
                  </a:txBody>
                  <a:tcPr marL="91440" marR="91440" marT="45720" marB="45720">
                    <a:lnL w="4763">
                      <a:solidFill>
                        <a:srgbClr val="DAD5E4"/>
                      </a:solidFill>
                    </a:lnL>
                    <a:lnR w="4763">
                      <a:solidFill>
                        <a:srgbClr val="DAD5E4"/>
                      </a:solidFill>
                    </a:lnR>
                    <a:lnT w="4763">
                      <a:solidFill>
                        <a:srgbClr val="DAD5E4"/>
                      </a:solidFill>
                    </a:lnT>
                    <a:lnB w="4763">
                      <a:solidFill>
                        <a:srgbClr val="DAD5E4"/>
                      </a:solidFill>
                    </a:lnB>
                    <a:solidFill>
                      <a:srgbClr val="E9E2F2"/>
                    </a:solidFill>
                  </a:tcPr>
                </a:tc>
                <a:tc>
                  <a:txBody>
                    <a:bodyPr/>
                    <a:lstStyle/>
                    <a:p>
                      <a:r>
                        <a:rPr sz="1875" b="1">
                          <a:solidFill>
                            <a:srgbClr val="25233E"/>
                          </a:solidFill>
                          <a:latin typeface="Arial"/>
                          <a:ea typeface="Arial"/>
                          <a:cs typeface="Arial"/>
                        </a:rPr>
                        <a:t>Implementation</a:t>
                      </a:r>
                    </a:p>
                  </a:txBody>
                  <a:tcPr marL="91440" marR="91440" marT="45720" marB="45720">
                    <a:lnR w="4763">
                      <a:solidFill>
                        <a:srgbClr val="DAD5E4"/>
                      </a:solidFill>
                    </a:lnR>
                    <a:lnT w="4763">
                      <a:solidFill>
                        <a:srgbClr val="DAD5E4"/>
                      </a:solidFill>
                    </a:lnT>
                    <a:lnB w="4763">
                      <a:solidFill>
                        <a:srgbClr val="DAD5E4"/>
                      </a:solidFill>
                    </a:lnB>
                    <a:solidFill>
                      <a:srgbClr val="E9E2F2"/>
                    </a:solidFill>
                  </a:tcPr>
                </a:tc>
                <a:tc>
                  <a:txBody>
                    <a:bodyPr/>
                    <a:lstStyle/>
                    <a:p>
                      <a:r>
                        <a:rPr sz="1875" b="1">
                          <a:solidFill>
                            <a:srgbClr val="25233E"/>
                          </a:solidFill>
                          <a:latin typeface="Arial"/>
                          <a:ea typeface="Arial"/>
                          <a:cs typeface="Arial"/>
                        </a:rPr>
                        <a:t>Why it is needed</a:t>
                      </a:r>
                    </a:p>
                  </a:txBody>
                  <a:tcPr marL="91440" marR="91440" marT="45720" marB="45720">
                    <a:lnR w="4763">
                      <a:solidFill>
                        <a:srgbClr val="DAD5E4"/>
                      </a:solidFill>
                    </a:lnR>
                    <a:lnT w="4763">
                      <a:solidFill>
                        <a:srgbClr val="DAD5E4"/>
                      </a:solidFill>
                    </a:lnT>
                    <a:lnB w="4763">
                      <a:solidFill>
                        <a:srgbClr val="DAD5E4"/>
                      </a:solidFill>
                    </a:lnB>
                    <a:solidFill>
                      <a:srgbClr val="E9E2F2"/>
                    </a:solidFill>
                  </a:tcPr>
                </a:tc>
              </a:tr>
              <a:tr h="952500">
                <a:tc>
                  <a:txBody>
                    <a:bodyPr/>
                    <a:lstStyle/>
                    <a:p>
                      <a:r>
                        <a:rPr sz="1875" b="0">
                          <a:solidFill>
                            <a:srgbClr val="25233E"/>
                          </a:solidFill>
                          <a:latin typeface="Arial"/>
                          <a:ea typeface="Arial"/>
                          <a:cs typeface="Arial"/>
                        </a:rPr>
                        <a:t>Distance engineering (B)</a:t>
                      </a:r>
                    </a:p>
                  </a:txBody>
                  <a:tcPr marL="91440" marR="91440" marT="45720" marB="45720">
                    <a:lnL w="4763">
                      <a:solidFill>
                        <a:srgbClr val="DAD5E4"/>
                      </a:solidFill>
                    </a:lnL>
                    <a:lnR w="4763">
                      <a:solidFill>
                        <a:srgbClr val="DAD5E4"/>
                      </a:solidFill>
                    </a:lnR>
                    <a:lnB w="4763">
                      <a:solidFill>
                        <a:srgbClr val="DAD5E4"/>
                      </a:solidFill>
                    </a:lnB>
                    <a:solidFill>
                      <a:srgbClr val="FCFAF6"/>
                    </a:solidFill>
                  </a:tcPr>
                </a:tc>
                <a:tc>
                  <a:txBody>
                    <a:bodyPr/>
                    <a:lstStyle/>
                    <a:p>
                      <a:r>
                        <a:rPr sz="1875" b="0">
                          <a:solidFill>
                            <a:srgbClr val="25233E"/>
                          </a:solidFill>
                          <a:latin typeface="Arial"/>
                          <a:ea typeface="Arial"/>
                          <a:cs typeface="Arial"/>
                        </a:rPr>
                        <a:t>Calculate Haversine straight-line distance from restaurant and customer coordinates. Mark impossible coordinates or distances above 100 km as missing.</a:t>
                      </a:r>
                    </a:p>
                  </a:txBody>
                  <a:tcPr marL="91440" marR="91440" marT="45720" marB="45720">
                    <a:lnR w="4763">
                      <a:solidFill>
                        <a:srgbClr val="DAD5E4"/>
                      </a:solidFill>
                    </a:lnR>
                    <a:lnB w="4763">
                      <a:solidFill>
                        <a:srgbClr val="DAD5E4"/>
                      </a:solidFill>
                    </a:lnB>
                    <a:solidFill>
                      <a:srgbClr val="FCFAF6"/>
                    </a:solidFill>
                  </a:tcPr>
                </a:tc>
                <a:tc>
                  <a:txBody>
                    <a:bodyPr/>
                    <a:lstStyle/>
                    <a:p>
                      <a:r>
                        <a:rPr sz="1875" b="0">
                          <a:solidFill>
                            <a:srgbClr val="25233E"/>
                          </a:solidFill>
                          <a:latin typeface="Arial"/>
                          <a:ea typeface="Arial"/>
                          <a:cs typeface="Arial"/>
                        </a:rPr>
                        <a:t>Turns four location columns into a travel-related input. It is not road distance.</a:t>
                      </a:r>
                    </a:p>
                  </a:txBody>
                  <a:tcPr marL="91440" marR="91440" marT="45720" marB="45720">
                    <a:lnR w="4763">
                      <a:solidFill>
                        <a:srgbClr val="DAD5E4"/>
                      </a:solidFill>
                    </a:lnR>
                    <a:lnB w="4763">
                      <a:solidFill>
                        <a:srgbClr val="DAD5E4"/>
                      </a:solidFill>
                    </a:lnB>
                    <a:solidFill>
                      <a:srgbClr val="FCFAF6"/>
                    </a:solidFill>
                  </a:tcPr>
                </a:tc>
              </a:tr>
              <a:tr h="952500">
                <a:tc>
                  <a:txBody>
                    <a:bodyPr/>
                    <a:lstStyle/>
                    <a:p>
                      <a:r>
                        <a:rPr sz="1875" b="0">
                          <a:solidFill>
                            <a:srgbClr val="25233E"/>
                          </a:solidFill>
                          <a:latin typeface="Arial"/>
                          <a:ea typeface="Arial"/>
                          <a:cs typeface="Arial"/>
                        </a:rPr>
                        <a:t>Numerical imputation</a:t>
                      </a:r>
                    </a:p>
                  </a:txBody>
                  <a:tcPr marL="91440" marR="91440" marT="45720" marB="45720">
                    <a:lnL w="4763">
                      <a:solidFill>
                        <a:srgbClr val="DAD5E4"/>
                      </a:solidFill>
                    </a:lnL>
                    <a:lnR w="4763">
                      <a:solidFill>
                        <a:srgbClr val="DAD5E4"/>
                      </a:solidFill>
                    </a:lnR>
                    <a:lnB w="4763">
                      <a:solidFill>
                        <a:srgbClr val="DAD5E4"/>
                      </a:solidFill>
                    </a:lnB>
                    <a:solidFill>
                      <a:srgbClr val="F3EFF7"/>
                    </a:solidFill>
                  </a:tcPr>
                </a:tc>
                <a:tc>
                  <a:txBody>
                    <a:bodyPr/>
                    <a:lstStyle/>
                    <a:p>
                      <a:r>
                        <a:rPr sz="1875" b="0">
                          <a:solidFill>
                            <a:srgbClr val="25233E"/>
                          </a:solidFill>
                          <a:latin typeface="Arial"/>
                          <a:ea typeface="Arial"/>
                          <a:cs typeface="Arial"/>
                        </a:rPr>
                        <a:t>Fill missing numbers with the median learned from that training fold. Add missing-value indicator columns.</a:t>
                      </a:r>
                    </a:p>
                  </a:txBody>
                  <a:tcPr marL="91440" marR="91440" marT="45720" marB="45720">
                    <a:lnR w="4763">
                      <a:solidFill>
                        <a:srgbClr val="DAD5E4"/>
                      </a:solidFill>
                    </a:lnR>
                    <a:lnB w="4763">
                      <a:solidFill>
                        <a:srgbClr val="DAD5E4"/>
                      </a:solidFill>
                    </a:lnB>
                    <a:solidFill>
                      <a:srgbClr val="F3EFF7"/>
                    </a:solidFill>
                  </a:tcPr>
                </a:tc>
                <a:tc>
                  <a:txBody>
                    <a:bodyPr/>
                    <a:lstStyle/>
                    <a:p>
                      <a:r>
                        <a:rPr sz="1875" b="0">
                          <a:solidFill>
                            <a:srgbClr val="25233E"/>
                          </a:solidFill>
                          <a:latin typeface="Arial"/>
                          <a:ea typeface="Arial"/>
                          <a:cs typeface="Arial"/>
                        </a:rPr>
                        <a:t>Keeps incomplete orders and records where information was absent.</a:t>
                      </a:r>
                    </a:p>
                  </a:txBody>
                  <a:tcPr marL="91440" marR="91440" marT="45720" marB="45720">
                    <a:lnR w="4763">
                      <a:solidFill>
                        <a:srgbClr val="DAD5E4"/>
                      </a:solidFill>
                    </a:lnR>
                    <a:lnB w="4763">
                      <a:solidFill>
                        <a:srgbClr val="DAD5E4"/>
                      </a:solidFill>
                    </a:lnB>
                    <a:solidFill>
                      <a:srgbClr val="F3EFF7"/>
                    </a:solidFill>
                  </a:tcPr>
                </a:tc>
              </a:tr>
              <a:tr h="952500">
                <a:tc>
                  <a:txBody>
                    <a:bodyPr/>
                    <a:lstStyle/>
                    <a:p>
                      <a:r>
                        <a:rPr sz="1875" b="0">
                          <a:solidFill>
                            <a:srgbClr val="25233E"/>
                          </a:solidFill>
                          <a:latin typeface="Arial"/>
                          <a:ea typeface="Arial"/>
                          <a:cs typeface="Arial"/>
                        </a:rPr>
                        <a:t>Category encoding</a:t>
                      </a:r>
                    </a:p>
                  </a:txBody>
                  <a:tcPr marL="91440" marR="91440" marT="45720" marB="45720">
                    <a:lnL w="4763">
                      <a:solidFill>
                        <a:srgbClr val="DAD5E4"/>
                      </a:solidFill>
                    </a:lnL>
                    <a:lnR w="4763">
                      <a:solidFill>
                        <a:srgbClr val="DAD5E4"/>
                      </a:solidFill>
                    </a:lnR>
                    <a:lnB w="4763">
                      <a:solidFill>
                        <a:srgbClr val="DAD5E4"/>
                      </a:solidFill>
                    </a:lnB>
                    <a:solidFill>
                      <a:srgbClr val="FCFAF6"/>
                    </a:solidFill>
                  </a:tcPr>
                </a:tc>
                <a:tc>
                  <a:txBody>
                    <a:bodyPr/>
                    <a:lstStyle/>
                    <a:p>
                      <a:r>
                        <a:rPr sz="1875" b="0">
                          <a:solidFill>
                            <a:srgbClr val="25233E"/>
                          </a:solidFill>
                          <a:latin typeface="Arial"/>
                          <a:ea typeface="Arial"/>
                          <a:cs typeface="Arial"/>
                        </a:rPr>
                        <a:t>Replace missing categories with Unknown. Use one-hot encoding for weather, vehicle, cuisine and other text categories.</a:t>
                      </a:r>
                    </a:p>
                  </a:txBody>
                  <a:tcPr marL="91440" marR="91440" marT="45720" marB="45720">
                    <a:lnR w="4763">
                      <a:solidFill>
                        <a:srgbClr val="DAD5E4"/>
                      </a:solidFill>
                    </a:lnR>
                    <a:lnB w="4763">
                      <a:solidFill>
                        <a:srgbClr val="DAD5E4"/>
                      </a:solidFill>
                    </a:lnB>
                    <a:solidFill>
                      <a:srgbClr val="FCFAF6"/>
                    </a:solidFill>
                  </a:tcPr>
                </a:tc>
                <a:tc>
                  <a:txBody>
                    <a:bodyPr/>
                    <a:lstStyle/>
                    <a:p>
                      <a:r>
                        <a:rPr sz="1875" b="0">
                          <a:solidFill>
                            <a:srgbClr val="25233E"/>
                          </a:solidFill>
                          <a:latin typeface="Arial"/>
                          <a:ea typeface="Arial"/>
                          <a:cs typeface="Arial"/>
                        </a:rPr>
                        <a:t>Allows algorithms to use categories without imposing a false numeric order.</a:t>
                      </a:r>
                    </a:p>
                  </a:txBody>
                  <a:tcPr marL="91440" marR="91440" marT="45720" marB="45720">
                    <a:lnR w="4763">
                      <a:solidFill>
                        <a:srgbClr val="DAD5E4"/>
                      </a:solidFill>
                    </a:lnR>
                    <a:lnB w="4763">
                      <a:solidFill>
                        <a:srgbClr val="DAD5E4"/>
                      </a:solidFill>
                    </a:lnB>
                    <a:solidFill>
                      <a:srgbClr val="FCFAF6"/>
                    </a:solidFill>
                  </a:tcPr>
                </a:tc>
              </a:tr>
              <a:tr h="952500">
                <a:tc>
                  <a:txBody>
                    <a:bodyPr/>
                    <a:lstStyle/>
                    <a:p>
                      <a:r>
                        <a:rPr sz="1875" b="0">
                          <a:solidFill>
                            <a:srgbClr val="25233E"/>
                          </a:solidFill>
                          <a:latin typeface="Arial"/>
                          <a:ea typeface="Arial"/>
                          <a:cs typeface="Arial"/>
                        </a:rPr>
                        <a:t>Numerical scaling</a:t>
                      </a:r>
                    </a:p>
                  </a:txBody>
                  <a:tcPr marL="91440" marR="91440" marT="45720" marB="45720">
                    <a:lnL w="4763">
                      <a:solidFill>
                        <a:srgbClr val="DAD5E4"/>
                      </a:solidFill>
                    </a:lnL>
                    <a:lnR w="4763">
                      <a:solidFill>
                        <a:srgbClr val="DAD5E4"/>
                      </a:solidFill>
                    </a:lnR>
                    <a:lnB w="4763">
                      <a:solidFill>
                        <a:srgbClr val="DAD5E4"/>
                      </a:solidFill>
                    </a:lnB>
                    <a:solidFill>
                      <a:srgbClr val="F3EFF7"/>
                    </a:solidFill>
                  </a:tcPr>
                </a:tc>
                <a:tc>
                  <a:txBody>
                    <a:bodyPr/>
                    <a:lstStyle/>
                    <a:p>
                      <a:r>
                        <a:rPr sz="1875" b="0">
                          <a:solidFill>
                            <a:srgbClr val="25233E"/>
                          </a:solidFill>
                          <a:latin typeface="Arial"/>
                          <a:ea typeface="Arial"/>
                          <a:cs typeface="Arial"/>
                        </a:rPr>
                        <a:t>Standardize numeric inputs using only the training fold’s mean and standard deviation.</a:t>
                      </a:r>
                    </a:p>
                  </a:txBody>
                  <a:tcPr marL="91440" marR="91440" marT="45720" marB="45720">
                    <a:lnR w="4763">
                      <a:solidFill>
                        <a:srgbClr val="DAD5E4"/>
                      </a:solidFill>
                    </a:lnR>
                    <a:lnB w="4763">
                      <a:solidFill>
                        <a:srgbClr val="DAD5E4"/>
                      </a:solidFill>
                    </a:lnB>
                    <a:solidFill>
                      <a:srgbClr val="F3EFF7"/>
                    </a:solidFill>
                  </a:tcPr>
                </a:tc>
                <a:tc>
                  <a:txBody>
                    <a:bodyPr/>
                    <a:lstStyle/>
                    <a:p>
                      <a:r>
                        <a:rPr sz="1875" b="0">
                          <a:solidFill>
                            <a:srgbClr val="25233E"/>
                          </a:solidFill>
                          <a:latin typeface="Arial"/>
                          <a:ea typeface="Arial"/>
                          <a:cs typeface="Arial"/>
                        </a:rPr>
                        <a:t>Makes units comparable, especially for the regularized Ridge model.</a:t>
                      </a:r>
                    </a:p>
                  </a:txBody>
                  <a:tcPr marL="91440" marR="91440" marT="45720" marB="45720">
                    <a:lnR w="4763">
                      <a:solidFill>
                        <a:srgbClr val="DAD5E4"/>
                      </a:solidFill>
                    </a:lnR>
                    <a:lnB w="4763">
                      <a:solidFill>
                        <a:srgbClr val="DAD5E4"/>
                      </a:solidFill>
                    </a:lnB>
                    <a:solidFill>
                      <a:srgbClr val="F3EFF7"/>
                    </a:solidFill>
                  </a:tcPr>
                </a:tc>
              </a:tr>
              <a:tr h="952500">
                <a:tc>
                  <a:txBody>
                    <a:bodyPr/>
                    <a:lstStyle/>
                    <a:p>
                      <a:r>
                        <a:rPr sz="1875" b="0">
                          <a:solidFill>
                            <a:srgbClr val="25233E"/>
                          </a:solidFill>
                          <a:latin typeface="Arial"/>
                          <a:ea typeface="Arial"/>
                          <a:cs typeface="Arial"/>
                        </a:rPr>
                        <a:t>Reusable pipeline</a:t>
                      </a:r>
                    </a:p>
                  </a:txBody>
                  <a:tcPr marL="91440" marR="91440" marT="45720" marB="45720">
                    <a:lnL w="4763">
                      <a:solidFill>
                        <a:srgbClr val="DAD5E4"/>
                      </a:solidFill>
                    </a:lnL>
                    <a:lnR w="4763">
                      <a:solidFill>
                        <a:srgbClr val="DAD5E4"/>
                      </a:solidFill>
                    </a:lnR>
                    <a:lnB w="4763">
                      <a:solidFill>
                        <a:srgbClr val="DAD5E4"/>
                      </a:solidFill>
                    </a:lnB>
                    <a:solidFill>
                      <a:srgbClr val="FCFAF6"/>
                    </a:solidFill>
                  </a:tcPr>
                </a:tc>
                <a:tc>
                  <a:txBody>
                    <a:bodyPr/>
                    <a:lstStyle/>
                    <a:p>
                      <a:r>
                        <a:rPr sz="1875" b="0">
                          <a:solidFill>
                            <a:srgbClr val="25233E"/>
                          </a:solidFill>
                          <a:latin typeface="Arial"/>
                          <a:ea typeface="Arial"/>
                          <a:cs typeface="Arial"/>
                        </a:rPr>
                        <a:t>Bundle fitted preprocessing with the chosen estimator. Apply the same transformations during prediction.</a:t>
                      </a:r>
                    </a:p>
                  </a:txBody>
                  <a:tcPr marL="91440" marR="91440" marT="45720" marB="45720">
                    <a:lnR w="4763">
                      <a:solidFill>
                        <a:srgbClr val="DAD5E4"/>
                      </a:solidFill>
                    </a:lnR>
                    <a:lnB w="4763">
                      <a:solidFill>
                        <a:srgbClr val="DAD5E4"/>
                      </a:solidFill>
                    </a:lnB>
                    <a:solidFill>
                      <a:srgbClr val="FCFAF6"/>
                    </a:solidFill>
                  </a:tcPr>
                </a:tc>
                <a:tc>
                  <a:txBody>
                    <a:bodyPr/>
                    <a:lstStyle/>
                    <a:p>
                      <a:r>
                        <a:rPr sz="1875" b="0">
                          <a:solidFill>
                            <a:srgbClr val="25233E"/>
                          </a:solidFill>
                          <a:latin typeface="Arial"/>
                          <a:ea typeface="Arial"/>
                          <a:cs typeface="Arial"/>
                        </a:rPr>
                        <a:t>Prevents training/inference mismatches and test-data contamination.</a:t>
                      </a:r>
                    </a:p>
                  </a:txBody>
                  <a:tcPr marL="91440" marR="91440" marT="45720" marB="45720">
                    <a:lnR w="4763">
                      <a:solidFill>
                        <a:srgbClr val="DAD5E4"/>
                      </a:solidFill>
                    </a:lnR>
                    <a:lnB w="4763">
                      <a:solidFill>
                        <a:srgbClr val="DAD5E4"/>
                      </a:solidFill>
                    </a:lnB>
                    <a:solidFill>
                      <a:srgbClr val="FCFAF6"/>
                    </a:solidFill>
                  </a:tcPr>
                </a:tc>
              </a:tr>
            </a:tbl>
          </a:graphicData>
        </a:graphic>
      </p:graphicFrame>
      <p:sp>
        <p:nvSpPr>
          <p:cNvPr id="6" name="">
            <a:extLst>
              <a:ext uri="{FF2B5EF4-FFF2-40B4-BE49-F238E27FC236}">
                <ns2:creationId id="{C8AE2180-18F1-4CC8-B40B-66F324D33EB8}"/>
              </a:ext>
            </a:extLst>
          </p:cNvPr>
          <p:cNvSpPr>
            <a:spLocks noGrp="1"/>
          </p:cNvSpPr>
          <p:nvPr/>
        </p:nvSpPr>
        <p:spPr>
          <a:xfrm>
            <a:off x="647700" y="7534275"/>
            <a:ext cx="13811250" cy="600075"/>
          </a:xfrm>
          <a:prstGeom prst="rect">
            <a:avLst/>
          </a:prstGeom>
          <a:noFill/>
          <a:ln w="0">
            <a:noFill/>
          </a:ln>
        </p:spPr>
        <p:txBody>
          <a:bodyPr/>
          <a:lstStyle>
            <a:defPPr>
              <a:defRPr sz="1875" b="0">
                <a:solidFill>
                  <a:srgbClr val="007F82"/>
                </a:solidFill>
                <a:latin typeface="Arial"/>
                <a:ea typeface="Arial"/>
                <a:cs typeface="Arial"/>
              </a:defRPr>
            </a:defPPr>
          </a:lstStyle>
          <a:p>
            <a:pPr>
              <a:defRPr sz="1875" b="0">
                <a:solidFill>
                  <a:srgbClr val="007F82"/>
                </a:solidFill>
                <a:latin typeface="Arial"/>
                <a:ea typeface="Arial"/>
                <a:cs typeface="Arial"/>
              </a:defRPr>
            </a:pPr>
            <a:r>
              <a:rPr sz="1875" b="0">
                <a:solidFill>
                  <a:srgbClr val="007F82"/>
                </a:solidFill>
                <a:latin typeface="Arial"/>
                <a:ea typeface="Arial"/>
                <a:cs typeface="Arial"/>
              </a:rPr>
              <a:t>Example: “Weather = Clear” becomes a numeric category indicator. Missing experience uses the training median. Original predictor counts: A = 6, B = 4 and C = 3.</a:t>
            </a:r>
          </a:p>
        </p:txBody>
      </p:sp>
    </p:spTree>
    <p:extLst>
      <p:ext uri="{BB962C8B-B14F-4D97-AF65-F5344CB8AC3E}">
        <ns3:creationId val="938591893"/>
      </p:ext>
    </p:extLst>
  </p:cSld>
  <p:transition spd="med"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400"/>
                                        <p:tgtEl>
                                          <p:spTgt spid="5"/>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CFAF6"/>
        </a:solidFill>
      </p:bgPr>
    </p:bg>
    <p:spTree>
      <p:nvGrpSpPr>
        <p:cNvPr id="1" name=""/>
        <p:cNvGrpSpPr/>
        <p:nvPr/>
      </p:nvGrpSpPr>
      <p:grpSpPr>
        <a:xfrm/>
      </p:grpSpPr>
      <p:sp>
        <p:nvSpPr>
          <p:cNvPr id="11" name="">
            <a:extLst>
              <a:ext uri="{FF2B5EF4-FFF2-40B4-BE49-F238E27FC236}">
                <ns2:creationId id="{017228EB-A977-4BDF-BE8F-F081CED25A47}"/>
              </a:ext>
            </a:extLst>
          </p:cNvPr>
          <p:cNvSpPr>
            <a:spLocks noGrp="1"/>
          </p:cNvSpPr>
          <p:nvPr/>
        </p:nvSpPr>
        <p:spPr>
          <a:xfrm>
            <a:off x="609600" y="266700"/>
            <a:ext cx="13525500" cy="285750"/>
          </a:xfrm>
          <a:prstGeom prst="rect">
            <a:avLst/>
          </a:prstGeom>
          <a:noFill/>
          <a:ln w="0">
            <a:noFill/>
          </a:ln>
        </p:spPr>
        <p:txBody>
          <a:bodyPr/>
          <a:lstStyle>
            <a:defPPr>
              <a:defRPr sz="1425" b="1">
                <a:solidFill>
                  <a:srgbClr val="6246A4"/>
                </a:solidFill>
                <a:latin typeface="Arial"/>
                <a:ea typeface="Arial"/>
                <a:cs typeface="Arial"/>
              </a:defRPr>
            </a:defPPr>
          </a:lstStyle>
          <a:p>
            <a:pPr>
              <a:defRPr sz="1425" b="1">
                <a:solidFill>
                  <a:srgbClr val="6246A4"/>
                </a:solidFill>
                <a:latin typeface="Arial"/>
                <a:ea typeface="Arial"/>
                <a:cs typeface="Arial"/>
              </a:defRPr>
            </a:pPr>
            <a:r>
              <a:rPr sz="1425" b="1">
                <a:solidFill>
                  <a:srgbClr val="6246A4"/>
                </a:solidFill>
                <a:latin typeface="Arial"/>
                <a:ea typeface="Arial"/>
                <a:cs typeface="Arial"/>
              </a:rPr>
              <a:t>EXPERIMENTAL DESIGN / AVOIDING OVERLY OPTIMISTIC EVALUATION</a:t>
            </a:r>
          </a:p>
        </p:txBody>
      </p:sp>
      <p:sp>
        <p:nvSpPr>
          <p:cNvPr id="2" name="">
            <a:extLst>
              <a:ext uri="{FF2B5EF4-FFF2-40B4-BE49-F238E27FC236}">
                <ns2:creationId id="{C433479F-BD71-47FB-954E-8962032D4AE4}"/>
              </a:ext>
            </a:extLst>
          </p:cNvPr>
          <p:cNvSpPr>
            <a:spLocks noGrp="1"/>
          </p:cNvSpPr>
          <p:nvPr/>
        </p:nvSpPr>
        <p:spPr>
          <a:xfrm>
            <a:off x="609600" y="704850"/>
            <a:ext cx="14020800" cy="895350"/>
          </a:xfrm>
          <a:prstGeom prst="rect">
            <a:avLst/>
          </a:prstGeom>
          <a:noFill/>
          <a:ln w="0">
            <a:noFill/>
          </a:ln>
        </p:spPr>
        <p:txBody>
          <a:bodyPr/>
          <a:lstStyle>
            <a:defPPr>
              <a:defRPr sz="3600" b="1">
                <a:solidFill>
                  <a:srgbClr val="25233E"/>
                </a:solidFill>
                <a:latin typeface="Arial"/>
                <a:ea typeface="Arial"/>
                <a:cs typeface="Arial"/>
              </a:defRPr>
            </a:defPPr>
          </a:lstStyle>
          <a:p>
            <a:pPr>
              <a:defRPr sz="3600" b="1">
                <a:solidFill>
                  <a:srgbClr val="25233E"/>
                </a:solidFill>
                <a:latin typeface="Arial"/>
                <a:ea typeface="Arial"/>
                <a:cs typeface="Arial"/>
              </a:defRPr>
            </a:pPr>
            <a:r>
              <a:rPr sz="3600" b="1">
                <a:solidFill>
                  <a:srgbClr val="25233E"/>
                </a:solidFill>
                <a:latin typeface="Arial"/>
                <a:ea typeface="Arial"/>
                <a:cs typeface="Arial"/>
              </a:rPr>
              <a:t>Training, validation and final testing</a:t>
            </a:r>
          </a:p>
        </p:txBody>
      </p:sp>
      <p:sp>
        <p:nvSpPr>
          <p:cNvPr id="3" name="">
            <a:extLst>
              <a:ext uri="{FF2B5EF4-FFF2-40B4-BE49-F238E27FC236}">
                <ns2:creationId id="{C67A0D48-AAF7-4750-9254-1B84F1F19329}"/>
              </a:ext>
            </a:extLst>
          </p:cNvPr>
          <p:cNvSpPr>
            <a:spLocks noGrp="1"/>
          </p:cNvSpPr>
          <p:nvPr/>
        </p:nvSpPr>
        <p:spPr>
          <a:xfrm>
            <a:off x="609600" y="8220075"/>
            <a:ext cx="12858750" cy="219075"/>
          </a:xfrm>
          <a:prstGeom prst="rect">
            <a:avLst/>
          </a:prstGeom>
          <a:noFill/>
          <a:ln w="0">
            <a:noFill/>
          </a:ln>
        </p:spPr>
        <p:txBody>
          <a:bodyPr/>
          <a:lstStyle>
            <a:defPPr>
              <a:defRPr sz="1125" b="0">
                <a:solidFill>
                  <a:srgbClr val="5C5C70"/>
                </a:solidFill>
                <a:latin typeface="Arial"/>
                <a:ea typeface="Arial"/>
                <a:cs typeface="Arial"/>
              </a:defRPr>
            </a:defPPr>
          </a:lstStyle>
          <a:p>
            <a:pPr>
              <a:defRPr sz="1125" b="0">
                <a:solidFill>
                  <a:srgbClr val="5C5C70"/>
                </a:solidFill>
                <a:latin typeface="Arial"/>
                <a:ea typeface="Arial"/>
                <a:cs typeface="Arial"/>
              </a:defRPr>
            </a:pPr>
            <a:r>
              <a:rPr sz="1125" b="0">
                <a:solidFill>
                  <a:srgbClr val="5C5C70"/>
                </a:solidFill>
                <a:latin typeface="Arial"/>
                <a:ea typeface="Arial"/>
                <a:cs typeface="Arial"/>
              </a:rPr>
              <a:t>AADITI GAIKWAD   /   PREDICTIVE ANALYTICS</a:t>
            </a:r>
          </a:p>
        </p:txBody>
      </p:sp>
      <p:sp>
        <p:nvSpPr>
          <p:cNvPr id="4" name="">
            <a:extLst>
              <a:ext uri="{FF2B5EF4-FFF2-40B4-BE49-F238E27FC236}">
                <ns2:creationId id="{B811BB5D-FA07-4B2B-95AB-A67540D9BDC5}"/>
              </a:ext>
            </a:extLst>
          </p:cNvPr>
          <p:cNvSpPr>
            <a:spLocks noGrp="1"/>
          </p:cNvSpPr>
          <p:nvPr/>
        </p:nvSpPr>
        <p:spPr>
          <a:xfrm>
            <a:off x="14144625" y="8172450"/>
            <a:ext cx="571500" cy="276225"/>
          </a:xfrm>
          <a:prstGeom prst="rect">
            <a:avLst/>
          </a:prstGeom>
          <a:noFill/>
          <a:ln w="0">
            <a:noFill/>
          </a:ln>
        </p:spPr>
        <p:txBody>
          <a:bodyPr/>
          <a:lstStyle>
            <a:defPPr>
              <a:defRPr sz="1500" b="1">
                <a:solidFill>
                  <a:srgbClr val="6246A4"/>
                </a:solidFill>
                <a:latin typeface="Arial"/>
                <a:ea typeface="Arial"/>
                <a:cs typeface="Arial"/>
              </a:defRPr>
            </a:defPPr>
          </a:lstStyle>
          <a:p>
            <a:pPr>
              <a:defRPr sz="1500" b="1">
                <a:solidFill>
                  <a:srgbClr val="6246A4"/>
                </a:solidFill>
                <a:latin typeface="Arial"/>
                <a:ea typeface="Arial"/>
                <a:cs typeface="Arial"/>
              </a:defRPr>
            </a:pPr>
            <a:r>
              <a:rPr sz="1500" b="1">
                <a:solidFill>
                  <a:srgbClr val="6246A4"/>
                </a:solidFill>
                <a:latin typeface="Arial"/>
                <a:ea typeface="Arial"/>
                <a:cs typeface="Arial"/>
              </a:rPr>
              <a:t>06</a:t>
            </a:r>
          </a:p>
        </p:txBody>
      </p:sp>
      <p:graphicFrame>
        <p:nvGraphicFramePr>
          <p:cNvPr id="5" name="">
            <a:extLst>
              <a:ext uri="{FF2B5EF4-FFF2-40B4-BE49-F238E27FC236}">
                <ns2:creationId id="{F6CA261D-E963-4E66-85D3-9A3A99915ABA}"/>
              </a:ext>
            </a:extLst>
          </p:cNvPr>
          <p:cNvGraphicFramePr/>
          <p:nvPr/>
        </p:nvGraphicFramePr>
        <p:xfrm>
          <a:off x="647700" y="1695450"/>
          <a:ext cx="14001750" cy="3200400"/>
        </p:xfrm>
        <a:graphic>
          <a:graphicData uri="http://schemas.openxmlformats.org/drawingml/2006/table">
            <a:tbl>
              <a:tblPr/>
              <a:tblGrid>
                <a:gridCol w="1190625"/>
                <a:gridCol w="4619625"/>
                <a:gridCol w="4381500"/>
                <a:gridCol w="3810000"/>
              </a:tblGrid>
              <a:tr h="800100">
                <a:tc>
                  <a:txBody>
                    <a:bodyPr/>
                    <a:lstStyle/>
                    <a:p>
                      <a:r>
                        <a:rPr sz="1950" b="1">
                          <a:solidFill>
                            <a:srgbClr val="25233E"/>
                          </a:solidFill>
                          <a:latin typeface="Arial"/>
                          <a:ea typeface="Arial"/>
                          <a:cs typeface="Arial"/>
                        </a:rPr>
                        <a:t>Dataset</a:t>
                      </a:r>
                    </a:p>
                  </a:txBody>
                  <a:tcPr marL="91440" marR="91440" marT="45720" marB="45720">
                    <a:lnL w="4763">
                      <a:solidFill>
                        <a:srgbClr val="DAD5E4"/>
                      </a:solidFill>
                    </a:lnL>
                    <a:lnR w="4763">
                      <a:solidFill>
                        <a:srgbClr val="DAD5E4"/>
                      </a:solidFill>
                    </a:lnR>
                    <a:lnT w="4763">
                      <a:solidFill>
                        <a:srgbClr val="DAD5E4"/>
                      </a:solidFill>
                    </a:lnT>
                    <a:lnB w="4763">
                      <a:solidFill>
                        <a:srgbClr val="DAD5E4"/>
                      </a:solidFill>
                    </a:lnB>
                    <a:solidFill>
                      <a:srgbClr val="E9E2F2"/>
                    </a:solidFill>
                  </a:tcPr>
                </a:tc>
                <a:tc>
                  <a:txBody>
                    <a:bodyPr/>
                    <a:lstStyle/>
                    <a:p>
                      <a:r>
                        <a:rPr sz="1950" b="1">
                          <a:solidFill>
                            <a:srgbClr val="25233E"/>
                          </a:solidFill>
                          <a:latin typeface="Arial"/>
                          <a:ea typeface="Arial"/>
                          <a:cs typeface="Arial"/>
                        </a:rPr>
                        <a:t>Development data</a:t>
                      </a:r>
                    </a:p>
                  </a:txBody>
                  <a:tcPr marL="91440" marR="91440" marT="45720" marB="45720">
                    <a:lnR w="4763">
                      <a:solidFill>
                        <a:srgbClr val="DAD5E4"/>
                      </a:solidFill>
                    </a:lnR>
                    <a:lnT w="4763">
                      <a:solidFill>
                        <a:srgbClr val="DAD5E4"/>
                      </a:solidFill>
                    </a:lnT>
                    <a:lnB w="4763">
                      <a:solidFill>
                        <a:srgbClr val="DAD5E4"/>
                      </a:solidFill>
                    </a:lnB>
                    <a:solidFill>
                      <a:srgbClr val="E9E2F2"/>
                    </a:solidFill>
                  </a:tcPr>
                </a:tc>
                <a:tc>
                  <a:txBody>
                    <a:bodyPr/>
                    <a:lstStyle/>
                    <a:p>
                      <a:r>
                        <a:rPr sz="1950" b="1">
                          <a:solidFill>
                            <a:srgbClr val="25233E"/>
                          </a:solidFill>
                          <a:latin typeface="Arial"/>
                          <a:ea typeface="Arial"/>
                          <a:cs typeface="Arial"/>
                        </a:rPr>
                        <a:t>Reserved test data</a:t>
                      </a:r>
                    </a:p>
                  </a:txBody>
                  <a:tcPr marL="91440" marR="91440" marT="45720" marB="45720">
                    <a:lnR w="4763">
                      <a:solidFill>
                        <a:srgbClr val="DAD5E4"/>
                      </a:solidFill>
                    </a:lnR>
                    <a:lnT w="4763">
                      <a:solidFill>
                        <a:srgbClr val="DAD5E4"/>
                      </a:solidFill>
                    </a:lnT>
                    <a:lnB w="4763">
                      <a:solidFill>
                        <a:srgbClr val="DAD5E4"/>
                      </a:solidFill>
                    </a:lnB>
                    <a:solidFill>
                      <a:srgbClr val="E9E2F2"/>
                    </a:solidFill>
                  </a:tcPr>
                </a:tc>
                <a:tc>
                  <a:txBody>
                    <a:bodyPr/>
                    <a:lstStyle/>
                    <a:p>
                      <a:r>
                        <a:rPr sz="1950" b="1">
                          <a:solidFill>
                            <a:srgbClr val="25233E"/>
                          </a:solidFill>
                          <a:latin typeface="Arial"/>
                          <a:ea typeface="Arial"/>
                          <a:cs typeface="Arial"/>
                        </a:rPr>
                        <a:t>What the test checks</a:t>
                      </a:r>
                    </a:p>
                  </a:txBody>
                  <a:tcPr marL="91440" marR="91440" marT="45720" marB="45720">
                    <a:lnR w="4763">
                      <a:solidFill>
                        <a:srgbClr val="DAD5E4"/>
                      </a:solidFill>
                    </a:lnR>
                    <a:lnT w="4763">
                      <a:solidFill>
                        <a:srgbClr val="DAD5E4"/>
                      </a:solidFill>
                    </a:lnT>
                    <a:lnB w="4763">
                      <a:solidFill>
                        <a:srgbClr val="DAD5E4"/>
                      </a:solidFill>
                    </a:lnB>
                    <a:solidFill>
                      <a:srgbClr val="E9E2F2"/>
                    </a:solidFill>
                  </a:tcPr>
                </a:tc>
              </a:tr>
              <a:tr h="800100">
                <a:tc>
                  <a:txBody>
                    <a:bodyPr/>
                    <a:lstStyle/>
                    <a:p>
                      <a:r>
                        <a:rPr sz="1950" b="0">
                          <a:solidFill>
                            <a:srgbClr val="25233E"/>
                          </a:solidFill>
                          <a:latin typeface="Arial"/>
                          <a:ea typeface="Arial"/>
                          <a:cs typeface="Arial"/>
                        </a:rPr>
                        <a:t>A</a:t>
                      </a:r>
                    </a:p>
                  </a:txBody>
                  <a:tcPr marL="91440" marR="91440" marT="45720" marB="45720">
                    <a:lnL w="4763">
                      <a:solidFill>
                        <a:srgbClr val="DAD5E4"/>
                      </a:solidFill>
                    </a:lnL>
                    <a:lnR w="4763">
                      <a:solidFill>
                        <a:srgbClr val="DAD5E4"/>
                      </a:solidFill>
                    </a:lnR>
                    <a:lnB w="4763">
                      <a:solidFill>
                        <a:srgbClr val="DAD5E4"/>
                      </a:solidFill>
                    </a:lnB>
                    <a:solidFill>
                      <a:srgbClr val="FCFAF6"/>
                    </a:solidFill>
                  </a:tcPr>
                </a:tc>
                <a:tc>
                  <a:txBody>
                    <a:bodyPr/>
                    <a:lstStyle/>
                    <a:p>
                      <a:r>
                        <a:rPr sz="1950" b="0">
                          <a:solidFill>
                            <a:srgbClr val="25233E"/>
                          </a:solidFill>
                          <a:latin typeface="Arial"/>
                          <a:ea typeface="Arial"/>
                          <a:cs typeface="Arial"/>
                        </a:rPr>
                        <a:t>800 orders</a:t>
                      </a:r>
                    </a:p>
                  </a:txBody>
                  <a:tcPr marL="91440" marR="91440" marT="45720" marB="45720">
                    <a:lnR w="4763">
                      <a:solidFill>
                        <a:srgbClr val="DAD5E4"/>
                      </a:solidFill>
                    </a:lnR>
                    <a:lnB w="4763">
                      <a:solidFill>
                        <a:srgbClr val="DAD5E4"/>
                      </a:solidFill>
                    </a:lnB>
                    <a:solidFill>
                      <a:srgbClr val="FCFAF6"/>
                    </a:solidFill>
                  </a:tcPr>
                </a:tc>
                <a:tc>
                  <a:txBody>
                    <a:bodyPr/>
                    <a:lstStyle/>
                    <a:p>
                      <a:r>
                        <a:rPr sz="1950" b="0">
                          <a:solidFill>
                            <a:srgbClr val="25233E"/>
                          </a:solidFill>
                          <a:latin typeface="Arial"/>
                          <a:ea typeface="Arial"/>
                          <a:cs typeface="Arial"/>
                        </a:rPr>
                        <a:t>200 orders</a:t>
                      </a:r>
                    </a:p>
                  </a:txBody>
                  <a:tcPr marL="91440" marR="91440" marT="45720" marB="45720">
                    <a:lnR w="4763">
                      <a:solidFill>
                        <a:srgbClr val="DAD5E4"/>
                      </a:solidFill>
                    </a:lnR>
                    <a:lnB w="4763">
                      <a:solidFill>
                        <a:srgbClr val="DAD5E4"/>
                      </a:solidFill>
                    </a:lnB>
                    <a:solidFill>
                      <a:srgbClr val="FCFAF6"/>
                    </a:solidFill>
                  </a:tcPr>
                </a:tc>
                <a:tc>
                  <a:txBody>
                    <a:bodyPr/>
                    <a:lstStyle/>
                    <a:p>
                      <a:r>
                        <a:rPr sz="1950" b="0">
                          <a:solidFill>
                            <a:srgbClr val="25233E"/>
                          </a:solidFill>
                          <a:latin typeface="Arial"/>
                          <a:ea typeface="Arial"/>
                          <a:cs typeface="Arial"/>
                        </a:rPr>
                        <a:t>New randomly held-out orders</a:t>
                      </a:r>
                    </a:p>
                  </a:txBody>
                  <a:tcPr marL="91440" marR="91440" marT="45720" marB="45720">
                    <a:lnR w="4763">
                      <a:solidFill>
                        <a:srgbClr val="DAD5E4"/>
                      </a:solidFill>
                    </a:lnR>
                    <a:lnB w="4763">
                      <a:solidFill>
                        <a:srgbClr val="DAD5E4"/>
                      </a:solidFill>
                    </a:lnB>
                    <a:solidFill>
                      <a:srgbClr val="FCFAF6"/>
                    </a:solidFill>
                  </a:tcPr>
                </a:tc>
              </a:tr>
              <a:tr h="800100">
                <a:tc>
                  <a:txBody>
                    <a:bodyPr/>
                    <a:lstStyle/>
                    <a:p>
                      <a:r>
                        <a:rPr sz="1950" b="0">
                          <a:solidFill>
                            <a:srgbClr val="25233E"/>
                          </a:solidFill>
                          <a:latin typeface="Arial"/>
                          <a:ea typeface="Arial"/>
                          <a:cs typeface="Arial"/>
                        </a:rPr>
                        <a:t>B</a:t>
                      </a:r>
                    </a:p>
                  </a:txBody>
                  <a:tcPr marL="91440" marR="91440" marT="45720" marB="45720">
                    <a:lnL w="4763">
                      <a:solidFill>
                        <a:srgbClr val="DAD5E4"/>
                      </a:solidFill>
                    </a:lnL>
                    <a:lnR w="4763">
                      <a:solidFill>
                        <a:srgbClr val="DAD5E4"/>
                      </a:solidFill>
                    </a:lnR>
                    <a:lnB w="4763">
                      <a:solidFill>
                        <a:srgbClr val="DAD5E4"/>
                      </a:solidFill>
                    </a:lnB>
                    <a:solidFill>
                      <a:srgbClr val="F3EFF7"/>
                    </a:solidFill>
                  </a:tcPr>
                </a:tc>
                <a:tc>
                  <a:txBody>
                    <a:bodyPr/>
                    <a:lstStyle/>
                    <a:p>
                      <a:r>
                        <a:rPr sz="1950" b="0">
                          <a:solidFill>
                            <a:srgbClr val="25233E"/>
                          </a:solidFill>
                          <a:latin typeface="Arial"/>
                          <a:ea typeface="Arial"/>
                          <a:cs typeface="Arial"/>
                        </a:rPr>
                        <a:t>36,397 orders from 1,056 couriers</a:t>
                      </a:r>
                    </a:p>
                  </a:txBody>
                  <a:tcPr marL="91440" marR="91440" marT="45720" marB="45720">
                    <a:lnR w="4763">
                      <a:solidFill>
                        <a:srgbClr val="DAD5E4"/>
                      </a:solidFill>
                    </a:lnR>
                    <a:lnB w="4763">
                      <a:solidFill>
                        <a:srgbClr val="DAD5E4"/>
                      </a:solidFill>
                    </a:lnB>
                    <a:solidFill>
                      <a:srgbClr val="F3EFF7"/>
                    </a:solidFill>
                  </a:tcPr>
                </a:tc>
                <a:tc>
                  <a:txBody>
                    <a:bodyPr/>
                    <a:lstStyle/>
                    <a:p>
                      <a:r>
                        <a:rPr sz="1950" b="0">
                          <a:solidFill>
                            <a:srgbClr val="25233E"/>
                          </a:solidFill>
                          <a:latin typeface="Arial"/>
                          <a:ea typeface="Arial"/>
                          <a:cs typeface="Arial"/>
                        </a:rPr>
                        <a:t>8,937 orders from 264 other couriers</a:t>
                      </a:r>
                    </a:p>
                  </a:txBody>
                  <a:tcPr marL="91440" marR="91440" marT="45720" marB="45720">
                    <a:lnR w="4763">
                      <a:solidFill>
                        <a:srgbClr val="DAD5E4"/>
                      </a:solidFill>
                    </a:lnR>
                    <a:lnB w="4763">
                      <a:solidFill>
                        <a:srgbClr val="DAD5E4"/>
                      </a:solidFill>
                    </a:lnB>
                    <a:solidFill>
                      <a:srgbClr val="F3EFF7"/>
                    </a:solidFill>
                  </a:tcPr>
                </a:tc>
                <a:tc>
                  <a:txBody>
                    <a:bodyPr/>
                    <a:lstStyle/>
                    <a:p>
                      <a:r>
                        <a:rPr sz="1950" b="0">
                          <a:solidFill>
                            <a:srgbClr val="25233E"/>
                          </a:solidFill>
                          <a:latin typeface="Arial"/>
                          <a:ea typeface="Arial"/>
                          <a:cs typeface="Arial"/>
                        </a:rPr>
                        <a:t>Orders from unseen couriers</a:t>
                      </a:r>
                    </a:p>
                  </a:txBody>
                  <a:tcPr marL="91440" marR="91440" marT="45720" marB="45720">
                    <a:lnR w="4763">
                      <a:solidFill>
                        <a:srgbClr val="DAD5E4"/>
                      </a:solidFill>
                    </a:lnR>
                    <a:lnB w="4763">
                      <a:solidFill>
                        <a:srgbClr val="DAD5E4"/>
                      </a:solidFill>
                    </a:lnB>
                    <a:solidFill>
                      <a:srgbClr val="F3EFF7"/>
                    </a:solidFill>
                  </a:tcPr>
                </a:tc>
              </a:tr>
              <a:tr h="800100">
                <a:tc>
                  <a:txBody>
                    <a:bodyPr/>
                    <a:lstStyle/>
                    <a:p>
                      <a:r>
                        <a:rPr sz="1950" b="0">
                          <a:solidFill>
                            <a:srgbClr val="25233E"/>
                          </a:solidFill>
                          <a:latin typeface="Arial"/>
                          <a:ea typeface="Arial"/>
                          <a:cs typeface="Arial"/>
                        </a:rPr>
                        <a:t>C</a:t>
                      </a:r>
                    </a:p>
                  </a:txBody>
                  <a:tcPr marL="91440" marR="91440" marT="45720" marB="45720">
                    <a:lnL w="4763">
                      <a:solidFill>
                        <a:srgbClr val="DAD5E4"/>
                      </a:solidFill>
                    </a:lnL>
                    <a:lnR w="4763">
                      <a:solidFill>
                        <a:srgbClr val="DAD5E4"/>
                      </a:solidFill>
                    </a:lnR>
                    <a:lnB w="4763">
                      <a:solidFill>
                        <a:srgbClr val="DAD5E4"/>
                      </a:solidFill>
                    </a:lnB>
                    <a:solidFill>
                      <a:srgbClr val="FCFAF6"/>
                    </a:solidFill>
                  </a:tcPr>
                </a:tc>
                <a:tc>
                  <a:txBody>
                    <a:bodyPr/>
                    <a:lstStyle/>
                    <a:p>
                      <a:r>
                        <a:rPr sz="1950" b="0">
                          <a:solidFill>
                            <a:srgbClr val="25233E"/>
                          </a:solidFill>
                          <a:latin typeface="Arial"/>
                          <a:ea typeface="Arial"/>
                          <a:cs typeface="Arial"/>
                        </a:rPr>
                        <a:t>1,600 orders from 142 restaurants</a:t>
                      </a:r>
                    </a:p>
                  </a:txBody>
                  <a:tcPr marL="91440" marR="91440" marT="45720" marB="45720">
                    <a:lnR w="4763">
                      <a:solidFill>
                        <a:srgbClr val="DAD5E4"/>
                      </a:solidFill>
                    </a:lnR>
                    <a:lnB w="4763">
                      <a:solidFill>
                        <a:srgbClr val="DAD5E4"/>
                      </a:solidFill>
                    </a:lnB>
                    <a:solidFill>
                      <a:srgbClr val="FCFAF6"/>
                    </a:solidFill>
                  </a:tcPr>
                </a:tc>
                <a:tc>
                  <a:txBody>
                    <a:bodyPr/>
                    <a:lstStyle/>
                    <a:p>
                      <a:r>
                        <a:rPr sz="1950" b="0">
                          <a:solidFill>
                            <a:srgbClr val="25233E"/>
                          </a:solidFill>
                          <a:latin typeface="Arial"/>
                          <a:ea typeface="Arial"/>
                          <a:cs typeface="Arial"/>
                        </a:rPr>
                        <a:t>298 orders from 36 other restaurants</a:t>
                      </a:r>
                    </a:p>
                  </a:txBody>
                  <a:tcPr marL="91440" marR="91440" marT="45720" marB="45720">
                    <a:lnR w="4763">
                      <a:solidFill>
                        <a:srgbClr val="DAD5E4"/>
                      </a:solidFill>
                    </a:lnR>
                    <a:lnB w="4763">
                      <a:solidFill>
                        <a:srgbClr val="DAD5E4"/>
                      </a:solidFill>
                    </a:lnB>
                    <a:solidFill>
                      <a:srgbClr val="FCFAF6"/>
                    </a:solidFill>
                  </a:tcPr>
                </a:tc>
                <a:tc>
                  <a:txBody>
                    <a:bodyPr/>
                    <a:lstStyle/>
                    <a:p>
                      <a:r>
                        <a:rPr sz="1950" b="0">
                          <a:solidFill>
                            <a:srgbClr val="25233E"/>
                          </a:solidFill>
                          <a:latin typeface="Arial"/>
                          <a:ea typeface="Arial"/>
                          <a:cs typeface="Arial"/>
                        </a:rPr>
                        <a:t>Orders from unseen restaurants</a:t>
                      </a:r>
                    </a:p>
                  </a:txBody>
                  <a:tcPr marL="91440" marR="91440" marT="45720" marB="45720">
                    <a:lnR w="4763">
                      <a:solidFill>
                        <a:srgbClr val="DAD5E4"/>
                      </a:solidFill>
                    </a:lnR>
                    <a:lnB w="4763">
                      <a:solidFill>
                        <a:srgbClr val="DAD5E4"/>
                      </a:solidFill>
                    </a:lnB>
                    <a:solidFill>
                      <a:srgbClr val="FCFAF6"/>
                    </a:solidFill>
                  </a:tcPr>
                </a:tc>
              </a:tr>
            </a:tbl>
          </a:graphicData>
        </a:graphic>
      </p:graphicFrame>
      <p:sp>
        <p:nvSpPr>
          <p:cNvPr id="6" name="">
            <a:extLst>
              <a:ext uri="{FF2B5EF4-FFF2-40B4-BE49-F238E27FC236}">
                <ns2:creationId id="{41CCA249-D3A0-4A96-B9C5-127D8085AEFD}"/>
              </a:ext>
            </a:extLst>
          </p:cNvPr>
          <p:cNvSpPr>
            <a:spLocks noGrp="1"/>
          </p:cNvSpPr>
          <p:nvPr/>
        </p:nvSpPr>
        <p:spPr>
          <a:xfrm>
            <a:off x="647700" y="5267325"/>
            <a:ext cx="6715125" cy="419100"/>
          </a:xfrm>
          <a:prstGeom prst="rect">
            <a:avLst/>
          </a:prstGeom>
          <a:noFill/>
          <a:ln w="0">
            <a:noFill/>
          </a:ln>
        </p:spPr>
        <p:txBody>
          <a:bodyPr/>
          <a:lstStyle>
            <a:defPPr>
              <a:defRPr sz="2325" b="1">
                <a:solidFill>
                  <a:srgbClr val="6246A4"/>
                </a:solidFill>
                <a:latin typeface="Arial"/>
                <a:ea typeface="Arial"/>
                <a:cs typeface="Arial"/>
              </a:defRPr>
            </a:defPPr>
          </a:lstStyle>
          <a:p>
            <a:pPr>
              <a:defRPr sz="2325" b="1">
                <a:solidFill>
                  <a:srgbClr val="6246A4"/>
                </a:solidFill>
                <a:latin typeface="Arial"/>
                <a:ea typeface="Arial"/>
                <a:cs typeface="Arial"/>
              </a:defRPr>
            </a:pPr>
            <a:r>
              <a:rPr sz="2325" b="1">
                <a:solidFill>
                  <a:srgbClr val="6246A4"/>
                </a:solidFill>
                <a:latin typeface="Arial"/>
                <a:ea typeface="Arial"/>
                <a:cs typeface="Arial"/>
              </a:rPr>
              <a:t>Five-fold validation chooses the model</a:t>
            </a:r>
          </a:p>
        </p:txBody>
      </p:sp>
      <p:sp>
        <p:nvSpPr>
          <p:cNvPr id="7" name="">
            <a:extLst>
              <a:ext uri="{FF2B5EF4-FFF2-40B4-BE49-F238E27FC236}">
                <ns2:creationId id="{2A143000-0F4E-4B0E-AFA4-487E206B8529}"/>
              </a:ext>
            </a:extLst>
          </p:cNvPr>
          <p:cNvSpPr>
            <a:spLocks noGrp="1"/>
          </p:cNvSpPr>
          <p:nvPr/>
        </p:nvSpPr>
        <p:spPr>
          <a:xfrm>
            <a:off x="647700" y="5791200"/>
            <a:ext cx="6715125" cy="1590675"/>
          </a:xfrm>
          <a:prstGeom prst="rect">
            <a:avLst/>
          </a:prstGeom>
          <a:noFill/>
          <a:ln w="0">
            <a:noFill/>
          </a:ln>
        </p:spPr>
        <p:txBody>
          <a:bodyPr/>
          <a:lstStyle>
            <a:defPPr>
              <a:defRPr sz="2100" b="0">
                <a:solidFill>
                  <a:srgbClr val="25233E"/>
                </a:solidFill>
                <a:latin typeface="Arial"/>
                <a:ea typeface="Arial"/>
                <a:cs typeface="Arial"/>
              </a:defRPr>
            </a:defPPr>
          </a:lstStyle>
          <a:p>
            <a:pPr>
              <a:defRPr sz="2100" b="0">
                <a:solidFill>
                  <a:srgbClr val="25233E"/>
                </a:solidFill>
                <a:latin typeface="Arial"/>
                <a:ea typeface="Arial"/>
                <a:cs typeface="Arial"/>
              </a:defRPr>
            </a:pPr>
            <a:r>
              <a:rPr sz="2100" b="0">
                <a:solidFill>
                  <a:srgbClr val="25233E"/>
                </a:solidFill>
                <a:latin typeface="Arial"/>
                <a:ea typeface="Arial"/>
                <a:cs typeface="Arial"/>
              </a:rPr>
              <a:t>Within development data, train on four folds and validate on the fifth, repeating five times. All four candidates use the same folds. The lowest average validation MAE selects the winner before the final test is scored.</a:t>
            </a:r>
          </a:p>
        </p:txBody>
      </p:sp>
      <p:sp>
        <p:nvSpPr>
          <p:cNvPr id="8" name="">
            <a:extLst>
              <a:ext uri="{FF2B5EF4-FFF2-40B4-BE49-F238E27FC236}">
                <ns2:creationId id="{4C6BB08B-54F5-412E-A802-2A86E6EF9FD8}"/>
              </a:ext>
            </a:extLst>
          </p:cNvPr>
          <p:cNvSpPr>
            <a:spLocks noGrp="1"/>
          </p:cNvSpPr>
          <p:nvPr/>
        </p:nvSpPr>
        <p:spPr>
          <a:xfrm>
            <a:off x="8029575" y="5267325"/>
            <a:ext cx="6572250" cy="419100"/>
          </a:xfrm>
          <a:prstGeom prst="rect">
            <a:avLst/>
          </a:prstGeom>
          <a:noFill/>
          <a:ln w="0">
            <a:noFill/>
          </a:ln>
        </p:spPr>
        <p:txBody>
          <a:bodyPr/>
          <a:lstStyle>
            <a:defPPr>
              <a:defRPr sz="2325" b="1">
                <a:solidFill>
                  <a:srgbClr val="6246A4"/>
                </a:solidFill>
                <a:latin typeface="Arial"/>
                <a:ea typeface="Arial"/>
                <a:cs typeface="Arial"/>
              </a:defRPr>
            </a:defPPr>
          </a:lstStyle>
          <a:p>
            <a:pPr>
              <a:defRPr sz="2325" b="1">
                <a:solidFill>
                  <a:srgbClr val="6246A4"/>
                </a:solidFill>
                <a:latin typeface="Arial"/>
                <a:ea typeface="Arial"/>
                <a:cs typeface="Arial"/>
              </a:defRPr>
            </a:pPr>
            <a:r>
              <a:rPr sz="2325" b="1">
                <a:solidFill>
                  <a:srgbClr val="6246A4"/>
                </a:solidFill>
                <a:latin typeface="Arial"/>
                <a:ea typeface="Arial"/>
                <a:cs typeface="Arial"/>
              </a:rPr>
              <a:t>Grouping prevents entity overlap</a:t>
            </a:r>
          </a:p>
        </p:txBody>
      </p:sp>
      <p:sp>
        <p:nvSpPr>
          <p:cNvPr id="9" name="">
            <a:extLst>
              <a:ext uri="{FF2B5EF4-FFF2-40B4-BE49-F238E27FC236}">
                <ns2:creationId id="{FDC43A6C-9CA0-4006-97D7-8578B26317F7}"/>
              </a:ext>
            </a:extLst>
          </p:cNvPr>
          <p:cNvSpPr>
            <a:spLocks noGrp="1"/>
          </p:cNvSpPr>
          <p:nvPr/>
        </p:nvSpPr>
        <p:spPr>
          <a:xfrm>
            <a:off x="8029575" y="5791200"/>
            <a:ext cx="6543675" cy="1590675"/>
          </a:xfrm>
          <a:prstGeom prst="rect">
            <a:avLst/>
          </a:prstGeom>
          <a:noFill/>
          <a:ln w="0">
            <a:noFill/>
          </a:ln>
        </p:spPr>
        <p:txBody>
          <a:bodyPr/>
          <a:lstStyle>
            <a:defPPr>
              <a:defRPr sz="2100" b="0">
                <a:solidFill>
                  <a:srgbClr val="25233E"/>
                </a:solidFill>
                <a:latin typeface="Arial"/>
                <a:ea typeface="Arial"/>
                <a:cs typeface="Arial"/>
              </a:defRPr>
            </a:defPPr>
          </a:lstStyle>
          <a:p>
            <a:pPr>
              <a:defRPr sz="2100" b="0">
                <a:solidFill>
                  <a:srgbClr val="25233E"/>
                </a:solidFill>
                <a:latin typeface="Arial"/>
                <a:ea typeface="Arial"/>
                <a:cs typeface="Arial"/>
              </a:defRPr>
            </a:pPr>
            <a:r>
              <a:rPr sz="2100" b="0">
                <a:solidFill>
                  <a:srgbClr val="25233E"/>
                </a:solidFill>
                <a:latin typeface="Arial"/>
                <a:ea typeface="Arial"/>
                <a:cs typeface="Arial"/>
              </a:rPr>
              <a:t>B never shares a courier between training and testing. C never shares a restaurant. Grouped splits reserve 20% of entities, so row percentages can differ. Seed 42 makes the experiment reproducible.</a:t>
            </a:r>
          </a:p>
        </p:txBody>
      </p:sp>
      <p:sp>
        <p:nvSpPr>
          <p:cNvPr id="10" name="">
            <a:extLst>
              <a:ext uri="{FF2B5EF4-FFF2-40B4-BE49-F238E27FC236}">
                <ns2:creationId id="{22CA7ECF-7941-428A-9B49-C23F1169FA71}"/>
              </a:ext>
            </a:extLst>
          </p:cNvPr>
          <p:cNvSpPr>
            <a:spLocks noGrp="1"/>
          </p:cNvSpPr>
          <p:nvPr/>
        </p:nvSpPr>
        <p:spPr>
          <a:xfrm>
            <a:off x="647700" y="7572375"/>
            <a:ext cx="13811250" cy="571500"/>
          </a:xfrm>
          <a:prstGeom prst="rect">
            <a:avLst/>
          </a:prstGeom>
          <a:noFill/>
          <a:ln w="0">
            <a:noFill/>
          </a:ln>
        </p:spPr>
        <p:txBody>
          <a:bodyPr/>
          <a:lstStyle>
            <a:defPPr>
              <a:defRPr sz="1800" b="0">
                <a:solidFill>
                  <a:srgbClr val="5C5C70"/>
                </a:solidFill>
                <a:latin typeface="Arial"/>
                <a:ea typeface="Arial"/>
                <a:cs typeface="Arial"/>
              </a:defRPr>
            </a:defPPr>
          </a:lstStyle>
          <a:p>
            <a:pPr>
              <a:defRPr sz="1800" b="0">
                <a:solidFill>
                  <a:srgbClr val="5C5C70"/>
                </a:solidFill>
                <a:latin typeface="Arial"/>
                <a:ea typeface="Arial"/>
                <a:cs typeface="Arial"/>
              </a:defRPr>
            </a:pPr>
            <a:r>
              <a:rPr sz="1800" b="0">
                <a:solidFill>
                  <a:srgbClr val="5C5C70"/>
                </a:solidFill>
                <a:latin typeface="Arial"/>
                <a:ea typeface="Arial"/>
                <a:cs typeface="Arial"/>
              </a:rPr>
              <a:t>C can share customers across restaurant groups. No dataset supports future-date testing because reliable event timestamps are absent.</a:t>
            </a:r>
          </a:p>
        </p:txBody>
      </p:sp>
    </p:spTree>
    <p:extLst>
      <p:ext uri="{BB962C8B-B14F-4D97-AF65-F5344CB8AC3E}">
        <ns3:creationId val="440695918"/>
      </p:ext>
    </p:extLst>
  </p:cSld>
  <p:transition spd="med"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400"/>
                                        <p:tgtEl>
                                          <p:spTgt spid="5"/>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400"/>
                                        <p:tgtEl>
                                          <p:spTgt spid="9"/>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CFAF6"/>
        </a:solidFill>
      </p:bgPr>
    </p:bg>
    <p:spTree>
      <p:nvGrpSpPr>
        <p:cNvPr id="1" name=""/>
        <p:cNvGrpSpPr/>
        <p:nvPr/>
      </p:nvGrpSpPr>
      <p:grpSpPr>
        <a:xfrm/>
      </p:grpSpPr>
      <p:sp>
        <p:nvSpPr>
          <p:cNvPr id="8" name="">
            <a:extLst>
              <a:ext uri="{FF2B5EF4-FFF2-40B4-BE49-F238E27FC236}">
                <ns2:creationId id="{9EDA3E7D-0DFF-4438-BCF9-6808C6ED00A5}"/>
              </a:ext>
            </a:extLst>
          </p:cNvPr>
          <p:cNvSpPr>
            <a:spLocks noGrp="1"/>
          </p:cNvSpPr>
          <p:nvPr/>
        </p:nvSpPr>
        <p:spPr>
          <a:xfrm>
            <a:off x="609600" y="266700"/>
            <a:ext cx="13525500" cy="285750"/>
          </a:xfrm>
          <a:prstGeom prst="rect">
            <a:avLst/>
          </a:prstGeom>
          <a:noFill/>
          <a:ln w="0">
            <a:noFill/>
          </a:ln>
        </p:spPr>
        <p:txBody>
          <a:bodyPr/>
          <a:lstStyle>
            <a:defPPr>
              <a:defRPr sz="1425" b="1">
                <a:solidFill>
                  <a:srgbClr val="6246A4"/>
                </a:solidFill>
                <a:latin typeface="Arial"/>
                <a:ea typeface="Arial"/>
                <a:cs typeface="Arial"/>
              </a:defRPr>
            </a:defPPr>
          </a:lstStyle>
          <a:p>
            <a:pPr>
              <a:defRPr sz="1425" b="1">
                <a:solidFill>
                  <a:srgbClr val="6246A4"/>
                </a:solidFill>
                <a:latin typeface="Arial"/>
                <a:ea typeface="Arial"/>
                <a:cs typeface="Arial"/>
              </a:defRPr>
            </a:pPr>
            <a:r>
              <a:rPr sz="1425" b="1">
                <a:solidFill>
                  <a:srgbClr val="6246A4"/>
                </a:solidFill>
                <a:latin typeface="Arial"/>
                <a:ea typeface="Arial"/>
                <a:cs typeface="Arial"/>
              </a:rPr>
              <a:t>KDD 4 / DATA MINING</a:t>
            </a:r>
          </a:p>
        </p:txBody>
      </p:sp>
      <p:sp>
        <p:nvSpPr>
          <p:cNvPr id="2" name="">
            <a:extLst>
              <a:ext uri="{FF2B5EF4-FFF2-40B4-BE49-F238E27FC236}">
                <ns2:creationId id="{2CABDD9E-1F0D-4A46-B525-3FB66532221B}"/>
              </a:ext>
            </a:extLst>
          </p:cNvPr>
          <p:cNvSpPr>
            <a:spLocks noGrp="1"/>
          </p:cNvSpPr>
          <p:nvPr/>
        </p:nvSpPr>
        <p:spPr>
          <a:xfrm>
            <a:off x="609600" y="704850"/>
            <a:ext cx="14020800" cy="895350"/>
          </a:xfrm>
          <a:prstGeom prst="rect">
            <a:avLst/>
          </a:prstGeom>
          <a:noFill/>
          <a:ln w="0">
            <a:noFill/>
          </a:ln>
        </p:spPr>
        <p:txBody>
          <a:bodyPr/>
          <a:lstStyle>
            <a:defPPr>
              <a:defRPr sz="3600" b="1">
                <a:solidFill>
                  <a:srgbClr val="25233E"/>
                </a:solidFill>
                <a:latin typeface="Arial"/>
                <a:ea typeface="Arial"/>
                <a:cs typeface="Arial"/>
              </a:defRPr>
            </a:defPPr>
          </a:lstStyle>
          <a:p>
            <a:pPr>
              <a:defRPr sz="3600" b="1">
                <a:solidFill>
                  <a:srgbClr val="25233E"/>
                </a:solidFill>
                <a:latin typeface="Arial"/>
                <a:ea typeface="Arial"/>
                <a:cs typeface="Arial"/>
              </a:defRPr>
            </a:pPr>
            <a:r>
              <a:rPr sz="3600" b="1">
                <a:solidFill>
                  <a:srgbClr val="25233E"/>
                </a:solidFill>
                <a:latin typeface="Arial"/>
                <a:ea typeface="Arial"/>
                <a:cs typeface="Arial"/>
              </a:rPr>
              <a:t>Model approaches and validation comparison</a:t>
            </a:r>
          </a:p>
        </p:txBody>
      </p:sp>
      <p:sp>
        <p:nvSpPr>
          <p:cNvPr id="3" name="">
            <a:extLst>
              <a:ext uri="{FF2B5EF4-FFF2-40B4-BE49-F238E27FC236}">
                <ns2:creationId id="{4BEEDBD2-5B05-4010-A101-97BFC7587C7C}"/>
              </a:ext>
            </a:extLst>
          </p:cNvPr>
          <p:cNvSpPr>
            <a:spLocks noGrp="1"/>
          </p:cNvSpPr>
          <p:nvPr/>
        </p:nvSpPr>
        <p:spPr>
          <a:xfrm>
            <a:off x="609600" y="8220075"/>
            <a:ext cx="12858750" cy="219075"/>
          </a:xfrm>
          <a:prstGeom prst="rect">
            <a:avLst/>
          </a:prstGeom>
          <a:noFill/>
          <a:ln w="0">
            <a:noFill/>
          </a:ln>
        </p:spPr>
        <p:txBody>
          <a:bodyPr/>
          <a:lstStyle>
            <a:defPPr>
              <a:defRPr sz="1125" b="0">
                <a:solidFill>
                  <a:srgbClr val="5C5C70"/>
                </a:solidFill>
                <a:latin typeface="Arial"/>
                <a:ea typeface="Arial"/>
                <a:cs typeface="Arial"/>
              </a:defRPr>
            </a:defPPr>
          </a:lstStyle>
          <a:p>
            <a:pPr>
              <a:defRPr sz="1125" b="0">
                <a:solidFill>
                  <a:srgbClr val="5C5C70"/>
                </a:solidFill>
                <a:latin typeface="Arial"/>
                <a:ea typeface="Arial"/>
                <a:cs typeface="Arial"/>
              </a:defRPr>
            </a:pPr>
            <a:r>
              <a:rPr sz="1125" b="0">
                <a:solidFill>
                  <a:srgbClr val="5C5C70"/>
                </a:solidFill>
                <a:latin typeface="Arial"/>
                <a:ea typeface="Arial"/>
                <a:cs typeface="Arial"/>
              </a:rPr>
              <a:t>AADITI GAIKWAD   /   PREDICTIVE ANALYTICS</a:t>
            </a:r>
          </a:p>
        </p:txBody>
      </p:sp>
      <p:sp>
        <p:nvSpPr>
          <p:cNvPr id="4" name="">
            <a:extLst>
              <a:ext uri="{FF2B5EF4-FFF2-40B4-BE49-F238E27FC236}">
                <ns2:creationId id="{CAFD2C71-6396-4447-9193-778266947718}"/>
              </a:ext>
            </a:extLst>
          </p:cNvPr>
          <p:cNvSpPr>
            <a:spLocks noGrp="1"/>
          </p:cNvSpPr>
          <p:nvPr/>
        </p:nvSpPr>
        <p:spPr>
          <a:xfrm>
            <a:off x="14144625" y="8172450"/>
            <a:ext cx="571500" cy="276225"/>
          </a:xfrm>
          <a:prstGeom prst="rect">
            <a:avLst/>
          </a:prstGeom>
          <a:noFill/>
          <a:ln w="0">
            <a:noFill/>
          </a:ln>
        </p:spPr>
        <p:txBody>
          <a:bodyPr/>
          <a:lstStyle>
            <a:defPPr>
              <a:defRPr sz="1500" b="1">
                <a:solidFill>
                  <a:srgbClr val="6246A4"/>
                </a:solidFill>
                <a:latin typeface="Arial"/>
                <a:ea typeface="Arial"/>
                <a:cs typeface="Arial"/>
              </a:defRPr>
            </a:defPPr>
          </a:lstStyle>
          <a:p>
            <a:pPr>
              <a:defRPr sz="1500" b="1">
                <a:solidFill>
                  <a:srgbClr val="6246A4"/>
                </a:solidFill>
                <a:latin typeface="Arial"/>
                <a:ea typeface="Arial"/>
                <a:cs typeface="Arial"/>
              </a:defRPr>
            </a:pPr>
            <a:r>
              <a:rPr sz="1500" b="1">
                <a:solidFill>
                  <a:srgbClr val="6246A4"/>
                </a:solidFill>
                <a:latin typeface="Arial"/>
                <a:ea typeface="Arial"/>
                <a:cs typeface="Arial"/>
              </a:rPr>
              <a:t>07</a:t>
            </a:r>
          </a:p>
        </p:txBody>
      </p:sp>
      <p:graphicFrame>
        <p:nvGraphicFramePr>
          <p:cNvPr id="5" name="">
            <a:extLst>
              <a:ext uri="{FF2B5EF4-FFF2-40B4-BE49-F238E27FC236}">
                <ns2:creationId id="{3E947259-3A1E-45C2-8475-905DDD639EF8}"/>
              </a:ext>
            </a:extLst>
          </p:cNvPr>
          <p:cNvGraphicFramePr/>
          <p:nvPr/>
        </p:nvGraphicFramePr>
        <p:xfrm>
          <a:off x="647700" y="1695450"/>
          <a:ext cx="14001750" cy="4953000"/>
        </p:xfrm>
        <a:graphic>
          <a:graphicData uri="http://schemas.openxmlformats.org/drawingml/2006/table">
            <a:tbl>
              <a:tblPr/>
              <a:tblGrid>
                <a:gridCol w="2524125"/>
                <a:gridCol w="6762750"/>
                <a:gridCol w="1571625"/>
                <a:gridCol w="1571625"/>
                <a:gridCol w="1571625"/>
              </a:tblGrid>
              <a:tr h="990600">
                <a:tc>
                  <a:txBody>
                    <a:bodyPr/>
                    <a:lstStyle/>
                    <a:p>
                      <a:r>
                        <a:rPr sz="1950" b="1">
                          <a:solidFill>
                            <a:srgbClr val="25233E"/>
                          </a:solidFill>
                          <a:latin typeface="Arial"/>
                          <a:ea typeface="Arial"/>
                          <a:cs typeface="Arial"/>
                        </a:rPr>
                        <a:t>Approach</a:t>
                      </a:r>
                    </a:p>
                  </a:txBody>
                  <a:tcPr marL="91440" marR="91440" marT="45720" marB="45720">
                    <a:lnL w="4763">
                      <a:solidFill>
                        <a:srgbClr val="DAD5E4"/>
                      </a:solidFill>
                    </a:lnL>
                    <a:lnR w="4763">
                      <a:solidFill>
                        <a:srgbClr val="DAD5E4"/>
                      </a:solidFill>
                    </a:lnR>
                    <a:lnT w="4763">
                      <a:solidFill>
                        <a:srgbClr val="DAD5E4"/>
                      </a:solidFill>
                    </a:lnT>
                    <a:lnB w="4763">
                      <a:solidFill>
                        <a:srgbClr val="DAD5E4"/>
                      </a:solidFill>
                    </a:lnB>
                    <a:solidFill>
                      <a:srgbClr val="E9E2F2"/>
                    </a:solidFill>
                  </a:tcPr>
                </a:tc>
                <a:tc>
                  <a:txBody>
                    <a:bodyPr/>
                    <a:lstStyle/>
                    <a:p>
                      <a:r>
                        <a:rPr sz="1950" b="1">
                          <a:solidFill>
                            <a:srgbClr val="25233E"/>
                          </a:solidFill>
                          <a:latin typeface="Arial"/>
                          <a:ea typeface="Arial"/>
                          <a:cs typeface="Arial"/>
                        </a:rPr>
                        <a:t>How the model works and fixed settings</a:t>
                      </a:r>
                    </a:p>
                  </a:txBody>
                  <a:tcPr marL="91440" marR="91440" marT="45720" marB="45720">
                    <a:lnR w="4763">
                      <a:solidFill>
                        <a:srgbClr val="DAD5E4"/>
                      </a:solidFill>
                    </a:lnR>
                    <a:lnT w="4763">
                      <a:solidFill>
                        <a:srgbClr val="DAD5E4"/>
                      </a:solidFill>
                    </a:lnT>
                    <a:lnB w="4763">
                      <a:solidFill>
                        <a:srgbClr val="DAD5E4"/>
                      </a:solidFill>
                    </a:lnB>
                    <a:solidFill>
                      <a:srgbClr val="E9E2F2"/>
                    </a:solidFill>
                  </a:tcPr>
                </a:tc>
                <a:tc>
                  <a:txBody>
                    <a:bodyPr/>
                    <a:lstStyle/>
                    <a:p>
                      <a:r>
                        <a:rPr sz="1950" b="1">
                          <a:solidFill>
                            <a:srgbClr val="25233E"/>
                          </a:solidFill>
                          <a:latin typeface="Arial"/>
                          <a:ea typeface="Arial"/>
                          <a:cs typeface="Arial"/>
                        </a:rPr>
                        <a:t>A: MAE</a:t>
                      </a:r>
                    </a:p>
                  </a:txBody>
                  <a:tcPr marL="91440" marR="91440" marT="45720" marB="45720">
                    <a:lnR w="4763">
                      <a:solidFill>
                        <a:srgbClr val="DAD5E4"/>
                      </a:solidFill>
                    </a:lnR>
                    <a:lnT w="4763">
                      <a:solidFill>
                        <a:srgbClr val="DAD5E4"/>
                      </a:solidFill>
                    </a:lnT>
                    <a:lnB w="4763">
                      <a:solidFill>
                        <a:srgbClr val="DAD5E4"/>
                      </a:solidFill>
                    </a:lnB>
                    <a:solidFill>
                      <a:srgbClr val="E9E2F2"/>
                    </a:solidFill>
                  </a:tcPr>
                </a:tc>
                <a:tc>
                  <a:txBody>
                    <a:bodyPr/>
                    <a:lstStyle/>
                    <a:p>
                      <a:r>
                        <a:rPr sz="1950" b="1">
                          <a:solidFill>
                            <a:srgbClr val="25233E"/>
                          </a:solidFill>
                          <a:latin typeface="Arial"/>
                          <a:ea typeface="Arial"/>
                          <a:cs typeface="Arial"/>
                        </a:rPr>
                        <a:t>B: MAE</a:t>
                      </a:r>
                    </a:p>
                  </a:txBody>
                  <a:tcPr marL="91440" marR="91440" marT="45720" marB="45720">
                    <a:lnR w="4763">
                      <a:solidFill>
                        <a:srgbClr val="DAD5E4"/>
                      </a:solidFill>
                    </a:lnR>
                    <a:lnT w="4763">
                      <a:solidFill>
                        <a:srgbClr val="DAD5E4"/>
                      </a:solidFill>
                    </a:lnT>
                    <a:lnB w="4763">
                      <a:solidFill>
                        <a:srgbClr val="DAD5E4"/>
                      </a:solidFill>
                    </a:lnB>
                    <a:solidFill>
                      <a:srgbClr val="E9E2F2"/>
                    </a:solidFill>
                  </a:tcPr>
                </a:tc>
                <a:tc>
                  <a:txBody>
                    <a:bodyPr/>
                    <a:lstStyle/>
                    <a:p>
                      <a:r>
                        <a:rPr sz="1950" b="1">
                          <a:solidFill>
                            <a:srgbClr val="25233E"/>
                          </a:solidFill>
                          <a:latin typeface="Arial"/>
                          <a:ea typeface="Arial"/>
                          <a:cs typeface="Arial"/>
                        </a:rPr>
                        <a:t>C: MAE</a:t>
                      </a:r>
                    </a:p>
                  </a:txBody>
                  <a:tcPr marL="91440" marR="91440" marT="45720" marB="45720">
                    <a:lnR w="4763">
                      <a:solidFill>
                        <a:srgbClr val="DAD5E4"/>
                      </a:solidFill>
                    </a:lnR>
                    <a:lnT w="4763">
                      <a:solidFill>
                        <a:srgbClr val="DAD5E4"/>
                      </a:solidFill>
                    </a:lnT>
                    <a:lnB w="4763">
                      <a:solidFill>
                        <a:srgbClr val="DAD5E4"/>
                      </a:solidFill>
                    </a:lnB>
                    <a:solidFill>
                      <a:srgbClr val="E9E2F2"/>
                    </a:solidFill>
                  </a:tcPr>
                </a:tc>
              </a:tr>
              <a:tr h="990600">
                <a:tc>
                  <a:txBody>
                    <a:bodyPr/>
                    <a:lstStyle/>
                    <a:p>
                      <a:r>
                        <a:rPr sz="1950" b="0">
                          <a:solidFill>
                            <a:srgbClr val="25233E"/>
                          </a:solidFill>
                          <a:latin typeface="Arial"/>
                          <a:ea typeface="Arial"/>
                          <a:cs typeface="Arial"/>
                        </a:rPr>
                        <a:t>Median baseline</a:t>
                      </a:r>
                    </a:p>
                  </a:txBody>
                  <a:tcPr marL="91440" marR="91440" marT="45720" marB="45720">
                    <a:lnL w="4763">
                      <a:solidFill>
                        <a:srgbClr val="DAD5E4"/>
                      </a:solidFill>
                    </a:lnL>
                    <a:lnR w="4763">
                      <a:solidFill>
                        <a:srgbClr val="DAD5E4"/>
                      </a:solidFill>
                    </a:lnR>
                    <a:lnB w="4763">
                      <a:solidFill>
                        <a:srgbClr val="DAD5E4"/>
                      </a:solidFill>
                    </a:lnB>
                    <a:solidFill>
                      <a:srgbClr val="FCFAF6"/>
                    </a:solidFill>
                  </a:tcPr>
                </a:tc>
                <a:tc>
                  <a:txBody>
                    <a:bodyPr/>
                    <a:lstStyle/>
                    <a:p>
                      <a:r>
                        <a:rPr sz="1950" b="0">
                          <a:solidFill>
                            <a:srgbClr val="25233E"/>
                          </a:solidFill>
                          <a:latin typeface="Arial"/>
                          <a:ea typeface="Arial"/>
                          <a:cs typeface="Arial"/>
                        </a:rPr>
                        <a:t>Predict the same training-median duration for every order. Establishes a simple benchmark.</a:t>
                      </a:r>
                    </a:p>
                  </a:txBody>
                  <a:tcPr marL="91440" marR="91440" marT="45720" marB="45720">
                    <a:lnR w="4763">
                      <a:solidFill>
                        <a:srgbClr val="DAD5E4"/>
                      </a:solidFill>
                    </a:lnR>
                    <a:lnB w="4763">
                      <a:solidFill>
                        <a:srgbClr val="DAD5E4"/>
                      </a:solidFill>
                    </a:lnB>
                    <a:solidFill>
                      <a:srgbClr val="FCFAF6"/>
                    </a:solidFill>
                  </a:tcPr>
                </a:tc>
                <a:tc>
                  <a:txBody>
                    <a:bodyPr/>
                    <a:lstStyle/>
                    <a:p>
                      <a:r>
                        <a:rPr sz="1950" b="0">
                          <a:solidFill>
                            <a:srgbClr val="25233E"/>
                          </a:solidFill>
                          <a:latin typeface="Arial"/>
                          <a:ea typeface="Arial"/>
                          <a:cs typeface="Arial"/>
                        </a:rPr>
                        <a:t>17.916</a:t>
                      </a:r>
                    </a:p>
                  </a:txBody>
                  <a:tcPr marL="91440" marR="91440" marT="45720" marB="45720">
                    <a:lnR w="4763">
                      <a:solidFill>
                        <a:srgbClr val="DAD5E4"/>
                      </a:solidFill>
                    </a:lnR>
                    <a:lnB w="4763">
                      <a:solidFill>
                        <a:srgbClr val="DAD5E4"/>
                      </a:solidFill>
                    </a:lnB>
                    <a:solidFill>
                      <a:srgbClr val="FCFAF6"/>
                    </a:solidFill>
                  </a:tcPr>
                </a:tc>
                <a:tc>
                  <a:txBody>
                    <a:bodyPr/>
                    <a:lstStyle/>
                    <a:p>
                      <a:r>
                        <a:rPr sz="1950" b="0">
                          <a:solidFill>
                            <a:srgbClr val="25233E"/>
                          </a:solidFill>
                          <a:latin typeface="Arial"/>
                          <a:ea typeface="Arial"/>
                          <a:cs typeface="Arial"/>
                        </a:rPr>
                        <a:t>7.559</a:t>
                      </a:r>
                    </a:p>
                  </a:txBody>
                  <a:tcPr marL="91440" marR="91440" marT="45720" marB="45720">
                    <a:lnR w="4763">
                      <a:solidFill>
                        <a:srgbClr val="DAD5E4"/>
                      </a:solidFill>
                    </a:lnR>
                    <a:lnB w="4763">
                      <a:solidFill>
                        <a:srgbClr val="DAD5E4"/>
                      </a:solidFill>
                    </a:lnB>
                    <a:solidFill>
                      <a:srgbClr val="FCFAF6"/>
                    </a:solidFill>
                  </a:tcPr>
                </a:tc>
                <a:tc>
                  <a:txBody>
                    <a:bodyPr/>
                    <a:lstStyle/>
                    <a:p>
                      <a:r>
                        <a:rPr sz="1950" b="0">
                          <a:solidFill>
                            <a:srgbClr val="25233E"/>
                          </a:solidFill>
                          <a:latin typeface="Arial"/>
                          <a:ea typeface="Arial"/>
                          <a:cs typeface="Arial"/>
                        </a:rPr>
                        <a:t>4.159</a:t>
                      </a:r>
                    </a:p>
                  </a:txBody>
                  <a:tcPr marL="91440" marR="91440" marT="45720" marB="45720">
                    <a:lnR w="4763">
                      <a:solidFill>
                        <a:srgbClr val="DAD5E4"/>
                      </a:solidFill>
                    </a:lnR>
                    <a:lnB w="4763">
                      <a:solidFill>
                        <a:srgbClr val="DAD5E4"/>
                      </a:solidFill>
                    </a:lnB>
                    <a:solidFill>
                      <a:srgbClr val="FCFAF6"/>
                    </a:solidFill>
                  </a:tcPr>
                </a:tc>
              </a:tr>
              <a:tr h="990600">
                <a:tc>
                  <a:txBody>
                    <a:bodyPr/>
                    <a:lstStyle/>
                    <a:p>
                      <a:r>
                        <a:rPr sz="1950" b="0">
                          <a:solidFill>
                            <a:srgbClr val="25233E"/>
                          </a:solidFill>
                          <a:latin typeface="Arial"/>
                          <a:ea typeface="Arial"/>
                          <a:cs typeface="Arial"/>
                        </a:rPr>
                        <a:t>Ridge regression</a:t>
                      </a:r>
                    </a:p>
                  </a:txBody>
                  <a:tcPr marL="91440" marR="91440" marT="45720" marB="45720">
                    <a:lnL w="4763">
                      <a:solidFill>
                        <a:srgbClr val="DAD5E4"/>
                      </a:solidFill>
                    </a:lnL>
                    <a:lnR w="4763">
                      <a:solidFill>
                        <a:srgbClr val="DAD5E4"/>
                      </a:solidFill>
                    </a:lnR>
                    <a:lnB w="4763">
                      <a:solidFill>
                        <a:srgbClr val="DAD5E4"/>
                      </a:solidFill>
                    </a:lnB>
                    <a:solidFill>
                      <a:srgbClr val="F3EFF7"/>
                    </a:solidFill>
                  </a:tcPr>
                </a:tc>
                <a:tc>
                  <a:txBody>
                    <a:bodyPr/>
                    <a:lstStyle/>
                    <a:p>
                      <a:r>
                        <a:rPr sz="1950" b="0">
                          <a:solidFill>
                            <a:srgbClr val="25233E"/>
                          </a:solidFill>
                          <a:latin typeface="Arial"/>
                          <a:ea typeface="Arial"/>
                          <a:cs typeface="Arial"/>
                        </a:rPr>
                        <a:t>Learn additive input weights with regularization (alpha = 10) to limit overly large coefficients.</a:t>
                      </a:r>
                    </a:p>
                  </a:txBody>
                  <a:tcPr marL="91440" marR="91440" marT="45720" marB="45720">
                    <a:lnR w="4763">
                      <a:solidFill>
                        <a:srgbClr val="DAD5E4"/>
                      </a:solidFill>
                    </a:lnR>
                    <a:lnB w="4763">
                      <a:solidFill>
                        <a:srgbClr val="DAD5E4"/>
                      </a:solidFill>
                    </a:lnB>
                    <a:solidFill>
                      <a:srgbClr val="F3EFF7"/>
                    </a:solidFill>
                  </a:tcPr>
                </a:tc>
                <a:tc>
                  <a:txBody>
                    <a:bodyPr/>
                    <a:lstStyle/>
                    <a:p>
                      <a:r>
                        <a:rPr sz="1950" b="0">
                          <a:solidFill>
                            <a:srgbClr val="25233E"/>
                          </a:solidFill>
                          <a:latin typeface="Arial"/>
                          <a:ea typeface="Arial"/>
                          <a:cs typeface="Arial"/>
                        </a:rPr>
                        <a:t>9.376</a:t>
                      </a:r>
                    </a:p>
                  </a:txBody>
                  <a:tcPr marL="91440" marR="91440" marT="45720" marB="45720">
                    <a:lnR w="4763">
                      <a:solidFill>
                        <a:srgbClr val="DAD5E4"/>
                      </a:solidFill>
                    </a:lnR>
                    <a:lnB w="4763">
                      <a:solidFill>
                        <a:srgbClr val="DAD5E4"/>
                      </a:solidFill>
                    </a:lnB>
                    <a:solidFill>
                      <a:srgbClr val="F3EFF7"/>
                    </a:solidFill>
                  </a:tcPr>
                </a:tc>
                <a:tc>
                  <a:txBody>
                    <a:bodyPr/>
                    <a:lstStyle/>
                    <a:p>
                      <a:r>
                        <a:rPr sz="1950" b="0">
                          <a:solidFill>
                            <a:srgbClr val="25233E"/>
                          </a:solidFill>
                          <a:latin typeface="Arial"/>
                          <a:ea typeface="Arial"/>
                          <a:cs typeface="Arial"/>
                        </a:rPr>
                        <a:t>6.753</a:t>
                      </a:r>
                    </a:p>
                  </a:txBody>
                  <a:tcPr marL="91440" marR="91440" marT="45720" marB="45720">
                    <a:lnR w="4763">
                      <a:solidFill>
                        <a:srgbClr val="DAD5E4"/>
                      </a:solidFill>
                    </a:lnR>
                    <a:lnB w="4763">
                      <a:solidFill>
                        <a:srgbClr val="DAD5E4"/>
                      </a:solidFill>
                    </a:lnB>
                    <a:solidFill>
                      <a:srgbClr val="F3EFF7"/>
                    </a:solidFill>
                  </a:tcPr>
                </a:tc>
                <a:tc>
                  <a:txBody>
                    <a:bodyPr/>
                    <a:lstStyle/>
                    <a:p>
                      <a:r>
                        <a:rPr sz="1950" b="0">
                          <a:solidFill>
                            <a:srgbClr val="25233E"/>
                          </a:solidFill>
                          <a:latin typeface="Arial"/>
                          <a:ea typeface="Arial"/>
                          <a:cs typeface="Arial"/>
                        </a:rPr>
                        <a:t>3.616</a:t>
                      </a:r>
                    </a:p>
                  </a:txBody>
                  <a:tcPr marL="91440" marR="91440" marT="45720" marB="45720">
                    <a:lnR w="4763">
                      <a:solidFill>
                        <a:srgbClr val="DAD5E4"/>
                      </a:solidFill>
                    </a:lnR>
                    <a:lnB w="4763">
                      <a:solidFill>
                        <a:srgbClr val="DAD5E4"/>
                      </a:solidFill>
                    </a:lnB>
                    <a:solidFill>
                      <a:srgbClr val="F3EFF7"/>
                    </a:solidFill>
                  </a:tcPr>
                </a:tc>
              </a:tr>
              <a:tr h="990600">
                <a:tc>
                  <a:txBody>
                    <a:bodyPr/>
                    <a:lstStyle/>
                    <a:p>
                      <a:r>
                        <a:rPr sz="1950" b="0">
                          <a:solidFill>
                            <a:srgbClr val="25233E"/>
                          </a:solidFill>
                          <a:latin typeface="Arial"/>
                          <a:ea typeface="Arial"/>
                          <a:cs typeface="Arial"/>
                        </a:rPr>
                        <a:t>Random forest</a:t>
                      </a:r>
                    </a:p>
                  </a:txBody>
                  <a:tcPr marL="91440" marR="91440" marT="45720" marB="45720">
                    <a:lnL w="4763">
                      <a:solidFill>
                        <a:srgbClr val="DAD5E4"/>
                      </a:solidFill>
                    </a:lnL>
                    <a:lnR w="4763">
                      <a:solidFill>
                        <a:srgbClr val="DAD5E4"/>
                      </a:solidFill>
                    </a:lnR>
                    <a:lnB w="4763">
                      <a:solidFill>
                        <a:srgbClr val="DAD5E4"/>
                      </a:solidFill>
                    </a:lnB>
                    <a:solidFill>
                      <a:srgbClr val="FCFAF6"/>
                    </a:solidFill>
                  </a:tcPr>
                </a:tc>
                <a:tc>
                  <a:txBody>
                    <a:bodyPr/>
                    <a:lstStyle/>
                    <a:p>
                      <a:r>
                        <a:rPr sz="1950" b="0">
                          <a:solidFill>
                            <a:srgbClr val="25233E"/>
                          </a:solidFill>
                          <a:latin typeface="Arial"/>
                          <a:ea typeface="Arial"/>
                          <a:cs typeface="Arial"/>
                        </a:rPr>
                        <a:t>Average predictions from 100 decision trees. Minimum leaf size = 5 limits very small rules.</a:t>
                      </a:r>
                    </a:p>
                  </a:txBody>
                  <a:tcPr marL="91440" marR="91440" marT="45720" marB="45720">
                    <a:lnR w="4763">
                      <a:solidFill>
                        <a:srgbClr val="DAD5E4"/>
                      </a:solidFill>
                    </a:lnR>
                    <a:lnB w="4763">
                      <a:solidFill>
                        <a:srgbClr val="DAD5E4"/>
                      </a:solidFill>
                    </a:lnB>
                    <a:solidFill>
                      <a:srgbClr val="FCFAF6"/>
                    </a:solidFill>
                  </a:tcPr>
                </a:tc>
                <a:tc>
                  <a:txBody>
                    <a:bodyPr/>
                    <a:lstStyle/>
                    <a:p>
                      <a:r>
                        <a:rPr sz="1950" b="0">
                          <a:solidFill>
                            <a:srgbClr val="25233E"/>
                          </a:solidFill>
                          <a:latin typeface="Arial"/>
                          <a:ea typeface="Arial"/>
                          <a:cs typeface="Arial"/>
                        </a:rPr>
                        <a:t>10.098</a:t>
                      </a:r>
                    </a:p>
                  </a:txBody>
                  <a:tcPr marL="91440" marR="91440" marT="45720" marB="45720">
                    <a:lnR w="4763">
                      <a:solidFill>
                        <a:srgbClr val="DAD5E4"/>
                      </a:solidFill>
                    </a:lnR>
                    <a:lnB w="4763">
                      <a:solidFill>
                        <a:srgbClr val="DAD5E4"/>
                      </a:solidFill>
                    </a:lnB>
                    <a:solidFill>
                      <a:srgbClr val="FCFAF6"/>
                    </a:solidFill>
                  </a:tcPr>
                </a:tc>
                <a:tc>
                  <a:txBody>
                    <a:bodyPr/>
                    <a:lstStyle/>
                    <a:p>
                      <a:r>
                        <a:rPr sz="1950" b="0">
                          <a:solidFill>
                            <a:srgbClr val="25233E"/>
                          </a:solidFill>
                          <a:latin typeface="Arial"/>
                          <a:ea typeface="Arial"/>
                          <a:cs typeface="Arial"/>
                        </a:rPr>
                        <a:t>6.738</a:t>
                      </a:r>
                    </a:p>
                  </a:txBody>
                  <a:tcPr marL="91440" marR="91440" marT="45720" marB="45720">
                    <a:lnR w="4763">
                      <a:solidFill>
                        <a:srgbClr val="DAD5E4"/>
                      </a:solidFill>
                    </a:lnR>
                    <a:lnB w="4763">
                      <a:solidFill>
                        <a:srgbClr val="DAD5E4"/>
                      </a:solidFill>
                    </a:lnB>
                    <a:solidFill>
                      <a:srgbClr val="FCFAF6"/>
                    </a:solidFill>
                  </a:tcPr>
                </a:tc>
                <a:tc>
                  <a:txBody>
                    <a:bodyPr/>
                    <a:lstStyle/>
                    <a:p>
                      <a:r>
                        <a:rPr sz="1950" b="0">
                          <a:solidFill>
                            <a:srgbClr val="25233E"/>
                          </a:solidFill>
                          <a:latin typeface="Arial"/>
                          <a:ea typeface="Arial"/>
                          <a:cs typeface="Arial"/>
                        </a:rPr>
                        <a:t>3.640</a:t>
                      </a:r>
                    </a:p>
                  </a:txBody>
                  <a:tcPr marL="91440" marR="91440" marT="45720" marB="45720">
                    <a:lnR w="4763">
                      <a:solidFill>
                        <a:srgbClr val="DAD5E4"/>
                      </a:solidFill>
                    </a:lnR>
                    <a:lnB w="4763">
                      <a:solidFill>
                        <a:srgbClr val="DAD5E4"/>
                      </a:solidFill>
                    </a:lnB>
                    <a:solidFill>
                      <a:srgbClr val="FCFAF6"/>
                    </a:solidFill>
                  </a:tcPr>
                </a:tc>
              </a:tr>
              <a:tr h="990600">
                <a:tc>
                  <a:txBody>
                    <a:bodyPr/>
                    <a:lstStyle/>
                    <a:p>
                      <a:r>
                        <a:rPr sz="1950" b="0">
                          <a:solidFill>
                            <a:srgbClr val="25233E"/>
                          </a:solidFill>
                          <a:latin typeface="Arial"/>
                          <a:ea typeface="Arial"/>
                          <a:cs typeface="Arial"/>
                        </a:rPr>
                        <a:t>Gradient boosting</a:t>
                      </a:r>
                    </a:p>
                  </a:txBody>
                  <a:tcPr marL="91440" marR="91440" marT="45720" marB="45720">
                    <a:lnL w="4763">
                      <a:solidFill>
                        <a:srgbClr val="DAD5E4"/>
                      </a:solidFill>
                    </a:lnL>
                    <a:lnR w="4763">
                      <a:solidFill>
                        <a:srgbClr val="DAD5E4"/>
                      </a:solidFill>
                    </a:lnR>
                    <a:lnB w="4763">
                      <a:solidFill>
                        <a:srgbClr val="DAD5E4"/>
                      </a:solidFill>
                    </a:lnB>
                    <a:solidFill>
                      <a:srgbClr val="F3EFF7"/>
                    </a:solidFill>
                  </a:tcPr>
                </a:tc>
                <a:tc>
                  <a:txBody>
                    <a:bodyPr/>
                    <a:lstStyle/>
                    <a:p>
                      <a:r>
                        <a:rPr sz="1950" b="0">
                          <a:solidFill>
                            <a:srgbClr val="25233E"/>
                          </a:solidFill>
                          <a:latin typeface="Arial"/>
                          <a:ea typeface="Arial"/>
                          <a:cs typeface="Arial"/>
                        </a:rPr>
                        <a:t>Build trees that correct earlier errors. 200 iterations, learning rate 0.05, 15 leaves. Early stopping off.</a:t>
                      </a:r>
                    </a:p>
                  </a:txBody>
                  <a:tcPr marL="91440" marR="91440" marT="45720" marB="45720">
                    <a:lnR w="4763">
                      <a:solidFill>
                        <a:srgbClr val="DAD5E4"/>
                      </a:solidFill>
                    </a:lnR>
                    <a:lnB w="4763">
                      <a:solidFill>
                        <a:srgbClr val="DAD5E4"/>
                      </a:solidFill>
                    </a:lnB>
                    <a:solidFill>
                      <a:srgbClr val="F3EFF7"/>
                    </a:solidFill>
                  </a:tcPr>
                </a:tc>
                <a:tc>
                  <a:txBody>
                    <a:bodyPr/>
                    <a:lstStyle/>
                    <a:p>
                      <a:r>
                        <a:rPr sz="1950" b="0">
                          <a:solidFill>
                            <a:srgbClr val="25233E"/>
                          </a:solidFill>
                          <a:latin typeface="Arial"/>
                          <a:ea typeface="Arial"/>
                          <a:cs typeface="Arial"/>
                        </a:rPr>
                        <a:t>10.490</a:t>
                      </a:r>
                    </a:p>
                  </a:txBody>
                  <a:tcPr marL="91440" marR="91440" marT="45720" marB="45720">
                    <a:lnR w="4763">
                      <a:solidFill>
                        <a:srgbClr val="DAD5E4"/>
                      </a:solidFill>
                    </a:lnR>
                    <a:lnB w="4763">
                      <a:solidFill>
                        <a:srgbClr val="DAD5E4"/>
                      </a:solidFill>
                    </a:lnB>
                    <a:solidFill>
                      <a:srgbClr val="F3EFF7"/>
                    </a:solidFill>
                  </a:tcPr>
                </a:tc>
                <a:tc>
                  <a:txBody>
                    <a:bodyPr/>
                    <a:lstStyle/>
                    <a:p>
                      <a:r>
                        <a:rPr sz="1950" b="0">
                          <a:solidFill>
                            <a:srgbClr val="25233E"/>
                          </a:solidFill>
                          <a:latin typeface="Arial"/>
                          <a:ea typeface="Arial"/>
                          <a:cs typeface="Arial"/>
                        </a:rPr>
                        <a:t>6.502</a:t>
                      </a:r>
                    </a:p>
                  </a:txBody>
                  <a:tcPr marL="91440" marR="91440" marT="45720" marB="45720">
                    <a:lnR w="4763">
                      <a:solidFill>
                        <a:srgbClr val="DAD5E4"/>
                      </a:solidFill>
                    </a:lnR>
                    <a:lnB w="4763">
                      <a:solidFill>
                        <a:srgbClr val="DAD5E4"/>
                      </a:solidFill>
                    </a:lnB>
                    <a:solidFill>
                      <a:srgbClr val="F3EFF7"/>
                    </a:solidFill>
                  </a:tcPr>
                </a:tc>
                <a:tc>
                  <a:txBody>
                    <a:bodyPr/>
                    <a:lstStyle/>
                    <a:p>
                      <a:r>
                        <a:rPr sz="1950" b="0">
                          <a:solidFill>
                            <a:srgbClr val="25233E"/>
                          </a:solidFill>
                          <a:latin typeface="Arial"/>
                          <a:ea typeface="Arial"/>
                          <a:cs typeface="Arial"/>
                        </a:rPr>
                        <a:t>3.615</a:t>
                      </a:r>
                    </a:p>
                  </a:txBody>
                  <a:tcPr marL="91440" marR="91440" marT="45720" marB="45720">
                    <a:lnR w="4763">
                      <a:solidFill>
                        <a:srgbClr val="DAD5E4"/>
                      </a:solidFill>
                    </a:lnR>
                    <a:lnB w="4763">
                      <a:solidFill>
                        <a:srgbClr val="DAD5E4"/>
                      </a:solidFill>
                    </a:lnB>
                    <a:solidFill>
                      <a:srgbClr val="F3EFF7"/>
                    </a:solidFill>
                  </a:tcPr>
                </a:tc>
              </a:tr>
            </a:tbl>
          </a:graphicData>
        </a:graphic>
      </p:graphicFrame>
      <p:sp>
        <p:nvSpPr>
          <p:cNvPr id="6" name="">
            <a:extLst>
              <a:ext uri="{FF2B5EF4-FFF2-40B4-BE49-F238E27FC236}">
                <ns2:creationId id="{94C27FA3-D25D-48CA-90BD-FAF98CFFA5DF}"/>
              </a:ext>
            </a:extLst>
          </p:cNvPr>
          <p:cNvSpPr>
            <a:spLocks noGrp="1"/>
          </p:cNvSpPr>
          <p:nvPr/>
        </p:nvSpPr>
        <p:spPr>
          <a:xfrm>
            <a:off x="647700" y="6924675"/>
            <a:ext cx="13811250" cy="419100"/>
          </a:xfrm>
          <a:prstGeom prst="rect">
            <a:avLst/>
          </a:prstGeom>
          <a:noFill/>
          <a:ln w="0">
            <a:noFill/>
          </a:ln>
        </p:spPr>
        <p:txBody>
          <a:bodyPr/>
          <a:lstStyle>
            <a:defPPr>
              <a:defRPr sz="2325" b="1">
                <a:solidFill>
                  <a:srgbClr val="007F82"/>
                </a:solidFill>
                <a:latin typeface="Arial"/>
                <a:ea typeface="Arial"/>
                <a:cs typeface="Arial"/>
              </a:defRPr>
            </a:defPPr>
          </a:lstStyle>
          <a:p>
            <a:pPr>
              <a:defRPr sz="2325" b="1">
                <a:solidFill>
                  <a:srgbClr val="007F82"/>
                </a:solidFill>
                <a:latin typeface="Arial"/>
                <a:ea typeface="Arial"/>
                <a:cs typeface="Arial"/>
              </a:defRPr>
            </a:pPr>
            <a:r>
              <a:rPr sz="2325" b="1">
                <a:solidFill>
                  <a:srgbClr val="007F82"/>
                </a:solidFill>
                <a:latin typeface="Arial"/>
                <a:ea typeface="Arial"/>
                <a:cs typeface="Arial"/>
              </a:rPr>
              <a:t>Selection outcome</a:t>
            </a:r>
          </a:p>
        </p:txBody>
      </p:sp>
      <p:sp>
        <p:nvSpPr>
          <p:cNvPr id="7" name="">
            <a:extLst>
              <a:ext uri="{FF2B5EF4-FFF2-40B4-BE49-F238E27FC236}">
                <ns2:creationId id="{965B7A39-083D-4CAB-A698-FABC5941E5D5}"/>
              </a:ext>
            </a:extLst>
          </p:cNvPr>
          <p:cNvSpPr>
            <a:spLocks noGrp="1"/>
          </p:cNvSpPr>
          <p:nvPr/>
        </p:nvSpPr>
        <p:spPr>
          <a:xfrm>
            <a:off x="647700" y="7372350"/>
            <a:ext cx="13811250" cy="733425"/>
          </a:xfrm>
          <a:prstGeom prst="rect">
            <a:avLst/>
          </a:prstGeom>
          <a:noFill/>
          <a:ln w="0">
            <a:noFill/>
          </a:ln>
        </p:spPr>
        <p:txBody>
          <a:bodyPr/>
          <a:lstStyle>
            <a:defPPr>
              <a:defRPr sz="2025" b="0">
                <a:solidFill>
                  <a:srgbClr val="25233E"/>
                </a:solidFill>
                <a:latin typeface="Arial"/>
                <a:ea typeface="Arial"/>
                <a:cs typeface="Arial"/>
              </a:defRPr>
            </a:defPPr>
          </a:lstStyle>
          <a:p>
            <a:pPr>
              <a:defRPr sz="2025" b="0">
                <a:solidFill>
                  <a:srgbClr val="25233E"/>
                </a:solidFill>
                <a:latin typeface="Arial"/>
                <a:ea typeface="Arial"/>
                <a:cs typeface="Arial"/>
              </a:defRPr>
            </a:pPr>
            <a:r>
              <a:rPr sz="2025" b="0">
                <a:solidFill>
                  <a:srgbClr val="25233E"/>
                </a:solidFill>
                <a:latin typeface="Arial"/>
                <a:ea typeface="Arial"/>
                <a:cs typeface="Arial"/>
              </a:rPr>
              <a:t>Ridge wins A. Gradient boosting wins B and C. Errors are in minutes. C’s boosting and Ridge differ by only 0.0014 minute before rounding, so the selected winner has no demonstrated significant advantage.</a:t>
            </a:r>
          </a:p>
        </p:txBody>
      </p:sp>
    </p:spTree>
    <p:extLst>
      <p:ext uri="{BB962C8B-B14F-4D97-AF65-F5344CB8AC3E}">
        <ns3:creationId val="2064334764"/>
      </p:ext>
    </p:extLst>
  </p:cSld>
  <p:transition spd="med"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400"/>
                                        <p:tgtEl>
                                          <p:spTgt spid="5"/>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4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ns2="http://schemas.microsoft.com/office/drawing/2014/main" xmlns:ns3="http://schemas.openxmlformats.org/drawingml/2006/chart" xmlns:ns5="http://schemas.microsoft.com/office/powerpoint/2010/main" xmlns:p="http://schemas.openxmlformats.org/presentationml/2006/main" xmlns:r="http://schemas.openxmlformats.org/officeDocument/2006/relationships">
  <p:cSld>
    <p:bg>
      <p:bgPr>
        <a:solidFill>
          <a:srgbClr val="FCFAF6"/>
        </a:solidFill>
      </p:bgPr>
    </p:bg>
    <p:spTree>
      <p:nvGrpSpPr>
        <p:cNvPr id="1" name=""/>
        <p:cNvGrpSpPr/>
        <p:nvPr/>
      </p:nvGrpSpPr>
      <p:grpSpPr>
        <a:xfrm/>
      </p:grpSpPr>
      <p:sp>
        <p:nvSpPr>
          <p:cNvPr id="13" name="">
            <a:extLst>
              <a:ext uri="{FF2B5EF4-FFF2-40B4-BE49-F238E27FC236}">
                <ns2:creationId id="{9099FA03-F821-4941-81F4-01B3F4D4C81A}"/>
              </a:ext>
            </a:extLst>
          </p:cNvPr>
          <p:cNvSpPr>
            <a:spLocks noGrp="1"/>
          </p:cNvSpPr>
          <p:nvPr/>
        </p:nvSpPr>
        <p:spPr>
          <a:xfrm>
            <a:off x="609600" y="266700"/>
            <a:ext cx="13525500" cy="285750"/>
          </a:xfrm>
          <a:prstGeom prst="rect">
            <a:avLst/>
          </a:prstGeom>
          <a:noFill/>
          <a:ln w="0">
            <a:noFill/>
          </a:ln>
        </p:spPr>
        <p:txBody>
          <a:bodyPr/>
          <a:lstStyle>
            <a:defPPr>
              <a:defRPr sz="1425" b="1">
                <a:solidFill>
                  <a:srgbClr val="6246A4"/>
                </a:solidFill>
                <a:latin typeface="Arial"/>
                <a:ea typeface="Arial"/>
                <a:cs typeface="Arial"/>
              </a:defRPr>
            </a:defPPr>
          </a:lstStyle>
          <a:p>
            <a:pPr>
              <a:defRPr sz="1425" b="1">
                <a:solidFill>
                  <a:srgbClr val="6246A4"/>
                </a:solidFill>
                <a:latin typeface="Arial"/>
                <a:ea typeface="Arial"/>
                <a:cs typeface="Arial"/>
              </a:defRPr>
            </a:pPr>
            <a:r>
              <a:rPr sz="1425" b="1">
                <a:solidFill>
                  <a:srgbClr val="6246A4"/>
                </a:solidFill>
                <a:latin typeface="Arial"/>
                <a:ea typeface="Arial"/>
                <a:cs typeface="Arial"/>
              </a:rPr>
              <a:t>KDD 5 / EVALUATION</a:t>
            </a:r>
          </a:p>
        </p:txBody>
      </p:sp>
      <p:sp>
        <p:nvSpPr>
          <p:cNvPr id="2" name="">
            <a:extLst>
              <a:ext uri="{FF2B5EF4-FFF2-40B4-BE49-F238E27FC236}">
                <ns2:creationId id="{F5EEBB37-CCDD-4318-A86F-1F737FB2BACE}"/>
              </a:ext>
            </a:extLst>
          </p:cNvPr>
          <p:cNvSpPr>
            <a:spLocks noGrp="1"/>
          </p:cNvSpPr>
          <p:nvPr/>
        </p:nvSpPr>
        <p:spPr>
          <a:xfrm>
            <a:off x="609600" y="704850"/>
            <a:ext cx="14020800" cy="895350"/>
          </a:xfrm>
          <a:prstGeom prst="rect">
            <a:avLst/>
          </a:prstGeom>
          <a:noFill/>
          <a:ln w="0">
            <a:noFill/>
          </a:ln>
        </p:spPr>
        <p:txBody>
          <a:bodyPr/>
          <a:lstStyle>
            <a:defPPr>
              <a:defRPr sz="3600" b="1">
                <a:solidFill>
                  <a:srgbClr val="25233E"/>
                </a:solidFill>
                <a:latin typeface="Arial"/>
                <a:ea typeface="Arial"/>
                <a:cs typeface="Arial"/>
              </a:defRPr>
            </a:defPPr>
          </a:lstStyle>
          <a:p>
            <a:pPr>
              <a:defRPr sz="3600" b="1">
                <a:solidFill>
                  <a:srgbClr val="25233E"/>
                </a:solidFill>
                <a:latin typeface="Arial"/>
                <a:ea typeface="Arial"/>
                <a:cs typeface="Arial"/>
              </a:defRPr>
            </a:pPr>
            <a:r>
              <a:rPr sz="3600" b="1">
                <a:solidFill>
                  <a:srgbClr val="25233E"/>
                </a:solidFill>
                <a:latin typeface="Arial"/>
                <a:ea typeface="Arial"/>
                <a:cs typeface="Arial"/>
              </a:rPr>
              <a:t>Test results and their practical meaning</a:t>
            </a:r>
          </a:p>
        </p:txBody>
      </p:sp>
      <p:sp>
        <p:nvSpPr>
          <p:cNvPr id="3" name="">
            <a:extLst>
              <a:ext uri="{FF2B5EF4-FFF2-40B4-BE49-F238E27FC236}">
                <ns2:creationId id="{E72658A9-1819-4503-B75D-1172C20BF18B}"/>
              </a:ext>
            </a:extLst>
          </p:cNvPr>
          <p:cNvSpPr>
            <a:spLocks noGrp="1"/>
          </p:cNvSpPr>
          <p:nvPr/>
        </p:nvSpPr>
        <p:spPr>
          <a:xfrm>
            <a:off x="609600" y="8220075"/>
            <a:ext cx="12858750" cy="219075"/>
          </a:xfrm>
          <a:prstGeom prst="rect">
            <a:avLst/>
          </a:prstGeom>
          <a:noFill/>
          <a:ln w="0">
            <a:noFill/>
          </a:ln>
        </p:spPr>
        <p:txBody>
          <a:bodyPr/>
          <a:lstStyle>
            <a:defPPr>
              <a:defRPr sz="1125" b="0">
                <a:solidFill>
                  <a:srgbClr val="5C5C70"/>
                </a:solidFill>
                <a:latin typeface="Arial"/>
                <a:ea typeface="Arial"/>
                <a:cs typeface="Arial"/>
              </a:defRPr>
            </a:defPPr>
          </a:lstStyle>
          <a:p>
            <a:pPr>
              <a:defRPr sz="1125" b="0">
                <a:solidFill>
                  <a:srgbClr val="5C5C70"/>
                </a:solidFill>
                <a:latin typeface="Arial"/>
                <a:ea typeface="Arial"/>
                <a:cs typeface="Arial"/>
              </a:defRPr>
            </a:pPr>
            <a:r>
              <a:rPr sz="1125" b="0">
                <a:solidFill>
                  <a:srgbClr val="5C5C70"/>
                </a:solidFill>
                <a:latin typeface="Arial"/>
                <a:ea typeface="Arial"/>
                <a:cs typeface="Arial"/>
              </a:rPr>
              <a:t>AADITI GAIKWAD   /   PREDICTIVE ANALYTICS</a:t>
            </a:r>
          </a:p>
        </p:txBody>
      </p:sp>
      <p:sp>
        <p:nvSpPr>
          <p:cNvPr id="4" name="">
            <a:extLst>
              <a:ext uri="{FF2B5EF4-FFF2-40B4-BE49-F238E27FC236}">
                <ns2:creationId id="{011D9B8C-6441-4A29-A1B8-8BDF14B237EF}"/>
              </a:ext>
            </a:extLst>
          </p:cNvPr>
          <p:cNvSpPr>
            <a:spLocks noGrp="1"/>
          </p:cNvSpPr>
          <p:nvPr/>
        </p:nvSpPr>
        <p:spPr>
          <a:xfrm>
            <a:off x="14144625" y="8172450"/>
            <a:ext cx="571500" cy="276225"/>
          </a:xfrm>
          <a:prstGeom prst="rect">
            <a:avLst/>
          </a:prstGeom>
          <a:noFill/>
          <a:ln w="0">
            <a:noFill/>
          </a:ln>
        </p:spPr>
        <p:txBody>
          <a:bodyPr/>
          <a:lstStyle>
            <a:defPPr>
              <a:defRPr sz="1500" b="1">
                <a:solidFill>
                  <a:srgbClr val="6246A4"/>
                </a:solidFill>
                <a:latin typeface="Arial"/>
                <a:ea typeface="Arial"/>
                <a:cs typeface="Arial"/>
              </a:defRPr>
            </a:defPPr>
          </a:lstStyle>
          <a:p>
            <a:pPr>
              <a:defRPr sz="1500" b="1">
                <a:solidFill>
                  <a:srgbClr val="6246A4"/>
                </a:solidFill>
                <a:latin typeface="Arial"/>
                <a:ea typeface="Arial"/>
                <a:cs typeface="Arial"/>
              </a:defRPr>
            </a:pPr>
            <a:r>
              <a:rPr sz="1500" b="1">
                <a:solidFill>
                  <a:srgbClr val="6246A4"/>
                </a:solidFill>
                <a:latin typeface="Arial"/>
                <a:ea typeface="Arial"/>
                <a:cs typeface="Arial"/>
              </a:rPr>
              <a:t>08</a:t>
            </a:r>
          </a:p>
        </p:txBody>
      </p:sp>
      <p:sp>
        <p:nvSpPr>
          <p:cNvPr id="5" name="">
            <a:extLst>
              <a:ext uri="{FF2B5EF4-FFF2-40B4-BE49-F238E27FC236}">
                <ns2:creationId id="{A2FFFA54-3F8A-4B96-A571-53D2D5DD8127}"/>
              </a:ext>
            </a:extLst>
          </p:cNvPr>
          <p:cNvSpPr>
            <a:spLocks noGrp="1"/>
          </p:cNvSpPr>
          <p:nvPr/>
        </p:nvSpPr>
        <p:spPr>
          <a:xfrm>
            <a:off x="647700" y="1695450"/>
            <a:ext cx="7429500" cy="419100"/>
          </a:xfrm>
          <a:prstGeom prst="rect">
            <a:avLst/>
          </a:prstGeom>
          <a:noFill/>
          <a:ln w="0">
            <a:noFill/>
          </a:ln>
        </p:spPr>
        <p:txBody>
          <a:bodyPr/>
          <a:lstStyle>
            <a:defPPr>
              <a:defRPr sz="2325" b="1">
                <a:solidFill>
                  <a:srgbClr val="007F82"/>
                </a:solidFill>
                <a:latin typeface="Arial"/>
                <a:ea typeface="Arial"/>
                <a:cs typeface="Arial"/>
              </a:defRPr>
            </a:defPPr>
          </a:lstStyle>
          <a:p>
            <a:pPr>
              <a:defRPr sz="2325" b="1">
                <a:solidFill>
                  <a:srgbClr val="007F82"/>
                </a:solidFill>
                <a:latin typeface="Arial"/>
                <a:ea typeface="Arial"/>
                <a:cs typeface="Arial"/>
              </a:defRPr>
            </a:pPr>
            <a:r>
              <a:rPr sz="2325" b="1">
                <a:solidFill>
                  <a:srgbClr val="007F82"/>
                </a:solidFill>
                <a:latin typeface="Arial"/>
                <a:ea typeface="Arial"/>
                <a:cs typeface="Arial"/>
              </a:rPr>
              <a:t>Average absolute error (minutes)</a:t>
            </a:r>
          </a:p>
        </p:txBody>
      </p:sp>
      <p:graphicFrame>
        <p:nvGraphicFramePr>
          <p:cNvPr id="6" name="Chart">
            <a:extLst>
              <a:ext uri="{FF2B5EF4-FFF2-40B4-BE49-F238E27FC236}">
                <ns2:creationId id="{66494CA1-B785-4FF5-AB8C-8D14E060D376}"/>
              </a:ext>
            </a:extLst>
          </p:cNvPr>
          <p:cNvGraphicFramePr/>
          <p:nvPr/>
        </p:nvGraphicFramePr>
        <p:xfrm>
          <a:off x="571500" y="2238375"/>
          <a:ext cx="7620000" cy="3476625"/>
        </p:xfrm>
        <a:graphic>
          <a:graphicData uri="http://schemas.openxmlformats.org/drawingml/2006/chart">
            <ns3:chart r:id="R92debd22cbf943ec"/>
          </a:graphicData>
        </a:graphic>
      </p:graphicFrame>
      <p:graphicFrame>
        <p:nvGraphicFramePr>
          <p:cNvPr id="7" name="">
            <a:extLst>
              <a:ext uri="{FF2B5EF4-FFF2-40B4-BE49-F238E27FC236}">
                <ns2:creationId id="{10C52110-C375-4786-BECF-4E251D420083}"/>
              </a:ext>
            </a:extLst>
          </p:cNvPr>
          <p:cNvGraphicFramePr/>
          <p:nvPr/>
        </p:nvGraphicFramePr>
        <p:xfrm>
          <a:off x="8572500" y="2295525"/>
          <a:ext cx="6000750" cy="2552700"/>
        </p:xfrm>
        <a:graphic>
          <a:graphicData uri="http://schemas.openxmlformats.org/drawingml/2006/table">
            <a:tbl>
              <a:tblPr/>
              <a:tblGrid>
                <a:gridCol w="2667000"/>
                <a:gridCol w="1095375"/>
                <a:gridCol w="1095375"/>
                <a:gridCol w="1143000"/>
              </a:tblGrid>
              <a:tr h="638175">
                <a:tc>
                  <a:txBody>
                    <a:bodyPr/>
                    <a:lstStyle/>
                    <a:p>
                      <a:r>
                        <a:rPr sz="1875" b="1">
                          <a:solidFill>
                            <a:srgbClr val="25233E"/>
                          </a:solidFill>
                          <a:latin typeface="Arial"/>
                          <a:ea typeface="Arial"/>
                          <a:cs typeface="Arial"/>
                        </a:rPr>
                        <a:t>Selected model</a:t>
                      </a:r>
                    </a:p>
                  </a:txBody>
                  <a:tcPr marL="91440" marR="91440" marT="45720" marB="45720">
                    <a:lnL w="4763">
                      <a:solidFill>
                        <a:srgbClr val="DAD5E4"/>
                      </a:solidFill>
                    </a:lnL>
                    <a:lnR w="4763">
                      <a:solidFill>
                        <a:srgbClr val="DAD5E4"/>
                      </a:solidFill>
                    </a:lnR>
                    <a:lnT w="4763">
                      <a:solidFill>
                        <a:srgbClr val="DAD5E4"/>
                      </a:solidFill>
                    </a:lnT>
                    <a:lnB w="4763">
                      <a:solidFill>
                        <a:srgbClr val="DAD5E4"/>
                      </a:solidFill>
                    </a:lnB>
                    <a:solidFill>
                      <a:srgbClr val="E9E2F2"/>
                    </a:solidFill>
                  </a:tcPr>
                </a:tc>
                <a:tc>
                  <a:txBody>
                    <a:bodyPr/>
                    <a:lstStyle/>
                    <a:p>
                      <a:r>
                        <a:rPr sz="1875" b="1">
                          <a:solidFill>
                            <a:srgbClr val="25233E"/>
                          </a:solidFill>
                          <a:latin typeface="Arial"/>
                          <a:ea typeface="Arial"/>
                          <a:cs typeface="Arial"/>
                        </a:rPr>
                        <a:t>MAE</a:t>
                      </a:r>
                    </a:p>
                  </a:txBody>
                  <a:tcPr marL="91440" marR="91440" marT="45720" marB="45720">
                    <a:lnR w="4763">
                      <a:solidFill>
                        <a:srgbClr val="DAD5E4"/>
                      </a:solidFill>
                    </a:lnR>
                    <a:lnT w="4763">
                      <a:solidFill>
                        <a:srgbClr val="DAD5E4"/>
                      </a:solidFill>
                    </a:lnT>
                    <a:lnB w="4763">
                      <a:solidFill>
                        <a:srgbClr val="DAD5E4"/>
                      </a:solidFill>
                    </a:lnB>
                    <a:solidFill>
                      <a:srgbClr val="E9E2F2"/>
                    </a:solidFill>
                  </a:tcPr>
                </a:tc>
                <a:tc>
                  <a:txBody>
                    <a:bodyPr/>
                    <a:lstStyle/>
                    <a:p>
                      <a:r>
                        <a:rPr sz="1875" b="1">
                          <a:solidFill>
                            <a:srgbClr val="25233E"/>
                          </a:solidFill>
                          <a:latin typeface="Arial"/>
                          <a:ea typeface="Arial"/>
                          <a:cs typeface="Arial"/>
                        </a:rPr>
                        <a:t>RMSE</a:t>
                      </a:r>
                    </a:p>
                  </a:txBody>
                  <a:tcPr marL="91440" marR="91440" marT="45720" marB="45720">
                    <a:lnR w="4763">
                      <a:solidFill>
                        <a:srgbClr val="DAD5E4"/>
                      </a:solidFill>
                    </a:lnR>
                    <a:lnT w="4763">
                      <a:solidFill>
                        <a:srgbClr val="DAD5E4"/>
                      </a:solidFill>
                    </a:lnT>
                    <a:lnB w="4763">
                      <a:solidFill>
                        <a:srgbClr val="DAD5E4"/>
                      </a:solidFill>
                    </a:lnB>
                    <a:solidFill>
                      <a:srgbClr val="E9E2F2"/>
                    </a:solidFill>
                  </a:tcPr>
                </a:tc>
                <a:tc>
                  <a:txBody>
                    <a:bodyPr/>
                    <a:lstStyle/>
                    <a:p>
                      <a:r>
                        <a:rPr sz="1875" b="1">
                          <a:solidFill>
                            <a:srgbClr val="25233E"/>
                          </a:solidFill>
                          <a:latin typeface="Arial"/>
                          <a:ea typeface="Arial"/>
                          <a:cs typeface="Arial"/>
                        </a:rPr>
                        <a:t>R²</a:t>
                      </a:r>
                    </a:p>
                  </a:txBody>
                  <a:tcPr marL="91440" marR="91440" marT="45720" marB="45720">
                    <a:lnR w="4763">
                      <a:solidFill>
                        <a:srgbClr val="DAD5E4"/>
                      </a:solidFill>
                    </a:lnR>
                    <a:lnT w="4763">
                      <a:solidFill>
                        <a:srgbClr val="DAD5E4"/>
                      </a:solidFill>
                    </a:lnT>
                    <a:lnB w="4763">
                      <a:solidFill>
                        <a:srgbClr val="DAD5E4"/>
                      </a:solidFill>
                    </a:lnB>
                    <a:solidFill>
                      <a:srgbClr val="E9E2F2"/>
                    </a:solidFill>
                  </a:tcPr>
                </a:tc>
              </a:tr>
              <a:tr h="638175">
                <a:tc>
                  <a:txBody>
                    <a:bodyPr/>
                    <a:lstStyle/>
                    <a:p>
                      <a:r>
                        <a:rPr sz="1875" b="0">
                          <a:solidFill>
                            <a:srgbClr val="25233E"/>
                          </a:solidFill>
                          <a:latin typeface="Arial"/>
                          <a:ea typeface="Arial"/>
                          <a:cs typeface="Arial"/>
                        </a:rPr>
                        <a:t>A: Ridge</a:t>
                      </a:r>
                    </a:p>
                  </a:txBody>
                  <a:tcPr marL="91440" marR="91440" marT="45720" marB="45720">
                    <a:lnL w="4763">
                      <a:solidFill>
                        <a:srgbClr val="DAD5E4"/>
                      </a:solidFill>
                    </a:lnL>
                    <a:lnR w="4763">
                      <a:solidFill>
                        <a:srgbClr val="DAD5E4"/>
                      </a:solidFill>
                    </a:lnR>
                    <a:lnB w="4763">
                      <a:solidFill>
                        <a:srgbClr val="DAD5E4"/>
                      </a:solidFill>
                    </a:lnB>
                    <a:solidFill>
                      <a:srgbClr val="FCFAF6"/>
                    </a:solidFill>
                  </a:tcPr>
                </a:tc>
                <a:tc>
                  <a:txBody>
                    <a:bodyPr/>
                    <a:lstStyle/>
                    <a:p>
                      <a:r>
                        <a:rPr sz="1875" b="0">
                          <a:solidFill>
                            <a:srgbClr val="25233E"/>
                          </a:solidFill>
                          <a:latin typeface="Arial"/>
                          <a:ea typeface="Arial"/>
                          <a:cs typeface="Arial"/>
                        </a:rPr>
                        <a:t>8.57</a:t>
                      </a:r>
                    </a:p>
                  </a:txBody>
                  <a:tcPr marL="91440" marR="91440" marT="45720" marB="45720">
                    <a:lnR w="4763">
                      <a:solidFill>
                        <a:srgbClr val="DAD5E4"/>
                      </a:solidFill>
                    </a:lnR>
                    <a:lnB w="4763">
                      <a:solidFill>
                        <a:srgbClr val="DAD5E4"/>
                      </a:solidFill>
                    </a:lnB>
                    <a:solidFill>
                      <a:srgbClr val="FCFAF6"/>
                    </a:solidFill>
                  </a:tcPr>
                </a:tc>
                <a:tc>
                  <a:txBody>
                    <a:bodyPr/>
                    <a:lstStyle/>
                    <a:p>
                      <a:r>
                        <a:rPr sz="1875" b="0">
                          <a:solidFill>
                            <a:srgbClr val="25233E"/>
                          </a:solidFill>
                          <a:latin typeface="Arial"/>
                          <a:ea typeface="Arial"/>
                          <a:cs typeface="Arial"/>
                        </a:rPr>
                        <a:t>11.14</a:t>
                      </a:r>
                    </a:p>
                  </a:txBody>
                  <a:tcPr marL="91440" marR="91440" marT="45720" marB="45720">
                    <a:lnR w="4763">
                      <a:solidFill>
                        <a:srgbClr val="DAD5E4"/>
                      </a:solidFill>
                    </a:lnR>
                    <a:lnB w="4763">
                      <a:solidFill>
                        <a:srgbClr val="DAD5E4"/>
                      </a:solidFill>
                    </a:lnB>
                    <a:solidFill>
                      <a:srgbClr val="FCFAF6"/>
                    </a:solidFill>
                  </a:tcPr>
                </a:tc>
                <a:tc>
                  <a:txBody>
                    <a:bodyPr/>
                    <a:lstStyle/>
                    <a:p>
                      <a:r>
                        <a:rPr sz="1875" b="0">
                          <a:solidFill>
                            <a:srgbClr val="25233E"/>
                          </a:solidFill>
                          <a:latin typeface="Arial"/>
                          <a:ea typeface="Arial"/>
                          <a:cs typeface="Arial"/>
                        </a:rPr>
                        <a:t>0.723</a:t>
                      </a:r>
                    </a:p>
                  </a:txBody>
                  <a:tcPr marL="91440" marR="91440" marT="45720" marB="45720">
                    <a:lnR w="4763">
                      <a:solidFill>
                        <a:srgbClr val="DAD5E4"/>
                      </a:solidFill>
                    </a:lnR>
                    <a:lnB w="4763">
                      <a:solidFill>
                        <a:srgbClr val="DAD5E4"/>
                      </a:solidFill>
                    </a:lnB>
                    <a:solidFill>
                      <a:srgbClr val="FCFAF6"/>
                    </a:solidFill>
                  </a:tcPr>
                </a:tc>
              </a:tr>
              <a:tr h="638175">
                <a:tc>
                  <a:txBody>
                    <a:bodyPr/>
                    <a:lstStyle/>
                    <a:p>
                      <a:r>
                        <a:rPr sz="1875" b="0">
                          <a:solidFill>
                            <a:srgbClr val="25233E"/>
                          </a:solidFill>
                          <a:latin typeface="Arial"/>
                          <a:ea typeface="Arial"/>
                          <a:cs typeface="Arial"/>
                        </a:rPr>
                        <a:t>B: Boosting</a:t>
                      </a:r>
                    </a:p>
                  </a:txBody>
                  <a:tcPr marL="91440" marR="91440" marT="45720" marB="45720">
                    <a:lnL w="4763">
                      <a:solidFill>
                        <a:srgbClr val="DAD5E4"/>
                      </a:solidFill>
                    </a:lnL>
                    <a:lnR w="4763">
                      <a:solidFill>
                        <a:srgbClr val="DAD5E4"/>
                      </a:solidFill>
                    </a:lnR>
                    <a:lnB w="4763">
                      <a:solidFill>
                        <a:srgbClr val="DAD5E4"/>
                      </a:solidFill>
                    </a:lnB>
                    <a:solidFill>
                      <a:srgbClr val="F3EFF7"/>
                    </a:solidFill>
                  </a:tcPr>
                </a:tc>
                <a:tc>
                  <a:txBody>
                    <a:bodyPr/>
                    <a:lstStyle/>
                    <a:p>
                      <a:r>
                        <a:rPr sz="1875" b="0">
                          <a:solidFill>
                            <a:srgbClr val="25233E"/>
                          </a:solidFill>
                          <a:latin typeface="Arial"/>
                          <a:ea typeface="Arial"/>
                          <a:cs typeface="Arial"/>
                        </a:rPr>
                        <a:t>6.48</a:t>
                      </a:r>
                    </a:p>
                  </a:txBody>
                  <a:tcPr marL="91440" marR="91440" marT="45720" marB="45720">
                    <a:lnR w="4763">
                      <a:solidFill>
                        <a:srgbClr val="DAD5E4"/>
                      </a:solidFill>
                    </a:lnR>
                    <a:lnB w="4763">
                      <a:solidFill>
                        <a:srgbClr val="DAD5E4"/>
                      </a:solidFill>
                    </a:lnB>
                    <a:solidFill>
                      <a:srgbClr val="F3EFF7"/>
                    </a:solidFill>
                  </a:tcPr>
                </a:tc>
                <a:tc>
                  <a:txBody>
                    <a:bodyPr/>
                    <a:lstStyle/>
                    <a:p>
                      <a:r>
                        <a:rPr sz="1875" b="0">
                          <a:solidFill>
                            <a:srgbClr val="25233E"/>
                          </a:solidFill>
                          <a:latin typeface="Arial"/>
                          <a:ea typeface="Arial"/>
                          <a:cs typeface="Arial"/>
                        </a:rPr>
                        <a:t>8.04</a:t>
                      </a:r>
                    </a:p>
                  </a:txBody>
                  <a:tcPr marL="91440" marR="91440" marT="45720" marB="45720">
                    <a:lnR w="4763">
                      <a:solidFill>
                        <a:srgbClr val="DAD5E4"/>
                      </a:solidFill>
                    </a:lnR>
                    <a:lnB w="4763">
                      <a:solidFill>
                        <a:srgbClr val="DAD5E4"/>
                      </a:solidFill>
                    </a:lnB>
                    <a:solidFill>
                      <a:srgbClr val="F3EFF7"/>
                    </a:solidFill>
                  </a:tcPr>
                </a:tc>
                <a:tc>
                  <a:txBody>
                    <a:bodyPr/>
                    <a:lstStyle/>
                    <a:p>
                      <a:r>
                        <a:rPr sz="1875" b="0">
                          <a:solidFill>
                            <a:srgbClr val="25233E"/>
                          </a:solidFill>
                          <a:latin typeface="Arial"/>
                          <a:ea typeface="Arial"/>
                          <a:cs typeface="Arial"/>
                        </a:rPr>
                        <a:t>0.271</a:t>
                      </a:r>
                    </a:p>
                  </a:txBody>
                  <a:tcPr marL="91440" marR="91440" marT="45720" marB="45720">
                    <a:lnR w="4763">
                      <a:solidFill>
                        <a:srgbClr val="DAD5E4"/>
                      </a:solidFill>
                    </a:lnR>
                    <a:lnB w="4763">
                      <a:solidFill>
                        <a:srgbClr val="DAD5E4"/>
                      </a:solidFill>
                    </a:lnB>
                    <a:solidFill>
                      <a:srgbClr val="F3EFF7"/>
                    </a:solidFill>
                  </a:tcPr>
                </a:tc>
              </a:tr>
              <a:tr h="638175">
                <a:tc>
                  <a:txBody>
                    <a:bodyPr/>
                    <a:lstStyle/>
                    <a:p>
                      <a:r>
                        <a:rPr sz="1875" b="0">
                          <a:solidFill>
                            <a:srgbClr val="25233E"/>
                          </a:solidFill>
                          <a:latin typeface="Arial"/>
                          <a:ea typeface="Arial"/>
                          <a:cs typeface="Arial"/>
                        </a:rPr>
                        <a:t>C: Boosting</a:t>
                      </a:r>
                    </a:p>
                  </a:txBody>
                  <a:tcPr marL="91440" marR="91440" marT="45720" marB="45720">
                    <a:lnL w="4763">
                      <a:solidFill>
                        <a:srgbClr val="DAD5E4"/>
                      </a:solidFill>
                    </a:lnL>
                    <a:lnR w="4763">
                      <a:solidFill>
                        <a:srgbClr val="DAD5E4"/>
                      </a:solidFill>
                    </a:lnR>
                    <a:lnB w="4763">
                      <a:solidFill>
                        <a:srgbClr val="DAD5E4"/>
                      </a:solidFill>
                    </a:lnB>
                    <a:solidFill>
                      <a:srgbClr val="FCFAF6"/>
                    </a:solidFill>
                  </a:tcPr>
                </a:tc>
                <a:tc>
                  <a:txBody>
                    <a:bodyPr/>
                    <a:lstStyle/>
                    <a:p>
                      <a:r>
                        <a:rPr sz="1875" b="0">
                          <a:solidFill>
                            <a:srgbClr val="25233E"/>
                          </a:solidFill>
                          <a:latin typeface="Arial"/>
                          <a:ea typeface="Arial"/>
                          <a:cs typeface="Arial"/>
                        </a:rPr>
                        <a:t>3.64</a:t>
                      </a:r>
                    </a:p>
                  </a:txBody>
                  <a:tcPr marL="91440" marR="91440" marT="45720" marB="45720">
                    <a:lnR w="4763">
                      <a:solidFill>
                        <a:srgbClr val="DAD5E4"/>
                      </a:solidFill>
                    </a:lnR>
                    <a:lnB w="4763">
                      <a:solidFill>
                        <a:srgbClr val="DAD5E4"/>
                      </a:solidFill>
                    </a:lnB>
                    <a:solidFill>
                      <a:srgbClr val="FCFAF6"/>
                    </a:solidFill>
                  </a:tcPr>
                </a:tc>
                <a:tc>
                  <a:txBody>
                    <a:bodyPr/>
                    <a:lstStyle/>
                    <a:p>
                      <a:r>
                        <a:rPr sz="1875" b="0">
                          <a:solidFill>
                            <a:srgbClr val="25233E"/>
                          </a:solidFill>
                          <a:latin typeface="Arial"/>
                          <a:ea typeface="Arial"/>
                          <a:cs typeface="Arial"/>
                        </a:rPr>
                        <a:t>4.36</a:t>
                      </a:r>
                    </a:p>
                  </a:txBody>
                  <a:tcPr marL="91440" marR="91440" marT="45720" marB="45720">
                    <a:lnR w="4763">
                      <a:solidFill>
                        <a:srgbClr val="DAD5E4"/>
                      </a:solidFill>
                    </a:lnR>
                    <a:lnB w="4763">
                      <a:solidFill>
                        <a:srgbClr val="DAD5E4"/>
                      </a:solidFill>
                    </a:lnB>
                    <a:solidFill>
                      <a:srgbClr val="FCFAF6"/>
                    </a:solidFill>
                  </a:tcPr>
                </a:tc>
                <a:tc>
                  <a:txBody>
                    <a:bodyPr/>
                    <a:lstStyle/>
                    <a:p>
                      <a:r>
                        <a:rPr sz="1875" b="0">
                          <a:solidFill>
                            <a:srgbClr val="25233E"/>
                          </a:solidFill>
                          <a:latin typeface="Arial"/>
                          <a:ea typeface="Arial"/>
                          <a:cs typeface="Arial"/>
                        </a:rPr>
                        <a:t>0.242</a:t>
                      </a:r>
                    </a:p>
                  </a:txBody>
                  <a:tcPr marL="91440" marR="91440" marT="45720" marB="45720">
                    <a:lnR w="4763">
                      <a:solidFill>
                        <a:srgbClr val="DAD5E4"/>
                      </a:solidFill>
                    </a:lnR>
                    <a:lnB w="4763">
                      <a:solidFill>
                        <a:srgbClr val="DAD5E4"/>
                      </a:solidFill>
                    </a:lnB>
                    <a:solidFill>
                      <a:srgbClr val="FCFAF6"/>
                    </a:solidFill>
                  </a:tcPr>
                </a:tc>
              </a:tr>
            </a:tbl>
          </a:graphicData>
        </a:graphic>
      </p:graphicFrame>
      <p:sp>
        <p:nvSpPr>
          <p:cNvPr id="8" name="">
            <a:extLst>
              <a:ext uri="{FF2B5EF4-FFF2-40B4-BE49-F238E27FC236}">
                <ns2:creationId id="{45D024EC-932A-45DE-99B8-E67CB0979187}"/>
              </a:ext>
            </a:extLst>
          </p:cNvPr>
          <p:cNvSpPr>
            <a:spLocks noGrp="1"/>
          </p:cNvSpPr>
          <p:nvPr/>
        </p:nvSpPr>
        <p:spPr>
          <a:xfrm>
            <a:off x="8572500" y="5229225"/>
            <a:ext cx="5943600" cy="790575"/>
          </a:xfrm>
          <a:prstGeom prst="rect">
            <a:avLst/>
          </a:prstGeom>
          <a:noFill/>
          <a:ln w="0">
            <a:noFill/>
          </a:ln>
        </p:spPr>
        <p:txBody>
          <a:bodyPr/>
          <a:lstStyle>
            <a:defPPr>
              <a:defRPr sz="2025" b="0">
                <a:solidFill>
                  <a:srgbClr val="007F82"/>
                </a:solidFill>
                <a:latin typeface="Arial"/>
                <a:ea typeface="Arial"/>
                <a:cs typeface="Arial"/>
              </a:defRPr>
            </a:defPPr>
          </a:lstStyle>
          <a:p>
            <a:pPr>
              <a:defRPr sz="2025" b="0">
                <a:solidFill>
                  <a:srgbClr val="007F82"/>
                </a:solidFill>
                <a:latin typeface="Arial"/>
                <a:ea typeface="Arial"/>
                <a:cs typeface="Arial"/>
              </a:defRPr>
            </a:pPr>
            <a:r>
              <a:rPr sz="2025" b="0">
                <a:solidFill>
                  <a:srgbClr val="007F82"/>
                </a:solidFill>
                <a:latin typeface="Arial"/>
                <a:ea typeface="Arial"/>
                <a:cs typeface="Arial"/>
              </a:rPr>
              <a:t>Error reduction against each baseline:</a:t>
            </a:r>
          </a:p>
          <a:p>
            <a:pPr>
              <a:defRPr sz="2025" b="0">
                <a:solidFill>
                  <a:srgbClr val="007F82"/>
                </a:solidFill>
                <a:latin typeface="Arial"/>
                <a:ea typeface="Arial"/>
                <a:cs typeface="Arial"/>
              </a:defRPr>
            </a:pPr>
            <a:r>
              <a:rPr sz="2025" b="0">
                <a:solidFill>
                  <a:srgbClr val="007F82"/>
                </a:solidFill>
                <a:latin typeface="Arial"/>
                <a:ea typeface="Arial"/>
                <a:cs typeface="Arial"/>
              </a:rPr>
              <a:t>A: 50.9%   B: 14.9%   C: 14.8%</a:t>
            </a:r>
          </a:p>
        </p:txBody>
      </p:sp>
      <p:sp>
        <p:nvSpPr>
          <p:cNvPr id="9" name="">
            <a:extLst>
              <a:ext uri="{FF2B5EF4-FFF2-40B4-BE49-F238E27FC236}">
                <ns2:creationId id="{BCB2828F-DCB6-43C7-B8E0-6801EB7ABD86}"/>
              </a:ext>
            </a:extLst>
          </p:cNvPr>
          <p:cNvSpPr>
            <a:spLocks noGrp="1"/>
          </p:cNvSpPr>
          <p:nvPr/>
        </p:nvSpPr>
        <p:spPr>
          <a:xfrm>
            <a:off x="647700" y="6219825"/>
            <a:ext cx="6762750" cy="419100"/>
          </a:xfrm>
          <a:prstGeom prst="rect">
            <a:avLst/>
          </a:prstGeom>
          <a:noFill/>
          <a:ln w="0">
            <a:noFill/>
          </a:ln>
        </p:spPr>
        <p:txBody>
          <a:bodyPr/>
          <a:lstStyle>
            <a:defPPr>
              <a:defRPr sz="2325" b="1">
                <a:solidFill>
                  <a:srgbClr val="6246A4"/>
                </a:solidFill>
                <a:latin typeface="Arial"/>
                <a:ea typeface="Arial"/>
                <a:cs typeface="Arial"/>
              </a:defRPr>
            </a:defPPr>
          </a:lstStyle>
          <a:p>
            <a:pPr>
              <a:defRPr sz="2325" b="1">
                <a:solidFill>
                  <a:srgbClr val="6246A4"/>
                </a:solidFill>
                <a:latin typeface="Arial"/>
                <a:ea typeface="Arial"/>
                <a:cs typeface="Arial"/>
              </a:defRPr>
            </a:pPr>
            <a:r>
              <a:rPr sz="2325" b="1">
                <a:solidFill>
                  <a:srgbClr val="6246A4"/>
                </a:solidFill>
                <a:latin typeface="Arial"/>
                <a:ea typeface="Arial"/>
                <a:cs typeface="Arial"/>
              </a:rPr>
              <a:t>What the numbers mean</a:t>
            </a:r>
          </a:p>
        </p:txBody>
      </p:sp>
      <p:sp>
        <p:nvSpPr>
          <p:cNvPr id="10" name="">
            <a:extLst>
              <a:ext uri="{FF2B5EF4-FFF2-40B4-BE49-F238E27FC236}">
                <ns2:creationId id="{42F0FB38-9A6C-44F1-B395-82547FC679D7}"/>
              </a:ext>
            </a:extLst>
          </p:cNvPr>
          <p:cNvSpPr>
            <a:spLocks noGrp="1"/>
          </p:cNvSpPr>
          <p:nvPr/>
        </p:nvSpPr>
        <p:spPr>
          <a:xfrm>
            <a:off x="647700" y="6686550"/>
            <a:ext cx="6810375" cy="1304925"/>
          </a:xfrm>
          <a:prstGeom prst="rect">
            <a:avLst/>
          </a:prstGeom>
          <a:noFill/>
          <a:ln w="0">
            <a:noFill/>
          </a:ln>
        </p:spPr>
        <p:txBody>
          <a:bodyPr/>
          <a:lstStyle>
            <a:defPPr>
              <a:defRPr sz="2025" b="0">
                <a:solidFill>
                  <a:srgbClr val="25233E"/>
                </a:solidFill>
                <a:latin typeface="Arial"/>
                <a:ea typeface="Arial"/>
                <a:cs typeface="Arial"/>
              </a:defRPr>
            </a:defPPr>
          </a:lstStyle>
          <a:p>
            <a:pPr>
              <a:defRPr sz="2025" b="0">
                <a:solidFill>
                  <a:srgbClr val="25233E"/>
                </a:solidFill>
                <a:latin typeface="Arial"/>
                <a:ea typeface="Arial"/>
                <a:cs typeface="Arial"/>
              </a:defRPr>
            </a:pPr>
            <a:r>
              <a:rPr sz="2025" b="0">
                <a:solidFill>
                  <a:srgbClr val="25233E"/>
                </a:solidFill>
                <a:latin typeface="Arial"/>
                <a:ea typeface="Arial"/>
                <a:cs typeface="Arial"/>
              </a:rPr>
              <a:t>MAE averages the size of each mistake. A’s 8.57 means an average difference of about 8.6 minutes. RMSE penalizes large misses more strongly. R² describes explained variation, not classification accuracy.</a:t>
            </a:r>
          </a:p>
        </p:txBody>
      </p:sp>
      <p:sp>
        <p:nvSpPr>
          <p:cNvPr id="11" name="">
            <a:extLst>
              <a:ext uri="{FF2B5EF4-FFF2-40B4-BE49-F238E27FC236}">
                <ns2:creationId id="{0DBE1D4E-08D8-42FF-B566-D7F9F2A4B23C}"/>
              </a:ext>
            </a:extLst>
          </p:cNvPr>
          <p:cNvSpPr>
            <a:spLocks noGrp="1"/>
          </p:cNvSpPr>
          <p:nvPr/>
        </p:nvSpPr>
        <p:spPr>
          <a:xfrm>
            <a:off x="8048625" y="6219825"/>
            <a:ext cx="6524625" cy="419100"/>
          </a:xfrm>
          <a:prstGeom prst="rect">
            <a:avLst/>
          </a:prstGeom>
          <a:noFill/>
          <a:ln w="0">
            <a:noFill/>
          </a:ln>
        </p:spPr>
        <p:txBody>
          <a:bodyPr/>
          <a:lstStyle>
            <a:defPPr>
              <a:defRPr sz="2325" b="1">
                <a:solidFill>
                  <a:srgbClr val="6246A4"/>
                </a:solidFill>
                <a:latin typeface="Arial"/>
                <a:ea typeface="Arial"/>
                <a:cs typeface="Arial"/>
              </a:defRPr>
            </a:defPPr>
          </a:lstStyle>
          <a:p>
            <a:pPr>
              <a:defRPr sz="2325" b="1">
                <a:solidFill>
                  <a:srgbClr val="6246A4"/>
                </a:solidFill>
                <a:latin typeface="Arial"/>
                <a:ea typeface="Arial"/>
                <a:cs typeface="Arial"/>
              </a:defRPr>
            </a:pPr>
            <a:r>
              <a:rPr sz="2325" b="1">
                <a:solidFill>
                  <a:srgbClr val="6246A4"/>
                </a:solidFill>
                <a:latin typeface="Arial"/>
                <a:ea typeface="Arial"/>
                <a:cs typeface="Arial"/>
              </a:rPr>
              <a:t>How to compare responsibly</a:t>
            </a:r>
          </a:p>
        </p:txBody>
      </p:sp>
      <p:sp>
        <p:nvSpPr>
          <p:cNvPr id="12" name="">
            <a:extLst>
              <a:ext uri="{FF2B5EF4-FFF2-40B4-BE49-F238E27FC236}">
                <ns2:creationId id="{F4884C63-1C4B-4322-9B3E-20C4D20D2D75}"/>
              </a:ext>
            </a:extLst>
          </p:cNvPr>
          <p:cNvSpPr>
            <a:spLocks noGrp="1"/>
          </p:cNvSpPr>
          <p:nvPr/>
        </p:nvSpPr>
        <p:spPr>
          <a:xfrm>
            <a:off x="8048625" y="6686550"/>
            <a:ext cx="6515100" cy="1304925"/>
          </a:xfrm>
          <a:prstGeom prst="rect">
            <a:avLst/>
          </a:prstGeom>
          <a:noFill/>
          <a:ln w="0">
            <a:noFill/>
          </a:ln>
        </p:spPr>
        <p:txBody>
          <a:bodyPr/>
          <a:lstStyle>
            <a:defPPr>
              <a:defRPr sz="2025" b="0">
                <a:solidFill>
                  <a:srgbClr val="25233E"/>
                </a:solidFill>
                <a:latin typeface="Arial"/>
                <a:ea typeface="Arial"/>
                <a:cs typeface="Arial"/>
              </a:defRPr>
            </a:defPPr>
          </a:lstStyle>
          <a:p>
            <a:pPr>
              <a:defRPr sz="2025" b="0">
                <a:solidFill>
                  <a:srgbClr val="25233E"/>
                </a:solidFill>
                <a:latin typeface="Arial"/>
                <a:ea typeface="Arial"/>
                <a:cs typeface="Arial"/>
              </a:defRPr>
            </a:pPr>
            <a:r>
              <a:rPr sz="2025" b="0">
                <a:solidFill>
                  <a:srgbClr val="25233E"/>
                </a:solidFill>
                <a:latin typeface="Arial"/>
                <a:ea typeface="Arial"/>
                <a:cs typeface="Arial"/>
              </a:rPr>
              <a:t>Each score belongs to its own dataset and split. C excludes preparation and has a narrower duration range. Its lower MAE does not prove a universally better model, or that combining sources improved A.</a:t>
            </a:r>
          </a:p>
        </p:txBody>
      </p:sp>
    </p:spTree>
    <p:extLst>
      <p:ext uri="{BB962C8B-B14F-4D97-AF65-F5344CB8AC3E}">
        <ns5:creationId val="1216026449"/>
      </p:ext>
    </p:extLst>
  </p:cSld>
  <p:transition spd="med"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400"/>
                                        <p:tgtEl>
                                          <p:spTgt spid="6"/>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400"/>
                                        <p:tgtEl>
                                          <p:spTgt spid="8"/>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400"/>
                                        <p:tgtEl>
                                          <p:spTgt spid="10"/>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CFAF6"/>
        </a:solidFill>
      </p:bgPr>
    </p:bg>
    <p:spTree>
      <p:nvGrpSpPr>
        <p:cNvPr id="1" name=""/>
        <p:cNvGrpSpPr/>
        <p:nvPr/>
      </p:nvGrpSpPr>
      <p:grpSpPr>
        <a:xfrm/>
      </p:grpSpPr>
      <p:sp>
        <p:nvSpPr>
          <p:cNvPr id="12" name="">
            <a:extLst>
              <a:ext uri="{FF2B5EF4-FFF2-40B4-BE49-F238E27FC236}">
                <ns2:creationId id="{CD4CD50E-C904-42C8-AB5B-C5125B811C7D}"/>
              </a:ext>
            </a:extLst>
          </p:cNvPr>
          <p:cNvSpPr>
            <a:spLocks noGrp="1"/>
          </p:cNvSpPr>
          <p:nvPr/>
        </p:nvSpPr>
        <p:spPr>
          <a:xfrm>
            <a:off x="609600" y="266700"/>
            <a:ext cx="13525500" cy="285750"/>
          </a:xfrm>
          <a:prstGeom prst="rect">
            <a:avLst/>
          </a:prstGeom>
          <a:noFill/>
          <a:ln w="0">
            <a:noFill/>
          </a:ln>
        </p:spPr>
        <p:txBody>
          <a:bodyPr/>
          <a:lstStyle>
            <a:defPPr>
              <a:defRPr sz="1425" b="1">
                <a:solidFill>
                  <a:srgbClr val="6246A4"/>
                </a:solidFill>
                <a:latin typeface="Arial"/>
                <a:ea typeface="Arial"/>
                <a:cs typeface="Arial"/>
              </a:defRPr>
            </a:defPPr>
          </a:lstStyle>
          <a:p>
            <a:pPr>
              <a:defRPr sz="1425" b="1">
                <a:solidFill>
                  <a:srgbClr val="6246A4"/>
                </a:solidFill>
                <a:latin typeface="Arial"/>
                <a:ea typeface="Arial"/>
                <a:cs typeface="Arial"/>
              </a:defRPr>
            </a:pPr>
            <a:r>
              <a:rPr sz="1425" b="1">
                <a:solidFill>
                  <a:srgbClr val="6246A4"/>
                </a:solidFill>
                <a:latin typeface="Arial"/>
                <a:ea typeface="Arial"/>
                <a:cs typeface="Arial"/>
              </a:rPr>
              <a:t>KDD 5–6 / EXPLAINING AND REUSING THE RESULT</a:t>
            </a:r>
          </a:p>
        </p:txBody>
      </p:sp>
      <p:sp>
        <p:nvSpPr>
          <p:cNvPr id="2" name="">
            <a:extLst>
              <a:ext uri="{FF2B5EF4-FFF2-40B4-BE49-F238E27FC236}">
                <ns2:creationId id="{5C702146-A55A-42A2-802F-6E523363DBCA}"/>
              </a:ext>
            </a:extLst>
          </p:cNvPr>
          <p:cNvSpPr>
            <a:spLocks noGrp="1"/>
          </p:cNvSpPr>
          <p:nvPr/>
        </p:nvSpPr>
        <p:spPr>
          <a:xfrm>
            <a:off x="609600" y="704850"/>
            <a:ext cx="14020800" cy="895350"/>
          </a:xfrm>
          <a:prstGeom prst="rect">
            <a:avLst/>
          </a:prstGeom>
          <a:noFill/>
          <a:ln w="0">
            <a:noFill/>
          </a:ln>
        </p:spPr>
        <p:txBody>
          <a:bodyPr/>
          <a:lstStyle>
            <a:defPPr>
              <a:defRPr sz="3600" b="1">
                <a:solidFill>
                  <a:srgbClr val="25233E"/>
                </a:solidFill>
                <a:latin typeface="Arial"/>
                <a:ea typeface="Arial"/>
                <a:cs typeface="Arial"/>
              </a:defRPr>
            </a:defPPr>
          </a:lstStyle>
          <a:p>
            <a:pPr>
              <a:defRPr sz="3600" b="1">
                <a:solidFill>
                  <a:srgbClr val="25233E"/>
                </a:solidFill>
                <a:latin typeface="Arial"/>
                <a:ea typeface="Arial"/>
                <a:cs typeface="Arial"/>
              </a:defRPr>
            </a:pPr>
            <a:r>
              <a:rPr sz="3600" b="1">
                <a:solidFill>
                  <a:srgbClr val="25233E"/>
                </a:solidFill>
                <a:latin typeface="Arial"/>
                <a:ea typeface="Arial"/>
                <a:cs typeface="Arial"/>
              </a:rPr>
              <a:t>Interpretation, worked examples and model limits</a:t>
            </a:r>
          </a:p>
        </p:txBody>
      </p:sp>
      <p:sp>
        <p:nvSpPr>
          <p:cNvPr id="3" name="">
            <a:extLst>
              <a:ext uri="{FF2B5EF4-FFF2-40B4-BE49-F238E27FC236}">
                <ns2:creationId id="{21311824-EDE0-4552-B97A-01BB01523D92}"/>
              </a:ext>
            </a:extLst>
          </p:cNvPr>
          <p:cNvSpPr>
            <a:spLocks noGrp="1"/>
          </p:cNvSpPr>
          <p:nvPr/>
        </p:nvSpPr>
        <p:spPr>
          <a:xfrm>
            <a:off x="609600" y="8220075"/>
            <a:ext cx="12858750" cy="219075"/>
          </a:xfrm>
          <a:prstGeom prst="rect">
            <a:avLst/>
          </a:prstGeom>
          <a:noFill/>
          <a:ln w="0">
            <a:noFill/>
          </a:ln>
        </p:spPr>
        <p:txBody>
          <a:bodyPr/>
          <a:lstStyle>
            <a:defPPr>
              <a:defRPr sz="1125" b="0">
                <a:solidFill>
                  <a:srgbClr val="5C5C70"/>
                </a:solidFill>
                <a:latin typeface="Arial"/>
                <a:ea typeface="Arial"/>
                <a:cs typeface="Arial"/>
              </a:defRPr>
            </a:defPPr>
          </a:lstStyle>
          <a:p>
            <a:pPr>
              <a:defRPr sz="1125" b="0">
                <a:solidFill>
                  <a:srgbClr val="5C5C70"/>
                </a:solidFill>
                <a:latin typeface="Arial"/>
                <a:ea typeface="Arial"/>
                <a:cs typeface="Arial"/>
              </a:defRPr>
            </a:pPr>
            <a:r>
              <a:rPr sz="1125" b="0">
                <a:solidFill>
                  <a:srgbClr val="5C5C70"/>
                </a:solidFill>
                <a:latin typeface="Arial"/>
                <a:ea typeface="Arial"/>
                <a:cs typeface="Arial"/>
              </a:rPr>
              <a:t>AADITI GAIKWAD   /   PREDICTIVE ANALYTICS</a:t>
            </a:r>
          </a:p>
        </p:txBody>
      </p:sp>
      <p:sp>
        <p:nvSpPr>
          <p:cNvPr id="4" name="">
            <a:extLst>
              <a:ext uri="{FF2B5EF4-FFF2-40B4-BE49-F238E27FC236}">
                <ns2:creationId id="{DBB5108B-45E0-41DD-AD6D-5A8E7B3D923B}"/>
              </a:ext>
            </a:extLst>
          </p:cNvPr>
          <p:cNvSpPr>
            <a:spLocks noGrp="1"/>
          </p:cNvSpPr>
          <p:nvPr/>
        </p:nvSpPr>
        <p:spPr>
          <a:xfrm>
            <a:off x="14144625" y="8172450"/>
            <a:ext cx="571500" cy="276225"/>
          </a:xfrm>
          <a:prstGeom prst="rect">
            <a:avLst/>
          </a:prstGeom>
          <a:noFill/>
          <a:ln w="0">
            <a:noFill/>
          </a:ln>
        </p:spPr>
        <p:txBody>
          <a:bodyPr/>
          <a:lstStyle>
            <a:defPPr>
              <a:defRPr sz="1500" b="1">
                <a:solidFill>
                  <a:srgbClr val="6246A4"/>
                </a:solidFill>
                <a:latin typeface="Arial"/>
                <a:ea typeface="Arial"/>
                <a:cs typeface="Arial"/>
              </a:defRPr>
            </a:defPPr>
          </a:lstStyle>
          <a:p>
            <a:pPr>
              <a:defRPr sz="1500" b="1">
                <a:solidFill>
                  <a:srgbClr val="6246A4"/>
                </a:solidFill>
                <a:latin typeface="Arial"/>
                <a:ea typeface="Arial"/>
                <a:cs typeface="Arial"/>
              </a:defRPr>
            </a:pPr>
            <a:r>
              <a:rPr sz="1500" b="1">
                <a:solidFill>
                  <a:srgbClr val="6246A4"/>
                </a:solidFill>
                <a:latin typeface="Arial"/>
                <a:ea typeface="Arial"/>
                <a:cs typeface="Arial"/>
              </a:rPr>
              <a:t>09</a:t>
            </a:r>
          </a:p>
        </p:txBody>
      </p:sp>
      <p:graphicFrame>
        <p:nvGraphicFramePr>
          <p:cNvPr id="5" name="">
            <a:extLst>
              <a:ext uri="{FF2B5EF4-FFF2-40B4-BE49-F238E27FC236}">
                <ns2:creationId id="{7C5D389E-41AF-4770-940B-A41FA6DAFC7A}"/>
              </a:ext>
            </a:extLst>
          </p:cNvPr>
          <p:cNvGraphicFramePr/>
          <p:nvPr/>
        </p:nvGraphicFramePr>
        <p:xfrm>
          <a:off x="647700" y="1695450"/>
          <a:ext cx="14001750" cy="2476500"/>
        </p:xfrm>
        <a:graphic>
          <a:graphicData uri="http://schemas.openxmlformats.org/drawingml/2006/table">
            <a:tbl>
              <a:tblPr/>
              <a:tblGrid>
                <a:gridCol w="2905125"/>
                <a:gridCol w="2381250"/>
                <a:gridCol w="2381250"/>
                <a:gridCol w="6334125"/>
              </a:tblGrid>
              <a:tr h="619125">
                <a:tc>
                  <a:txBody>
                    <a:bodyPr/>
                    <a:lstStyle/>
                    <a:p>
                      <a:r>
                        <a:rPr sz="1950" b="1">
                          <a:solidFill>
                            <a:srgbClr val="25233E"/>
                          </a:solidFill>
                          <a:latin typeface="Arial"/>
                          <a:ea typeface="Arial"/>
                          <a:cs typeface="Arial"/>
                        </a:rPr>
                        <a:t>Held-out order</a:t>
                      </a:r>
                    </a:p>
                  </a:txBody>
                  <a:tcPr marL="91440" marR="91440" marT="45720" marB="45720">
                    <a:lnL w="4763">
                      <a:solidFill>
                        <a:srgbClr val="DAD5E4"/>
                      </a:solidFill>
                    </a:lnL>
                    <a:lnR w="4763">
                      <a:solidFill>
                        <a:srgbClr val="DAD5E4"/>
                      </a:solidFill>
                    </a:lnR>
                    <a:lnT w="4763">
                      <a:solidFill>
                        <a:srgbClr val="DAD5E4"/>
                      </a:solidFill>
                    </a:lnT>
                    <a:lnB w="4763">
                      <a:solidFill>
                        <a:srgbClr val="DAD5E4"/>
                      </a:solidFill>
                    </a:lnB>
                    <a:solidFill>
                      <a:srgbClr val="E9E2F2"/>
                    </a:solidFill>
                  </a:tcPr>
                </a:tc>
                <a:tc>
                  <a:txBody>
                    <a:bodyPr/>
                    <a:lstStyle/>
                    <a:p>
                      <a:r>
                        <a:rPr sz="1950" b="1">
                          <a:solidFill>
                            <a:srgbClr val="25233E"/>
                          </a:solidFill>
                          <a:latin typeface="Arial"/>
                          <a:ea typeface="Arial"/>
                          <a:cs typeface="Arial"/>
                        </a:rPr>
                        <a:t>Predicted</a:t>
                      </a:r>
                    </a:p>
                  </a:txBody>
                  <a:tcPr marL="91440" marR="91440" marT="45720" marB="45720">
                    <a:lnR w="4763">
                      <a:solidFill>
                        <a:srgbClr val="DAD5E4"/>
                      </a:solidFill>
                    </a:lnR>
                    <a:lnT w="4763">
                      <a:solidFill>
                        <a:srgbClr val="DAD5E4"/>
                      </a:solidFill>
                    </a:lnT>
                    <a:lnB w="4763">
                      <a:solidFill>
                        <a:srgbClr val="DAD5E4"/>
                      </a:solidFill>
                    </a:lnB>
                    <a:solidFill>
                      <a:srgbClr val="E9E2F2"/>
                    </a:solidFill>
                  </a:tcPr>
                </a:tc>
                <a:tc>
                  <a:txBody>
                    <a:bodyPr/>
                    <a:lstStyle/>
                    <a:p>
                      <a:r>
                        <a:rPr sz="1950" b="1">
                          <a:solidFill>
                            <a:srgbClr val="25233E"/>
                          </a:solidFill>
                          <a:latin typeface="Arial"/>
                          <a:ea typeface="Arial"/>
                          <a:cs typeface="Arial"/>
                        </a:rPr>
                        <a:t>Recorded</a:t>
                      </a:r>
                    </a:p>
                  </a:txBody>
                  <a:tcPr marL="91440" marR="91440" marT="45720" marB="45720">
                    <a:lnR w="4763">
                      <a:solidFill>
                        <a:srgbClr val="DAD5E4"/>
                      </a:solidFill>
                    </a:lnR>
                    <a:lnT w="4763">
                      <a:solidFill>
                        <a:srgbClr val="DAD5E4"/>
                      </a:solidFill>
                    </a:lnT>
                    <a:lnB w="4763">
                      <a:solidFill>
                        <a:srgbClr val="DAD5E4"/>
                      </a:solidFill>
                    </a:lnB>
                    <a:solidFill>
                      <a:srgbClr val="E9E2F2"/>
                    </a:solidFill>
                  </a:tcPr>
                </a:tc>
                <a:tc>
                  <a:txBody>
                    <a:bodyPr/>
                    <a:lstStyle/>
                    <a:p>
                      <a:r>
                        <a:rPr sz="1950" b="1">
                          <a:solidFill>
                            <a:srgbClr val="25233E"/>
                          </a:solidFill>
                          <a:latin typeface="Arial"/>
                          <a:ea typeface="Arial"/>
                          <a:cs typeface="Arial"/>
                        </a:rPr>
                        <a:t>What happened</a:t>
                      </a:r>
                    </a:p>
                  </a:txBody>
                  <a:tcPr marL="91440" marR="91440" marT="45720" marB="45720">
                    <a:lnR w="4763">
                      <a:solidFill>
                        <a:srgbClr val="DAD5E4"/>
                      </a:solidFill>
                    </a:lnR>
                    <a:lnT w="4763">
                      <a:solidFill>
                        <a:srgbClr val="DAD5E4"/>
                      </a:solidFill>
                    </a:lnT>
                    <a:lnB w="4763">
                      <a:solidFill>
                        <a:srgbClr val="DAD5E4"/>
                      </a:solidFill>
                    </a:lnB>
                    <a:solidFill>
                      <a:srgbClr val="E9E2F2"/>
                    </a:solidFill>
                  </a:tcPr>
                </a:tc>
              </a:tr>
              <a:tr h="619125">
                <a:tc>
                  <a:txBody>
                    <a:bodyPr/>
                    <a:lstStyle/>
                    <a:p>
                      <a:r>
                        <a:rPr sz="1950" b="0">
                          <a:solidFill>
                            <a:srgbClr val="25233E"/>
                          </a:solidFill>
                          <a:latin typeface="Arial"/>
                          <a:ea typeface="Arial"/>
                          <a:cs typeface="Arial"/>
                        </a:rPr>
                        <a:t>Dataset A</a:t>
                      </a:r>
                    </a:p>
                  </a:txBody>
                  <a:tcPr marL="91440" marR="91440" marT="45720" marB="45720">
                    <a:lnL w="4763">
                      <a:solidFill>
                        <a:srgbClr val="DAD5E4"/>
                      </a:solidFill>
                    </a:lnL>
                    <a:lnR w="4763">
                      <a:solidFill>
                        <a:srgbClr val="DAD5E4"/>
                      </a:solidFill>
                    </a:lnR>
                    <a:lnB w="4763">
                      <a:solidFill>
                        <a:srgbClr val="DAD5E4"/>
                      </a:solidFill>
                    </a:lnB>
                    <a:solidFill>
                      <a:srgbClr val="FCFAF6"/>
                    </a:solidFill>
                  </a:tcPr>
                </a:tc>
                <a:tc>
                  <a:txBody>
                    <a:bodyPr/>
                    <a:lstStyle/>
                    <a:p>
                      <a:r>
                        <a:rPr sz="1950" b="0">
                          <a:solidFill>
                            <a:srgbClr val="25233E"/>
                          </a:solidFill>
                          <a:latin typeface="Arial"/>
                          <a:ea typeface="Arial"/>
                          <a:cs typeface="Arial"/>
                        </a:rPr>
                        <a:t>37.62 min</a:t>
                      </a:r>
                    </a:p>
                  </a:txBody>
                  <a:tcPr marL="91440" marR="91440" marT="45720" marB="45720">
                    <a:lnR w="4763">
                      <a:solidFill>
                        <a:srgbClr val="DAD5E4"/>
                      </a:solidFill>
                    </a:lnR>
                    <a:lnB w="4763">
                      <a:solidFill>
                        <a:srgbClr val="DAD5E4"/>
                      </a:solidFill>
                    </a:lnB>
                    <a:solidFill>
                      <a:srgbClr val="FCFAF6"/>
                    </a:solidFill>
                  </a:tcPr>
                </a:tc>
                <a:tc>
                  <a:txBody>
                    <a:bodyPr/>
                    <a:lstStyle/>
                    <a:p>
                      <a:r>
                        <a:rPr sz="1950" b="0">
                          <a:solidFill>
                            <a:srgbClr val="25233E"/>
                          </a:solidFill>
                          <a:latin typeface="Arial"/>
                          <a:ea typeface="Arial"/>
                          <a:cs typeface="Arial"/>
                        </a:rPr>
                        <a:t>32 min</a:t>
                      </a:r>
                    </a:p>
                  </a:txBody>
                  <a:tcPr marL="91440" marR="91440" marT="45720" marB="45720">
                    <a:lnR w="4763">
                      <a:solidFill>
                        <a:srgbClr val="DAD5E4"/>
                      </a:solidFill>
                    </a:lnR>
                    <a:lnB w="4763">
                      <a:solidFill>
                        <a:srgbClr val="DAD5E4"/>
                      </a:solidFill>
                    </a:lnB>
                    <a:solidFill>
                      <a:srgbClr val="FCFAF6"/>
                    </a:solidFill>
                  </a:tcPr>
                </a:tc>
                <a:tc>
                  <a:txBody>
                    <a:bodyPr/>
                    <a:lstStyle/>
                    <a:p>
                      <a:r>
                        <a:rPr sz="1950" b="0">
                          <a:solidFill>
                            <a:srgbClr val="25233E"/>
                          </a:solidFill>
                          <a:latin typeface="Arial"/>
                          <a:ea typeface="Arial"/>
                          <a:cs typeface="Arial"/>
                        </a:rPr>
                        <a:t>Overestimated by 5.62 min</a:t>
                      </a:r>
                    </a:p>
                  </a:txBody>
                  <a:tcPr marL="91440" marR="91440" marT="45720" marB="45720">
                    <a:lnR w="4763">
                      <a:solidFill>
                        <a:srgbClr val="DAD5E4"/>
                      </a:solidFill>
                    </a:lnR>
                    <a:lnB w="4763">
                      <a:solidFill>
                        <a:srgbClr val="DAD5E4"/>
                      </a:solidFill>
                    </a:lnB>
                    <a:solidFill>
                      <a:srgbClr val="FCFAF6"/>
                    </a:solidFill>
                  </a:tcPr>
                </a:tc>
              </a:tr>
              <a:tr h="619125">
                <a:tc>
                  <a:txBody>
                    <a:bodyPr/>
                    <a:lstStyle/>
                    <a:p>
                      <a:r>
                        <a:rPr sz="1950" b="0">
                          <a:solidFill>
                            <a:srgbClr val="25233E"/>
                          </a:solidFill>
                          <a:latin typeface="Arial"/>
                          <a:ea typeface="Arial"/>
                          <a:cs typeface="Arial"/>
                        </a:rPr>
                        <a:t>Dataset B</a:t>
                      </a:r>
                    </a:p>
                  </a:txBody>
                  <a:tcPr marL="91440" marR="91440" marT="45720" marB="45720">
                    <a:lnL w="4763">
                      <a:solidFill>
                        <a:srgbClr val="DAD5E4"/>
                      </a:solidFill>
                    </a:lnL>
                    <a:lnR w="4763">
                      <a:solidFill>
                        <a:srgbClr val="DAD5E4"/>
                      </a:solidFill>
                    </a:lnR>
                    <a:lnB w="4763">
                      <a:solidFill>
                        <a:srgbClr val="DAD5E4"/>
                      </a:solidFill>
                    </a:lnB>
                    <a:solidFill>
                      <a:srgbClr val="F3EFF7"/>
                    </a:solidFill>
                  </a:tcPr>
                </a:tc>
                <a:tc>
                  <a:txBody>
                    <a:bodyPr/>
                    <a:lstStyle/>
                    <a:p>
                      <a:r>
                        <a:rPr sz="1950" b="0">
                          <a:solidFill>
                            <a:srgbClr val="25233E"/>
                          </a:solidFill>
                          <a:latin typeface="Arial"/>
                          <a:ea typeface="Arial"/>
                          <a:cs typeface="Arial"/>
                        </a:rPr>
                        <a:t>27.08 min</a:t>
                      </a:r>
                    </a:p>
                  </a:txBody>
                  <a:tcPr marL="91440" marR="91440" marT="45720" marB="45720">
                    <a:lnR w="4763">
                      <a:solidFill>
                        <a:srgbClr val="DAD5E4"/>
                      </a:solidFill>
                    </a:lnR>
                    <a:lnB w="4763">
                      <a:solidFill>
                        <a:srgbClr val="DAD5E4"/>
                      </a:solidFill>
                    </a:lnB>
                    <a:solidFill>
                      <a:srgbClr val="F3EFF7"/>
                    </a:solidFill>
                  </a:tcPr>
                </a:tc>
                <a:tc>
                  <a:txBody>
                    <a:bodyPr/>
                    <a:lstStyle/>
                    <a:p>
                      <a:r>
                        <a:rPr sz="1950" b="0">
                          <a:solidFill>
                            <a:srgbClr val="25233E"/>
                          </a:solidFill>
                          <a:latin typeface="Arial"/>
                          <a:ea typeface="Arial"/>
                          <a:cs typeface="Arial"/>
                        </a:rPr>
                        <a:t>36 min</a:t>
                      </a:r>
                    </a:p>
                  </a:txBody>
                  <a:tcPr marL="91440" marR="91440" marT="45720" marB="45720">
                    <a:lnR w="4763">
                      <a:solidFill>
                        <a:srgbClr val="DAD5E4"/>
                      </a:solidFill>
                    </a:lnR>
                    <a:lnB w="4763">
                      <a:solidFill>
                        <a:srgbClr val="DAD5E4"/>
                      </a:solidFill>
                    </a:lnB>
                    <a:solidFill>
                      <a:srgbClr val="F3EFF7"/>
                    </a:solidFill>
                  </a:tcPr>
                </a:tc>
                <a:tc>
                  <a:txBody>
                    <a:bodyPr/>
                    <a:lstStyle/>
                    <a:p>
                      <a:r>
                        <a:rPr sz="1950" b="0">
                          <a:solidFill>
                            <a:srgbClr val="25233E"/>
                          </a:solidFill>
                          <a:latin typeface="Arial"/>
                          <a:ea typeface="Arial"/>
                          <a:cs typeface="Arial"/>
                        </a:rPr>
                        <a:t>Underestimated by 8.92 min</a:t>
                      </a:r>
                    </a:p>
                  </a:txBody>
                  <a:tcPr marL="91440" marR="91440" marT="45720" marB="45720">
                    <a:lnR w="4763">
                      <a:solidFill>
                        <a:srgbClr val="DAD5E4"/>
                      </a:solidFill>
                    </a:lnR>
                    <a:lnB w="4763">
                      <a:solidFill>
                        <a:srgbClr val="DAD5E4"/>
                      </a:solidFill>
                    </a:lnB>
                    <a:solidFill>
                      <a:srgbClr val="F3EFF7"/>
                    </a:solidFill>
                  </a:tcPr>
                </a:tc>
              </a:tr>
              <a:tr h="619125">
                <a:tc>
                  <a:txBody>
                    <a:bodyPr/>
                    <a:lstStyle/>
                    <a:p>
                      <a:r>
                        <a:rPr sz="1950" b="0">
                          <a:solidFill>
                            <a:srgbClr val="25233E"/>
                          </a:solidFill>
                          <a:latin typeface="Arial"/>
                          <a:ea typeface="Arial"/>
                          <a:cs typeface="Arial"/>
                        </a:rPr>
                        <a:t>Dataset C</a:t>
                      </a:r>
                    </a:p>
                  </a:txBody>
                  <a:tcPr marL="91440" marR="91440" marT="45720" marB="45720">
                    <a:lnL w="4763">
                      <a:solidFill>
                        <a:srgbClr val="DAD5E4"/>
                      </a:solidFill>
                    </a:lnL>
                    <a:lnR w="4763">
                      <a:solidFill>
                        <a:srgbClr val="DAD5E4"/>
                      </a:solidFill>
                    </a:lnR>
                    <a:lnB w="4763">
                      <a:solidFill>
                        <a:srgbClr val="DAD5E4"/>
                      </a:solidFill>
                    </a:lnB>
                    <a:solidFill>
                      <a:srgbClr val="FCFAF6"/>
                    </a:solidFill>
                  </a:tcPr>
                </a:tc>
                <a:tc>
                  <a:txBody>
                    <a:bodyPr/>
                    <a:lstStyle/>
                    <a:p>
                      <a:r>
                        <a:rPr sz="1950" b="0">
                          <a:solidFill>
                            <a:srgbClr val="25233E"/>
                          </a:solidFill>
                          <a:latin typeface="Arial"/>
                          <a:ea typeface="Arial"/>
                          <a:cs typeface="Arial"/>
                        </a:rPr>
                        <a:t>22.25 min</a:t>
                      </a:r>
                    </a:p>
                  </a:txBody>
                  <a:tcPr marL="91440" marR="91440" marT="45720" marB="45720">
                    <a:lnR w="4763">
                      <a:solidFill>
                        <a:srgbClr val="DAD5E4"/>
                      </a:solidFill>
                    </a:lnR>
                    <a:lnB w="4763">
                      <a:solidFill>
                        <a:srgbClr val="DAD5E4"/>
                      </a:solidFill>
                    </a:lnB>
                    <a:solidFill>
                      <a:srgbClr val="FCFAF6"/>
                    </a:solidFill>
                  </a:tcPr>
                </a:tc>
                <a:tc>
                  <a:txBody>
                    <a:bodyPr/>
                    <a:lstStyle/>
                    <a:p>
                      <a:r>
                        <a:rPr sz="1950" b="0">
                          <a:solidFill>
                            <a:srgbClr val="25233E"/>
                          </a:solidFill>
                          <a:latin typeface="Arial"/>
                          <a:ea typeface="Arial"/>
                          <a:cs typeface="Arial"/>
                        </a:rPr>
                        <a:t>20 min</a:t>
                      </a:r>
                    </a:p>
                  </a:txBody>
                  <a:tcPr marL="91440" marR="91440" marT="45720" marB="45720">
                    <a:lnR w="4763">
                      <a:solidFill>
                        <a:srgbClr val="DAD5E4"/>
                      </a:solidFill>
                    </a:lnR>
                    <a:lnB w="4763">
                      <a:solidFill>
                        <a:srgbClr val="DAD5E4"/>
                      </a:solidFill>
                    </a:lnB>
                    <a:solidFill>
                      <a:srgbClr val="FCFAF6"/>
                    </a:solidFill>
                  </a:tcPr>
                </a:tc>
                <a:tc>
                  <a:txBody>
                    <a:bodyPr/>
                    <a:lstStyle/>
                    <a:p>
                      <a:r>
                        <a:rPr sz="1950" b="0">
                          <a:solidFill>
                            <a:srgbClr val="25233E"/>
                          </a:solidFill>
                          <a:latin typeface="Arial"/>
                          <a:ea typeface="Arial"/>
                          <a:cs typeface="Arial"/>
                        </a:rPr>
                        <a:t>Overestimated by 2.25 min</a:t>
                      </a:r>
                    </a:p>
                  </a:txBody>
                  <a:tcPr marL="91440" marR="91440" marT="45720" marB="45720">
                    <a:lnR w="4763">
                      <a:solidFill>
                        <a:srgbClr val="DAD5E4"/>
                      </a:solidFill>
                    </a:lnR>
                    <a:lnB w="4763">
                      <a:solidFill>
                        <a:srgbClr val="DAD5E4"/>
                      </a:solidFill>
                    </a:lnB>
                    <a:solidFill>
                      <a:srgbClr val="FCFAF6"/>
                    </a:solidFill>
                  </a:tcPr>
                </a:tc>
              </a:tr>
            </a:tbl>
          </a:graphicData>
        </a:graphic>
      </p:graphicFrame>
      <p:sp>
        <p:nvSpPr>
          <p:cNvPr id="6" name="">
            <a:extLst>
              <a:ext uri="{FF2B5EF4-FFF2-40B4-BE49-F238E27FC236}">
                <ns2:creationId id="{56CC84CE-7273-48A9-986E-648533C25A5E}"/>
              </a:ext>
            </a:extLst>
          </p:cNvPr>
          <p:cNvSpPr>
            <a:spLocks noGrp="1"/>
          </p:cNvSpPr>
          <p:nvPr/>
        </p:nvSpPr>
        <p:spPr>
          <a:xfrm>
            <a:off x="647700" y="4581525"/>
            <a:ext cx="13811250" cy="419100"/>
          </a:xfrm>
          <a:prstGeom prst="rect">
            <a:avLst/>
          </a:prstGeom>
          <a:noFill/>
          <a:ln w="0">
            <a:noFill/>
          </a:ln>
        </p:spPr>
        <p:txBody>
          <a:bodyPr/>
          <a:lstStyle>
            <a:defPPr>
              <a:defRPr sz="2325" b="1">
                <a:solidFill>
                  <a:srgbClr val="6246A4"/>
                </a:solidFill>
                <a:latin typeface="Arial"/>
                <a:ea typeface="Arial"/>
                <a:cs typeface="Arial"/>
              </a:defRPr>
            </a:defPPr>
          </a:lstStyle>
          <a:p>
            <a:pPr>
              <a:defRPr sz="2325" b="1">
                <a:solidFill>
                  <a:srgbClr val="6246A4"/>
                </a:solidFill>
                <a:latin typeface="Arial"/>
                <a:ea typeface="Arial"/>
                <a:cs typeface="Arial"/>
              </a:defRPr>
            </a:pPr>
            <a:r>
              <a:rPr sz="2325" b="1">
                <a:solidFill>
                  <a:srgbClr val="6246A4"/>
                </a:solidFill>
                <a:latin typeface="Arial"/>
                <a:ea typeface="Arial"/>
                <a:cs typeface="Arial"/>
              </a:rPr>
              <a:t>Which inputs did the models rely on?</a:t>
            </a:r>
          </a:p>
        </p:txBody>
      </p:sp>
      <p:sp>
        <p:nvSpPr>
          <p:cNvPr id="7" name="">
            <a:extLst>
              <a:ext uri="{FF2B5EF4-FFF2-40B4-BE49-F238E27FC236}">
                <ns2:creationId id="{F3E32907-3395-4773-806F-24ACB195A9A1}"/>
              </a:ext>
            </a:extLst>
          </p:cNvPr>
          <p:cNvSpPr>
            <a:spLocks noGrp="1"/>
          </p:cNvSpPr>
          <p:nvPr/>
        </p:nvSpPr>
        <p:spPr>
          <a:xfrm>
            <a:off x="647700" y="5086350"/>
            <a:ext cx="13811250" cy="1181100"/>
          </a:xfrm>
          <a:prstGeom prst="rect">
            <a:avLst/>
          </a:prstGeom>
          <a:noFill/>
          <a:ln w="0">
            <a:noFill/>
          </a:ln>
        </p:spPr>
        <p:txBody>
          <a:bodyPr/>
          <a:lstStyle>
            <a:defPPr>
              <a:defRPr sz="2100" b="0">
                <a:solidFill>
                  <a:srgbClr val="25233E"/>
                </a:solidFill>
                <a:latin typeface="Arial"/>
                <a:ea typeface="Arial"/>
                <a:cs typeface="Arial"/>
              </a:defRPr>
            </a:defPPr>
          </a:lstStyle>
          <a:p>
            <a:pPr>
              <a:defRPr sz="2100" b="0">
                <a:solidFill>
                  <a:srgbClr val="25233E"/>
                </a:solidFill>
                <a:latin typeface="Arial"/>
                <a:ea typeface="Arial"/>
                <a:cs typeface="Arial"/>
              </a:defRPr>
            </a:pPr>
            <a:r>
              <a:rPr sz="2100" b="0">
                <a:solidFill>
                  <a:srgbClr val="25233E"/>
                </a:solidFill>
                <a:latin typeface="Arial"/>
                <a:ea typeface="Arial"/>
                <a:cs typeface="Arial"/>
              </a:rPr>
              <a:t>Permutation importance shuffles one input and measures the increase in error. Distance dominates A. Distance and age are almost tied in B. Weekday/weekend is strongest in C. Cost and cuisine have small negative importance estimates, showing no reliable benefit in this test sample.</a:t>
            </a:r>
          </a:p>
        </p:txBody>
      </p:sp>
      <p:sp>
        <p:nvSpPr>
          <p:cNvPr id="8" name="">
            <a:extLst>
              <a:ext uri="{FF2B5EF4-FFF2-40B4-BE49-F238E27FC236}">
                <ns2:creationId id="{F86527B0-C143-4A7D-82FB-B31E875849D6}"/>
              </a:ext>
            </a:extLst>
          </p:cNvPr>
          <p:cNvSpPr>
            <a:spLocks noGrp="1"/>
          </p:cNvSpPr>
          <p:nvPr/>
        </p:nvSpPr>
        <p:spPr>
          <a:xfrm>
            <a:off x="647700" y="6486525"/>
            <a:ext cx="6810375" cy="419100"/>
          </a:xfrm>
          <a:prstGeom prst="rect">
            <a:avLst/>
          </a:prstGeom>
          <a:noFill/>
          <a:ln w="0">
            <a:noFill/>
          </a:ln>
        </p:spPr>
        <p:txBody>
          <a:bodyPr/>
          <a:lstStyle>
            <a:defPPr>
              <a:defRPr sz="2325" b="1">
                <a:solidFill>
                  <a:srgbClr val="007F82"/>
                </a:solidFill>
                <a:latin typeface="Arial"/>
                <a:ea typeface="Arial"/>
                <a:cs typeface="Arial"/>
              </a:defRPr>
            </a:defPPr>
          </a:lstStyle>
          <a:p>
            <a:pPr>
              <a:defRPr sz="2325" b="1">
                <a:solidFill>
                  <a:srgbClr val="007F82"/>
                </a:solidFill>
                <a:latin typeface="Arial"/>
                <a:ea typeface="Arial"/>
                <a:cs typeface="Arial"/>
              </a:defRPr>
            </a:pPr>
            <a:r>
              <a:rPr sz="2325" b="1">
                <a:solidFill>
                  <a:srgbClr val="007F82"/>
                </a:solidFill>
                <a:latin typeface="Arial"/>
                <a:ea typeface="Arial"/>
                <a:cs typeface="Arial"/>
              </a:rPr>
              <a:t>An estimate is not a guarantee</a:t>
            </a:r>
          </a:p>
        </p:txBody>
      </p:sp>
      <p:sp>
        <p:nvSpPr>
          <p:cNvPr id="9" name="">
            <a:extLst>
              <a:ext uri="{FF2B5EF4-FFF2-40B4-BE49-F238E27FC236}">
                <ns2:creationId id="{7A46FFFC-A30E-4D8A-9170-17BAC4BD6390}"/>
              </a:ext>
            </a:extLst>
          </p:cNvPr>
          <p:cNvSpPr>
            <a:spLocks noGrp="1"/>
          </p:cNvSpPr>
          <p:nvPr/>
        </p:nvSpPr>
        <p:spPr>
          <a:xfrm>
            <a:off x="647700" y="6981825"/>
            <a:ext cx="6810375" cy="1104900"/>
          </a:xfrm>
          <a:prstGeom prst="rect">
            <a:avLst/>
          </a:prstGeom>
          <a:noFill/>
          <a:ln w="0">
            <a:noFill/>
          </a:ln>
        </p:spPr>
        <p:txBody>
          <a:bodyPr/>
          <a:lstStyle>
            <a:defPPr>
              <a:defRPr sz="1950" b="0">
                <a:solidFill>
                  <a:srgbClr val="25233E"/>
                </a:solidFill>
                <a:latin typeface="Arial"/>
                <a:ea typeface="Arial"/>
                <a:cs typeface="Arial"/>
              </a:defRPr>
            </a:defPPr>
          </a:lstStyle>
          <a:p>
            <a:pPr>
              <a:defRPr sz="1950" b="0">
                <a:solidFill>
                  <a:srgbClr val="25233E"/>
                </a:solidFill>
                <a:latin typeface="Arial"/>
                <a:ea typeface="Arial"/>
                <a:cs typeface="Arial"/>
              </a:defRPr>
            </a:pPr>
            <a:r>
              <a:rPr sz="1950" b="0">
                <a:solidFill>
                  <a:srgbClr val="25233E"/>
                </a:solidFill>
                <a:latin typeface="Arial"/>
                <a:ea typeface="Arial"/>
                <a:cs typeface="Arial"/>
              </a:rPr>
              <a:t>C has 100% of predictions within ten minutes, but its baseline also achieves 100%. This loose threshold does not mean perfect accuracy. Feature importance indicates association, not causation.</a:t>
            </a:r>
          </a:p>
        </p:txBody>
      </p:sp>
      <p:sp>
        <p:nvSpPr>
          <p:cNvPr id="10" name="">
            <a:extLst>
              <a:ext uri="{FF2B5EF4-FFF2-40B4-BE49-F238E27FC236}">
                <ns2:creationId id="{C78F226B-2E30-4326-A49E-68CA463B2CC4}"/>
              </a:ext>
            </a:extLst>
          </p:cNvPr>
          <p:cNvSpPr>
            <a:spLocks noGrp="1"/>
          </p:cNvSpPr>
          <p:nvPr/>
        </p:nvSpPr>
        <p:spPr>
          <a:xfrm>
            <a:off x="8029575" y="6486525"/>
            <a:ext cx="6534150" cy="419100"/>
          </a:xfrm>
          <a:prstGeom prst="rect">
            <a:avLst/>
          </a:prstGeom>
          <a:noFill/>
          <a:ln w="0">
            <a:noFill/>
          </a:ln>
        </p:spPr>
        <p:txBody>
          <a:bodyPr/>
          <a:lstStyle>
            <a:defPPr>
              <a:defRPr sz="2325" b="1">
                <a:solidFill>
                  <a:srgbClr val="007F82"/>
                </a:solidFill>
                <a:latin typeface="Arial"/>
                <a:ea typeface="Arial"/>
                <a:cs typeface="Arial"/>
              </a:defRPr>
            </a:defPPr>
          </a:lstStyle>
          <a:p>
            <a:pPr>
              <a:defRPr sz="2325" b="1">
                <a:solidFill>
                  <a:srgbClr val="007F82"/>
                </a:solidFill>
                <a:latin typeface="Arial"/>
                <a:ea typeface="Arial"/>
                <a:cs typeface="Arial"/>
              </a:defRPr>
            </a:pPr>
            <a:r>
              <a:rPr sz="2325" b="1">
                <a:solidFill>
                  <a:srgbClr val="007F82"/>
                </a:solidFill>
                <a:latin typeface="Arial"/>
                <a:ea typeface="Arial"/>
                <a:cs typeface="Arial"/>
              </a:rPr>
              <a:t>How the result is reused</a:t>
            </a:r>
          </a:p>
        </p:txBody>
      </p:sp>
      <p:sp>
        <p:nvSpPr>
          <p:cNvPr id="11" name="">
            <a:extLst>
              <a:ext uri="{FF2B5EF4-FFF2-40B4-BE49-F238E27FC236}">
                <ns2:creationId id="{67A65A0E-79D5-43CF-8E76-AFFB941D2500}"/>
              </a:ext>
            </a:extLst>
          </p:cNvPr>
          <p:cNvSpPr>
            <a:spLocks noGrp="1"/>
          </p:cNvSpPr>
          <p:nvPr/>
        </p:nvSpPr>
        <p:spPr>
          <a:xfrm>
            <a:off x="8029575" y="6981825"/>
            <a:ext cx="6543675" cy="1104900"/>
          </a:xfrm>
          <a:prstGeom prst="rect">
            <a:avLst/>
          </a:prstGeom>
          <a:noFill/>
          <a:ln w="0">
            <a:noFill/>
          </a:ln>
        </p:spPr>
        <p:txBody>
          <a:bodyPr/>
          <a:lstStyle>
            <a:defPPr>
              <a:defRPr sz="1950" b="0">
                <a:solidFill>
                  <a:srgbClr val="25233E"/>
                </a:solidFill>
                <a:latin typeface="Arial"/>
                <a:ea typeface="Arial"/>
                <a:cs typeface="Arial"/>
              </a:defRPr>
            </a:defPPr>
          </a:lstStyle>
          <a:p>
            <a:pPr>
              <a:defRPr sz="1950" b="0">
                <a:solidFill>
                  <a:srgbClr val="25233E"/>
                </a:solidFill>
                <a:latin typeface="Arial"/>
                <a:ea typeface="Arial"/>
                <a:cs typeface="Arial"/>
              </a:defRPr>
            </a:pPr>
            <a:r>
              <a:rPr sz="1950" b="0">
                <a:solidFill>
                  <a:srgbClr val="25233E"/>
                </a:solidFill>
                <a:latin typeface="Arial"/>
                <a:ea typeface="Arial"/>
                <a:cs typeface="Arial"/>
              </a:rPr>
              <a:t>Save one preprocessing-plus-model pipeline per source. The inference script accepts the relevant input columns and produces minutes without reading the target. Reloaded predictions match the originals.</a:t>
            </a:r>
          </a:p>
        </p:txBody>
      </p:sp>
    </p:spTree>
    <p:extLst>
      <p:ext uri="{BB962C8B-B14F-4D97-AF65-F5344CB8AC3E}">
        <ns3:creationId val="506982746"/>
      </p:ext>
    </p:extLst>
  </p:cSld>
  <p:transition spd="med"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400"/>
                                        <p:tgtEl>
                                          <p:spTgt spid="5"/>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400"/>
                                        <p:tgtEl>
                                          <p:spTgt spid="9"/>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211D38"/>
        </a:solidFill>
      </p:bgPr>
    </p:bg>
    <p:spTree>
      <p:nvGrpSpPr>
        <p:cNvPr id="1" name=""/>
        <p:cNvGrpSpPr/>
        <p:nvPr/>
      </p:nvGrpSpPr>
      <p:grpSpPr>
        <a:xfrm/>
      </p:grpSpPr>
      <p:sp>
        <p:nvSpPr>
          <p:cNvPr id="20" name="">
            <a:extLst>
              <a:ext uri="{FF2B5EF4-FFF2-40B4-BE49-F238E27FC236}">
                <ns2:creationId id="{DD060177-1F95-469B-B92A-56F4F9FFB633}"/>
              </a:ext>
            </a:extLst>
          </p:cNvPr>
          <p:cNvSpPr>
            <a:spLocks noGrp="1"/>
          </p:cNvSpPr>
          <p:nvPr/>
        </p:nvSpPr>
        <p:spPr>
          <a:xfrm>
            <a:off x="609600" y="266700"/>
            <a:ext cx="13525500" cy="285750"/>
          </a:xfrm>
          <a:prstGeom prst="rect">
            <a:avLst/>
          </a:prstGeom>
          <a:noFill/>
          <a:ln w="0">
            <a:noFill/>
          </a:ln>
        </p:spPr>
        <p:txBody>
          <a:bodyPr/>
          <a:lstStyle>
            <a:defPPr>
              <a:defRPr sz="1425" b="1">
                <a:solidFill>
                  <a:srgbClr val="9CE2D1"/>
                </a:solidFill>
                <a:latin typeface="Arial"/>
                <a:ea typeface="Arial"/>
                <a:cs typeface="Arial"/>
              </a:defRPr>
            </a:defPPr>
          </a:lstStyle>
          <a:p>
            <a:pPr>
              <a:defRPr sz="1425" b="1">
                <a:solidFill>
                  <a:srgbClr val="9CE2D1"/>
                </a:solidFill>
                <a:latin typeface="Arial"/>
                <a:ea typeface="Arial"/>
                <a:cs typeface="Arial"/>
              </a:defRPr>
            </a:pPr>
            <a:r>
              <a:rPr sz="1425" b="1">
                <a:solidFill>
                  <a:srgbClr val="9CE2D1"/>
                </a:solidFill>
                <a:latin typeface="Arial"/>
                <a:ea typeface="Arial"/>
                <a:cs typeface="Arial"/>
              </a:rPr>
              <a:t>PROJECT OUTCOME</a:t>
            </a:r>
          </a:p>
        </p:txBody>
      </p:sp>
      <p:sp>
        <p:nvSpPr>
          <p:cNvPr id="2" name="">
            <a:extLst>
              <a:ext uri="{FF2B5EF4-FFF2-40B4-BE49-F238E27FC236}">
                <ns2:creationId id="{4543BCF2-216B-4AE9-A5D0-79AA5F2CE5D7}"/>
              </a:ext>
            </a:extLst>
          </p:cNvPr>
          <p:cNvSpPr>
            <a:spLocks noGrp="1"/>
          </p:cNvSpPr>
          <p:nvPr/>
        </p:nvSpPr>
        <p:spPr>
          <a:xfrm>
            <a:off x="609600" y="704850"/>
            <a:ext cx="14020800" cy="895350"/>
          </a:xfrm>
          <a:prstGeom prst="rect">
            <a:avLst/>
          </a:prstGeom>
          <a:noFill/>
          <a:ln w="0">
            <a:noFill/>
          </a:ln>
        </p:spPr>
        <p:txBody>
          <a:bodyPr/>
          <a:lstStyle>
            <a:defPPr>
              <a:defRPr sz="3600" b="1">
                <a:solidFill>
                  <a:srgbClr val="FFFFFF"/>
                </a:solidFill>
                <a:latin typeface="Arial"/>
                <a:ea typeface="Arial"/>
                <a:cs typeface="Arial"/>
              </a:defRPr>
            </a:defPPr>
          </a:lstStyle>
          <a:p>
            <a:pPr>
              <a:defRPr sz="3600" b="1">
                <a:solidFill>
                  <a:srgbClr val="FFFFFF"/>
                </a:solidFill>
                <a:latin typeface="Arial"/>
                <a:ea typeface="Arial"/>
                <a:cs typeface="Arial"/>
              </a:defRPr>
            </a:pPr>
            <a:r>
              <a:rPr sz="3600" b="1">
                <a:solidFill>
                  <a:srgbClr val="FFFFFF"/>
                </a:solidFill>
                <a:latin typeface="Arial"/>
                <a:ea typeface="Arial"/>
                <a:cs typeface="Arial"/>
              </a:rPr>
              <a:t>Conclusions, next steps and references</a:t>
            </a:r>
          </a:p>
        </p:txBody>
      </p:sp>
      <p:sp>
        <p:nvSpPr>
          <p:cNvPr id="3" name="">
            <a:extLst>
              <a:ext uri="{FF2B5EF4-FFF2-40B4-BE49-F238E27FC236}">
                <ns2:creationId id="{202B8562-8BF0-4839-B29D-48E0DFB11159}"/>
              </a:ext>
            </a:extLst>
          </p:cNvPr>
          <p:cNvSpPr>
            <a:spLocks noGrp="1"/>
          </p:cNvSpPr>
          <p:nvPr/>
        </p:nvSpPr>
        <p:spPr>
          <a:xfrm>
            <a:off x="609600" y="8220075"/>
            <a:ext cx="12858750" cy="219075"/>
          </a:xfrm>
          <a:prstGeom prst="rect">
            <a:avLst/>
          </a:prstGeom>
          <a:noFill/>
          <a:ln w="0">
            <a:noFill/>
          </a:ln>
        </p:spPr>
        <p:txBody>
          <a:bodyPr/>
          <a:lstStyle>
            <a:defPPr>
              <a:defRPr sz="1125" b="0">
                <a:solidFill>
                  <a:srgbClr val="BAB4CD"/>
                </a:solidFill>
                <a:latin typeface="Arial"/>
                <a:ea typeface="Arial"/>
                <a:cs typeface="Arial"/>
              </a:defRPr>
            </a:defPPr>
          </a:lstStyle>
          <a:p>
            <a:pPr>
              <a:defRPr sz="1125" b="0">
                <a:solidFill>
                  <a:srgbClr val="BAB4CD"/>
                </a:solidFill>
                <a:latin typeface="Arial"/>
                <a:ea typeface="Arial"/>
                <a:cs typeface="Arial"/>
              </a:defRPr>
            </a:pPr>
            <a:r>
              <a:rPr sz="1125" b="0">
                <a:solidFill>
                  <a:srgbClr val="BAB4CD"/>
                </a:solidFill>
                <a:latin typeface="Arial"/>
                <a:ea typeface="Arial"/>
                <a:cs typeface="Arial"/>
              </a:rPr>
              <a:t>AADITI GAIKWAD   /   PREDICTIVE ANALYTICS</a:t>
            </a:r>
          </a:p>
        </p:txBody>
      </p:sp>
      <p:sp>
        <p:nvSpPr>
          <p:cNvPr id="4" name="">
            <a:extLst>
              <a:ext uri="{FF2B5EF4-FFF2-40B4-BE49-F238E27FC236}">
                <ns2:creationId id="{D23D976A-8777-40AB-8D6C-799BDEF21019}"/>
              </a:ext>
            </a:extLst>
          </p:cNvPr>
          <p:cNvSpPr>
            <a:spLocks noGrp="1"/>
          </p:cNvSpPr>
          <p:nvPr/>
        </p:nvSpPr>
        <p:spPr>
          <a:xfrm>
            <a:off x="14144625" y="8172450"/>
            <a:ext cx="571500" cy="276225"/>
          </a:xfrm>
          <a:prstGeom prst="rect">
            <a:avLst/>
          </a:prstGeom>
          <a:noFill/>
          <a:ln w="0">
            <a:noFill/>
          </a:ln>
        </p:spPr>
        <p:txBody>
          <a:bodyPr/>
          <a:lstStyle>
            <a:defPPr>
              <a:defRPr sz="1500" b="1">
                <a:solidFill>
                  <a:srgbClr val="9CE2D1"/>
                </a:solidFill>
                <a:latin typeface="Arial"/>
                <a:ea typeface="Arial"/>
                <a:cs typeface="Arial"/>
              </a:defRPr>
            </a:defPPr>
          </a:lstStyle>
          <a:p>
            <a:pPr>
              <a:defRPr sz="1500" b="1">
                <a:solidFill>
                  <a:srgbClr val="9CE2D1"/>
                </a:solidFill>
                <a:latin typeface="Arial"/>
                <a:ea typeface="Arial"/>
                <a:cs typeface="Arial"/>
              </a:defRPr>
            </a:pPr>
            <a:r>
              <a:rPr sz="1500" b="1">
                <a:solidFill>
                  <a:srgbClr val="9CE2D1"/>
                </a:solidFill>
                <a:latin typeface="Arial"/>
                <a:ea typeface="Arial"/>
                <a:cs typeface="Arial"/>
              </a:rPr>
              <a:t>10</a:t>
            </a:r>
          </a:p>
        </p:txBody>
      </p:sp>
      <p:sp>
        <p:nvSpPr>
          <p:cNvPr id="5" name="">
            <a:extLst>
              <a:ext uri="{FF2B5EF4-FFF2-40B4-BE49-F238E27FC236}">
                <ns2:creationId id="{8296F383-7C53-4D8F-991B-99F990FC027B}"/>
              </a:ext>
            </a:extLst>
          </p:cNvPr>
          <p:cNvSpPr>
            <a:spLocks noGrp="1"/>
          </p:cNvSpPr>
          <p:nvPr/>
        </p:nvSpPr>
        <p:spPr>
          <a:xfrm>
            <a:off x="647700" y="1733550"/>
            <a:ext cx="5857875" cy="419100"/>
          </a:xfrm>
          <a:prstGeom prst="rect">
            <a:avLst/>
          </a:prstGeom>
          <a:noFill/>
          <a:ln w="0">
            <a:noFill/>
          </a:ln>
        </p:spPr>
        <p:txBody>
          <a:bodyPr/>
          <a:lstStyle>
            <a:defPPr>
              <a:defRPr sz="2325" b="1">
                <a:solidFill>
                  <a:srgbClr val="9CE2D1"/>
                </a:solidFill>
                <a:latin typeface="Arial"/>
                <a:ea typeface="Arial"/>
                <a:cs typeface="Arial"/>
              </a:defRPr>
            </a:defPPr>
          </a:lstStyle>
          <a:p>
            <a:pPr>
              <a:defRPr sz="2325" b="1">
                <a:solidFill>
                  <a:srgbClr val="9CE2D1"/>
                </a:solidFill>
                <a:latin typeface="Arial"/>
                <a:ea typeface="Arial"/>
                <a:cs typeface="Arial"/>
              </a:defRPr>
            </a:pPr>
            <a:r>
              <a:rPr sz="2325" b="1">
                <a:solidFill>
                  <a:srgbClr val="9CE2D1"/>
                </a:solidFill>
                <a:latin typeface="Arial"/>
                <a:ea typeface="Arial"/>
                <a:cs typeface="Arial"/>
              </a:rPr>
              <a:t>Conclusion</a:t>
            </a:r>
          </a:p>
        </p:txBody>
      </p:sp>
      <p:sp>
        <p:nvSpPr>
          <p:cNvPr id="6" name="">
            <a:extLst>
              <a:ext uri="{FF2B5EF4-FFF2-40B4-BE49-F238E27FC236}">
                <ns2:creationId id="{3B5F970A-B9AD-4A5A-AEEF-3E05B302D59F}"/>
              </a:ext>
            </a:extLst>
          </p:cNvPr>
          <p:cNvSpPr>
            <a:spLocks noGrp="1"/>
          </p:cNvSpPr>
          <p:nvPr/>
        </p:nvSpPr>
        <p:spPr>
          <a:xfrm>
            <a:off x="647700" y="2228850"/>
            <a:ext cx="5810250" cy="1438275"/>
          </a:xfrm>
          <a:prstGeom prst="rect">
            <a:avLst/>
          </a:prstGeom>
          <a:noFill/>
          <a:ln w="0">
            <a:noFill/>
          </a:ln>
        </p:spPr>
        <p:txBody>
          <a:bodyPr/>
          <a:lstStyle>
            <a:defPPr>
              <a:defRPr sz="2100" b="0">
                <a:solidFill>
                  <a:srgbClr val="FFFFFF"/>
                </a:solidFill>
                <a:latin typeface="Arial"/>
                <a:ea typeface="Arial"/>
                <a:cs typeface="Arial"/>
              </a:defRPr>
            </a:defPPr>
          </a:lstStyle>
          <a:p>
            <a:pPr>
              <a:defRPr sz="2100" b="0">
                <a:solidFill>
                  <a:srgbClr val="FFFFFF"/>
                </a:solidFill>
                <a:latin typeface="Arial"/>
                <a:ea typeface="Arial"/>
                <a:cs typeface="Arial"/>
              </a:defRPr>
            </a:pPr>
            <a:r>
              <a:rPr sz="2100" b="0">
                <a:solidFill>
                  <a:srgbClr val="FFFFFF"/>
                </a:solidFill>
                <a:latin typeface="Arial"/>
                <a:ea typeface="Arial"/>
                <a:cs typeface="Arial"/>
              </a:rPr>
              <a:t>All three selected models beat their own median baseline. The main contribution is a complete, reproducible KDD workflow with explicit cleaning, training-only transformations and evaluation suited to each dataset.</a:t>
            </a:r>
          </a:p>
        </p:txBody>
      </p:sp>
      <p:sp>
        <p:nvSpPr>
          <p:cNvPr id="7" name="">
            <a:extLst>
              <a:ext uri="{FF2B5EF4-FFF2-40B4-BE49-F238E27FC236}">
                <ns2:creationId id="{7AC181F9-DB04-4F33-BBEE-842375D17A5A}"/>
              </a:ext>
            </a:extLst>
          </p:cNvPr>
          <p:cNvSpPr>
            <a:spLocks noGrp="1"/>
          </p:cNvSpPr>
          <p:nvPr/>
        </p:nvSpPr>
        <p:spPr>
          <a:xfrm>
            <a:off x="647700" y="4124325"/>
            <a:ext cx="5810250" cy="419100"/>
          </a:xfrm>
          <a:prstGeom prst="rect">
            <a:avLst/>
          </a:prstGeom>
          <a:noFill/>
          <a:ln w="0">
            <a:noFill/>
          </a:ln>
        </p:spPr>
        <p:txBody>
          <a:bodyPr/>
          <a:lstStyle>
            <a:defPPr>
              <a:defRPr sz="2325" b="1">
                <a:solidFill>
                  <a:srgbClr val="9CE2D1"/>
                </a:solidFill>
                <a:latin typeface="Arial"/>
                <a:ea typeface="Arial"/>
                <a:cs typeface="Arial"/>
              </a:defRPr>
            </a:defPPr>
          </a:lstStyle>
          <a:p>
            <a:pPr>
              <a:defRPr sz="2325" b="1">
                <a:solidFill>
                  <a:srgbClr val="9CE2D1"/>
                </a:solidFill>
                <a:latin typeface="Arial"/>
                <a:ea typeface="Arial"/>
                <a:cs typeface="Arial"/>
              </a:defRPr>
            </a:pPr>
            <a:r>
              <a:rPr sz="2325" b="1">
                <a:solidFill>
                  <a:srgbClr val="9CE2D1"/>
                </a:solidFill>
                <a:latin typeface="Arial"/>
                <a:ea typeface="Arial"/>
                <a:cs typeface="Arial"/>
              </a:rPr>
              <a:t>Limitations</a:t>
            </a:r>
          </a:p>
        </p:txBody>
      </p:sp>
      <p:sp>
        <p:nvSpPr>
          <p:cNvPr id="8" name="">
            <a:extLst>
              <a:ext uri="{FF2B5EF4-FFF2-40B4-BE49-F238E27FC236}">
                <ns2:creationId id="{79A97943-46F0-4027-B5ED-455B1038EACD}"/>
              </a:ext>
            </a:extLst>
          </p:cNvPr>
          <p:cNvSpPr>
            <a:spLocks noGrp="1"/>
          </p:cNvSpPr>
          <p:nvPr/>
        </p:nvSpPr>
        <p:spPr>
          <a:xfrm>
            <a:off x="647700" y="4619625"/>
            <a:ext cx="5810250" cy="1390650"/>
          </a:xfrm>
          <a:prstGeom prst="rect">
            <a:avLst/>
          </a:prstGeom>
          <a:noFill/>
          <a:ln w="0">
            <a:noFill/>
          </a:ln>
        </p:spPr>
        <p:txBody>
          <a:bodyPr/>
          <a:lstStyle>
            <a:defPPr>
              <a:defRPr sz="2025" b="0">
                <a:solidFill>
                  <a:srgbClr val="FFFFFF"/>
                </a:solidFill>
                <a:latin typeface="Arial"/>
                <a:ea typeface="Arial"/>
                <a:cs typeface="Arial"/>
              </a:defRPr>
            </a:defPPr>
          </a:lstStyle>
          <a:p>
            <a:pPr>
              <a:defRPr sz="2025" b="0">
                <a:solidFill>
                  <a:srgbClr val="FFFFFF"/>
                </a:solidFill>
                <a:latin typeface="Arial"/>
                <a:ea typeface="Arial"/>
                <a:cs typeface="Arial"/>
              </a:defRPr>
            </a:pPr>
            <a:r>
              <a:rPr sz="2025" b="0">
                <a:solidFill>
                  <a:srgbClr val="FFFFFF"/>
                </a:solidFill>
                <a:latin typeface="Arial"/>
                <a:ea typeface="Arial"/>
                <a:cs typeface="Arial"/>
              </a:rPr>
              <a:t>Source provenance and target definitions are incomplete. No future-date evaluation is available. B uses straight-line distance. C has limited context. Models provide point estimates rather than calibrated time ranges.</a:t>
            </a:r>
          </a:p>
        </p:txBody>
      </p:sp>
      <p:sp>
        <p:nvSpPr>
          <p:cNvPr id="9" name="">
            <a:extLst>
              <a:ext uri="{FF2B5EF4-FFF2-40B4-BE49-F238E27FC236}">
                <ns2:creationId id="{BF0E4585-43CF-4C61-AF35-26E92BD78A1E}"/>
              </a:ext>
            </a:extLst>
          </p:cNvPr>
          <p:cNvSpPr>
            <a:spLocks noGrp="1"/>
          </p:cNvSpPr>
          <p:nvPr/>
        </p:nvSpPr>
        <p:spPr>
          <a:xfrm>
            <a:off x="647700" y="6477000"/>
            <a:ext cx="5810250" cy="419100"/>
          </a:xfrm>
          <a:prstGeom prst="rect">
            <a:avLst/>
          </a:prstGeom>
          <a:noFill/>
          <a:ln w="0">
            <a:noFill/>
          </a:ln>
        </p:spPr>
        <p:txBody>
          <a:bodyPr/>
          <a:lstStyle>
            <a:defPPr>
              <a:defRPr sz="2325" b="1">
                <a:solidFill>
                  <a:srgbClr val="9CE2D1"/>
                </a:solidFill>
                <a:latin typeface="Arial"/>
                <a:ea typeface="Arial"/>
                <a:cs typeface="Arial"/>
              </a:defRPr>
            </a:defPPr>
          </a:lstStyle>
          <a:p>
            <a:pPr>
              <a:defRPr sz="2325" b="1">
                <a:solidFill>
                  <a:srgbClr val="9CE2D1"/>
                </a:solidFill>
                <a:latin typeface="Arial"/>
                <a:ea typeface="Arial"/>
                <a:cs typeface="Arial"/>
              </a:defRPr>
            </a:pPr>
            <a:r>
              <a:rPr sz="2325" b="1">
                <a:solidFill>
                  <a:srgbClr val="9CE2D1"/>
                </a:solidFill>
                <a:latin typeface="Arial"/>
                <a:ea typeface="Arial"/>
                <a:cs typeface="Arial"/>
              </a:rPr>
              <a:t>Next steps</a:t>
            </a:r>
          </a:p>
        </p:txBody>
      </p:sp>
      <p:sp>
        <p:nvSpPr>
          <p:cNvPr id="10" name="">
            <a:extLst>
              <a:ext uri="{FF2B5EF4-FFF2-40B4-BE49-F238E27FC236}">
                <ns2:creationId id="{7C9D4E8B-1135-49C4-811A-A928E221015C}"/>
              </a:ext>
            </a:extLst>
          </p:cNvPr>
          <p:cNvSpPr>
            <a:spLocks noGrp="1"/>
          </p:cNvSpPr>
          <p:nvPr/>
        </p:nvSpPr>
        <p:spPr>
          <a:xfrm>
            <a:off x="647700" y="6924675"/>
            <a:ext cx="5810250" cy="1152525"/>
          </a:xfrm>
          <a:prstGeom prst="rect">
            <a:avLst/>
          </a:prstGeom>
          <a:noFill/>
          <a:ln w="0">
            <a:noFill/>
          </a:ln>
        </p:spPr>
        <p:txBody>
          <a:bodyPr/>
          <a:lstStyle>
            <a:defPPr>
              <a:defRPr sz="1950" b="0">
                <a:solidFill>
                  <a:srgbClr val="FFFFFF"/>
                </a:solidFill>
                <a:latin typeface="Arial"/>
                <a:ea typeface="Arial"/>
                <a:cs typeface="Arial"/>
              </a:defRPr>
            </a:defPPr>
          </a:lstStyle>
          <a:p>
            <a:pPr>
              <a:defRPr sz="1950" b="0">
                <a:solidFill>
                  <a:srgbClr val="FFFFFF"/>
                </a:solidFill>
                <a:latin typeface="Arial"/>
                <a:ea typeface="Arial"/>
                <a:cs typeface="Arial"/>
              </a:defRPr>
            </a:pPr>
            <a:r>
              <a:rPr sz="1950" b="0">
                <a:solidFill>
                  <a:srgbClr val="FFFFFF"/>
                </a:solidFill>
                <a:latin typeface="Arial"/>
                <a:ea typeface="Arial"/>
                <a:cs typeface="Arial"/>
              </a:rPr>
              <a:t>Use verified timestamped orders, road-route distances and genuine order-time preparation estimates. Test later periods and report an arrival-time range.</a:t>
            </a:r>
          </a:p>
        </p:txBody>
      </p:sp>
      <p:sp>
        <p:nvSpPr>
          <p:cNvPr id="11" name="">
            <a:extLst>
              <a:ext uri="{FF2B5EF4-FFF2-40B4-BE49-F238E27FC236}">
                <ns2:creationId id="{656BFFF0-412A-4FA3-95E3-1A8610A4DA93}"/>
              </a:ext>
            </a:extLst>
          </p:cNvPr>
          <p:cNvSpPr>
            <a:spLocks noGrp="1"/>
          </p:cNvSpPr>
          <p:nvPr/>
        </p:nvSpPr>
        <p:spPr>
          <a:xfrm>
            <a:off x="7362825" y="1733550"/>
            <a:ext cx="7210425" cy="419100"/>
          </a:xfrm>
          <a:prstGeom prst="rect">
            <a:avLst/>
          </a:prstGeom>
          <a:noFill/>
          <a:ln w="0">
            <a:noFill/>
          </a:ln>
        </p:spPr>
        <p:txBody>
          <a:bodyPr/>
          <a:lstStyle>
            <a:defPPr>
              <a:defRPr sz="2325" b="1">
                <a:solidFill>
                  <a:srgbClr val="9CE2D1"/>
                </a:solidFill>
                <a:latin typeface="Arial"/>
                <a:ea typeface="Arial"/>
                <a:cs typeface="Arial"/>
              </a:defRPr>
            </a:defPPr>
          </a:lstStyle>
          <a:p>
            <a:pPr>
              <a:defRPr sz="2325" b="1">
                <a:solidFill>
                  <a:srgbClr val="9CE2D1"/>
                </a:solidFill>
                <a:latin typeface="Arial"/>
                <a:ea typeface="Arial"/>
                <a:cs typeface="Arial"/>
              </a:defRPr>
            </a:pPr>
            <a:r>
              <a:rPr sz="2325" b="1">
                <a:solidFill>
                  <a:srgbClr val="9CE2D1"/>
                </a:solidFill>
                <a:latin typeface="Arial"/>
                <a:ea typeface="Arial"/>
                <a:cs typeface="Arial"/>
              </a:rPr>
              <a:t>Dataset references</a:t>
            </a:r>
          </a:p>
        </p:txBody>
      </p:sp>
      <p:sp>
        <p:nvSpPr>
          <p:cNvPr id="12" name="">
            <a:extLst>
              <a:ext uri="{FF2B5EF4-FFF2-40B4-BE49-F238E27FC236}">
                <ns2:creationId id="{F60E2910-41C3-45E4-AF4C-E61C5EA0406A}"/>
              </a:ext>
            </a:extLst>
          </p:cNvPr>
          <p:cNvSpPr>
            <a:spLocks noGrp="1"/>
          </p:cNvSpPr>
          <p:nvPr/>
        </p:nvSpPr>
        <p:spPr>
          <a:xfrm>
            <a:off x="7362825" y="2295525"/>
            <a:ext cx="7191375" cy="523875"/>
          </a:xfrm>
          <a:prstGeom prst="rect">
            <a:avLst/>
          </a:prstGeom>
          <a:noFill/>
          <a:ln w="0">
            <a:noFill/>
          </a:ln>
        </p:spPr>
        <p:txBody>
          <a:bodyPr/>
          <a:lstStyle>
            <a:defPPr>
              <a:defRPr sz="1875" b="1">
                <a:solidFill>
                  <a:srgbClr val="FFFFFF"/>
                </a:solidFill>
                <a:latin typeface="Arial"/>
                <a:ea typeface="Arial"/>
                <a:cs typeface="Arial"/>
              </a:defRPr>
            </a:defPPr>
          </a:lstStyle>
          <a:p>
            <a:pPr>
              <a:defRPr sz="1875" b="1">
                <a:solidFill>
                  <a:srgbClr val="FFFFFF"/>
                </a:solidFill>
                <a:latin typeface="Arial"/>
                <a:ea typeface="Arial"/>
                <a:cs typeface="Arial"/>
              </a:defRPr>
            </a:pPr>
            <a:r>
              <a:rPr sz="1875" b="1">
                <a:solidFill>
                  <a:srgbClr val="FFFFFF"/>
                </a:solidFill>
                <a:latin typeface="Arial"/>
                <a:ea typeface="Arial"/>
                <a:cs typeface="Arial"/>
              </a:rPr>
              <a:t>A. Den_Kuznetz - Food Delivery Time Prediction</a:t>
            </a:r>
          </a:p>
        </p:txBody>
      </p:sp>
      <p:sp>
        <p:nvSpPr>
          <p:cNvPr id="13" name="">
            <a:extLst>
              <a:ext uri="{FF2B5EF4-FFF2-40B4-BE49-F238E27FC236}">
                <ns2:creationId id="{7F86084E-EF26-4440-A045-0C753DFB1810}"/>
              </a:ext>
            </a:extLst>
          </p:cNvPr>
          <p:cNvSpPr>
            <a:spLocks noGrp="1"/>
          </p:cNvSpPr>
          <p:nvPr/>
        </p:nvSpPr>
        <p:spPr>
          <a:xfrm>
            <a:off x="7362825" y="2809875"/>
            <a:ext cx="7191375" cy="609600"/>
          </a:xfrm>
          <a:prstGeom prst="rect">
            <a:avLst/>
          </a:prstGeom>
          <a:noFill/>
          <a:ln w="0">
            <a:noFill/>
          </a:ln>
        </p:spPr>
        <p:txBody>
          <a:bodyPr/>
          <a:lstStyle>
            <a:defPPr>
              <a:defRPr sz="1500" b="0">
                <a:solidFill>
                  <a:srgbClr val="C8BDE0"/>
                </a:solidFill>
                <a:latin typeface="Arial"/>
                <a:ea typeface="Arial"/>
                <a:cs typeface="Arial"/>
              </a:defRPr>
            </a:defPPr>
          </a:lstStyle>
          <a:p>
            <a:pPr>
              <a:defRPr sz="1500" b="0">
                <a:solidFill>
                  <a:srgbClr val="C8BDE0"/>
                </a:solidFill>
                <a:latin typeface="Arial"/>
                <a:ea typeface="Arial"/>
                <a:cs typeface="Arial"/>
              </a:defRPr>
            </a:pPr>
            <a:r>
              <a:rPr sz="1500" b="0">
                <a:solidFill>
                  <a:srgbClr val="C8BDE0"/>
                </a:solidFill>
                <a:latin typeface="Arial"/>
                <a:ea typeface="Arial"/>
                <a:cs typeface="Arial"/>
                <a:hlinkClick r:id="rIdDatasetLink4"/>
              </a:rPr>
              <a:t>https://www.kaggle.com/datasets/denkuznetz/food-delivery-time-prediction</a:t>
            </a:r>
          </a:p>
        </p:txBody>
      </p:sp>
      <p:sp>
        <p:nvSpPr>
          <p:cNvPr id="14" name="">
            <a:extLst>
              <a:ext uri="{FF2B5EF4-FFF2-40B4-BE49-F238E27FC236}">
                <ns2:creationId id="{88875575-B334-4582-AD07-95A0FD4C9842}"/>
              </a:ext>
            </a:extLst>
          </p:cNvPr>
          <p:cNvSpPr>
            <a:spLocks noGrp="1"/>
          </p:cNvSpPr>
          <p:nvPr/>
        </p:nvSpPr>
        <p:spPr>
          <a:xfrm>
            <a:off x="7362825" y="3448050"/>
            <a:ext cx="7191375" cy="523875"/>
          </a:xfrm>
          <a:prstGeom prst="rect">
            <a:avLst/>
          </a:prstGeom>
          <a:noFill/>
          <a:ln w="0">
            <a:noFill/>
          </a:ln>
        </p:spPr>
        <p:txBody>
          <a:bodyPr/>
          <a:lstStyle>
            <a:defPPr>
              <a:defRPr sz="1875" b="1">
                <a:solidFill>
                  <a:srgbClr val="FFFFFF"/>
                </a:solidFill>
                <a:latin typeface="Arial"/>
                <a:ea typeface="Arial"/>
                <a:cs typeface="Arial"/>
              </a:defRPr>
            </a:defPPr>
          </a:lstStyle>
          <a:p>
            <a:pPr>
              <a:defRPr sz="1875" b="1">
                <a:solidFill>
                  <a:srgbClr val="FFFFFF"/>
                </a:solidFill>
                <a:latin typeface="Arial"/>
                <a:ea typeface="Arial"/>
                <a:cs typeface="Arial"/>
              </a:defRPr>
            </a:pPr>
            <a:r>
              <a:rPr sz="1875" b="1">
                <a:solidFill>
                  <a:srgbClr val="FFFFFF"/>
                </a:solidFill>
                <a:latin typeface="Arial"/>
                <a:ea typeface="Arial"/>
                <a:cs typeface="Arial"/>
              </a:rPr>
              <a:t>B. Rajat Kumar - Food Delivery Time</a:t>
            </a:r>
          </a:p>
        </p:txBody>
      </p:sp>
      <p:sp>
        <p:nvSpPr>
          <p:cNvPr id="15" name="">
            <a:extLst>
              <a:ext uri="{FF2B5EF4-FFF2-40B4-BE49-F238E27FC236}">
                <ns2:creationId id="{0CC4DEC6-D105-46C3-B439-CADCD14F126F}"/>
              </a:ext>
            </a:extLst>
          </p:cNvPr>
          <p:cNvSpPr>
            <a:spLocks noGrp="1"/>
          </p:cNvSpPr>
          <p:nvPr/>
        </p:nvSpPr>
        <p:spPr>
          <a:xfrm>
            <a:off x="7362825" y="3962400"/>
            <a:ext cx="7191375" cy="609600"/>
          </a:xfrm>
          <a:prstGeom prst="rect">
            <a:avLst/>
          </a:prstGeom>
          <a:noFill/>
          <a:ln w="0">
            <a:noFill/>
          </a:ln>
        </p:spPr>
        <p:txBody>
          <a:bodyPr/>
          <a:lstStyle>
            <a:defPPr>
              <a:defRPr sz="1500" b="0">
                <a:solidFill>
                  <a:srgbClr val="C8BDE0"/>
                </a:solidFill>
                <a:latin typeface="Arial"/>
                <a:ea typeface="Arial"/>
                <a:cs typeface="Arial"/>
              </a:defRPr>
            </a:defPPr>
          </a:lstStyle>
          <a:p>
            <a:pPr>
              <a:defRPr sz="1500" b="0">
                <a:solidFill>
                  <a:srgbClr val="C8BDE0"/>
                </a:solidFill>
                <a:latin typeface="Arial"/>
                <a:ea typeface="Arial"/>
                <a:cs typeface="Arial"/>
              </a:defRPr>
            </a:pPr>
            <a:r>
              <a:rPr sz="1500" b="0">
                <a:solidFill>
                  <a:srgbClr val="C8BDE0"/>
                </a:solidFill>
                <a:latin typeface="Arial"/>
                <a:ea typeface="Arial"/>
                <a:cs typeface="Arial"/>
                <a:hlinkClick r:id="rIdDatasetLink5"/>
              </a:rPr>
              <a:t>https://www.kaggle.com/datasets/rajatkumar30/food-delivery-time</a:t>
            </a:r>
          </a:p>
        </p:txBody>
      </p:sp>
      <p:sp>
        <p:nvSpPr>
          <p:cNvPr id="16" name="">
            <a:extLst>
              <a:ext uri="{FF2B5EF4-FFF2-40B4-BE49-F238E27FC236}">
                <ns2:creationId id="{A7DB5814-1471-4295-AD5F-AFD6DAF24188}"/>
              </a:ext>
            </a:extLst>
          </p:cNvPr>
          <p:cNvSpPr>
            <a:spLocks noGrp="1"/>
          </p:cNvSpPr>
          <p:nvPr/>
        </p:nvSpPr>
        <p:spPr>
          <a:xfrm>
            <a:off x="7362825" y="4600575"/>
            <a:ext cx="7191375" cy="523875"/>
          </a:xfrm>
          <a:prstGeom prst="rect">
            <a:avLst/>
          </a:prstGeom>
          <a:noFill/>
          <a:ln w="0">
            <a:noFill/>
          </a:ln>
        </p:spPr>
        <p:txBody>
          <a:bodyPr/>
          <a:lstStyle>
            <a:defPPr>
              <a:defRPr sz="1875" b="1">
                <a:solidFill>
                  <a:srgbClr val="FFFFFF"/>
                </a:solidFill>
                <a:latin typeface="Arial"/>
                <a:ea typeface="Arial"/>
                <a:cs typeface="Arial"/>
              </a:defRPr>
            </a:defPPr>
          </a:lstStyle>
          <a:p>
            <a:pPr>
              <a:defRPr sz="1875" b="1">
                <a:solidFill>
                  <a:srgbClr val="FFFFFF"/>
                </a:solidFill>
                <a:latin typeface="Arial"/>
                <a:ea typeface="Arial"/>
                <a:cs typeface="Arial"/>
              </a:defRPr>
            </a:pPr>
            <a:r>
              <a:rPr sz="1875" b="1">
                <a:solidFill>
                  <a:srgbClr val="FFFFFF"/>
                </a:solidFill>
                <a:latin typeface="Arial"/>
                <a:ea typeface="Arial"/>
                <a:cs typeface="Arial"/>
              </a:rPr>
              <a:t>C. Ahsan Raza - NYC Restaurants / FoodHub</a:t>
            </a:r>
          </a:p>
        </p:txBody>
      </p:sp>
      <p:sp>
        <p:nvSpPr>
          <p:cNvPr id="17" name="">
            <a:extLst>
              <a:ext uri="{FF2B5EF4-FFF2-40B4-BE49-F238E27FC236}">
                <ns2:creationId id="{11852C20-4A25-4EF5-BE6F-97B287CA706E}"/>
              </a:ext>
            </a:extLst>
          </p:cNvPr>
          <p:cNvSpPr>
            <a:spLocks noGrp="1"/>
          </p:cNvSpPr>
          <p:nvPr/>
        </p:nvSpPr>
        <p:spPr>
          <a:xfrm>
            <a:off x="7362825" y="5114925"/>
            <a:ext cx="7191375" cy="609600"/>
          </a:xfrm>
          <a:prstGeom prst="rect">
            <a:avLst/>
          </a:prstGeom>
          <a:noFill/>
          <a:ln w="0">
            <a:noFill/>
          </a:ln>
        </p:spPr>
        <p:txBody>
          <a:bodyPr/>
          <a:lstStyle>
            <a:defPPr>
              <a:defRPr sz="1500" b="0">
                <a:solidFill>
                  <a:srgbClr val="C8BDE0"/>
                </a:solidFill>
                <a:latin typeface="Arial"/>
                <a:ea typeface="Arial"/>
                <a:cs typeface="Arial"/>
              </a:defRPr>
            </a:defPPr>
          </a:lstStyle>
          <a:p>
            <a:pPr>
              <a:defRPr sz="1500" b="0">
                <a:solidFill>
                  <a:srgbClr val="C8BDE0"/>
                </a:solidFill>
                <a:latin typeface="Arial"/>
                <a:ea typeface="Arial"/>
                <a:cs typeface="Arial"/>
              </a:defRPr>
            </a:pPr>
            <a:r>
              <a:rPr sz="1500" b="0">
                <a:solidFill>
                  <a:srgbClr val="C8BDE0"/>
                </a:solidFill>
                <a:latin typeface="Arial"/>
                <a:ea typeface="Arial"/>
                <a:cs typeface="Arial"/>
                <a:hlinkClick r:id="rIdDatasetLink6"/>
              </a:rPr>
              <a:t>https://www.kaggle.com/datasets/ahsan81/food-ordering-and-delivery-app-dataset</a:t>
            </a:r>
          </a:p>
        </p:txBody>
      </p:sp>
      <p:sp>
        <p:nvSpPr>
          <p:cNvPr id="18" name="">
            <a:extLst>
              <a:ext uri="{FF2B5EF4-FFF2-40B4-BE49-F238E27FC236}">
                <ns2:creationId id="{DB0F5561-916A-4338-B640-9AA05712F8EB}"/>
              </a:ext>
            </a:extLst>
          </p:cNvPr>
          <p:cNvSpPr>
            <a:spLocks noGrp="1"/>
          </p:cNvSpPr>
          <p:nvPr/>
        </p:nvSpPr>
        <p:spPr>
          <a:xfrm>
            <a:off x="7362825" y="6010275"/>
            <a:ext cx="7210425" cy="419100"/>
          </a:xfrm>
          <a:prstGeom prst="rect">
            <a:avLst/>
          </a:prstGeom>
          <a:noFill/>
          <a:ln w="0">
            <a:noFill/>
          </a:ln>
        </p:spPr>
        <p:txBody>
          <a:bodyPr/>
          <a:lstStyle>
            <a:defPPr>
              <a:defRPr sz="2325" b="1">
                <a:solidFill>
                  <a:srgbClr val="9CE2D1"/>
                </a:solidFill>
                <a:latin typeface="Arial"/>
                <a:ea typeface="Arial"/>
                <a:cs typeface="Arial"/>
              </a:defRPr>
            </a:defPPr>
          </a:lstStyle>
          <a:p>
            <a:pPr>
              <a:defRPr sz="2325" b="1">
                <a:solidFill>
                  <a:srgbClr val="9CE2D1"/>
                </a:solidFill>
                <a:latin typeface="Arial"/>
                <a:ea typeface="Arial"/>
                <a:cs typeface="Arial"/>
              </a:defRPr>
            </a:pPr>
            <a:r>
              <a:rPr sz="2325" b="1">
                <a:solidFill>
                  <a:srgbClr val="9CE2D1"/>
                </a:solidFill>
                <a:latin typeface="Arial"/>
                <a:ea typeface="Arial"/>
                <a:cs typeface="Arial"/>
              </a:rPr>
              <a:t>Research and implementation references</a:t>
            </a:r>
          </a:p>
        </p:txBody>
      </p:sp>
      <p:sp>
        <p:nvSpPr>
          <p:cNvPr id="19" name="">
            <a:extLst>
              <a:ext uri="{FF2B5EF4-FFF2-40B4-BE49-F238E27FC236}">
                <ns2:creationId id="{39A2C18A-D85F-467B-8DA9-4598C7D52CD3}"/>
              </a:ext>
            </a:extLst>
          </p:cNvPr>
          <p:cNvSpPr>
            <a:spLocks noGrp="1"/>
          </p:cNvSpPr>
          <p:nvPr/>
        </p:nvSpPr>
        <p:spPr>
          <a:xfrm>
            <a:off x="7362825" y="6505575"/>
            <a:ext cx="7191375" cy="1381125"/>
          </a:xfrm>
          <a:prstGeom prst="rect">
            <a:avLst/>
          </a:prstGeom>
          <a:noFill/>
          <a:ln w="0">
            <a:noFill/>
          </a:ln>
        </p:spPr>
        <p:txBody>
          <a:bodyPr/>
          <a:lstStyle>
            <a:defPPr>
              <a:defRPr sz="1875" b="0">
                <a:solidFill>
                  <a:srgbClr val="FFFFFF"/>
                </a:solidFill>
                <a:latin typeface="Arial"/>
                <a:ea typeface="Arial"/>
                <a:cs typeface="Arial"/>
              </a:defRPr>
            </a:defPPr>
          </a:lstStyle>
          <a:p>
            <a:pPr>
              <a:defRPr sz="1875" b="0">
                <a:solidFill>
                  <a:srgbClr val="FFFFFF"/>
                </a:solidFill>
                <a:latin typeface="Arial"/>
                <a:ea typeface="Arial"/>
                <a:cs typeface="Arial"/>
              </a:defRPr>
            </a:pPr>
            <a:r>
              <a:rPr sz="1875" b="0">
                <a:solidFill>
                  <a:srgbClr val="FFFFFF"/>
                </a:solidFill>
                <a:latin typeface="Arial"/>
                <a:ea typeface="Arial"/>
                <a:cs typeface="Arial"/>
              </a:rPr>
              <a:t>Garg et al. (2025): arxiv.org/abs/2503.15177</a:t>
            </a:r>
          </a:p>
          <a:p>
            <a:pPr>
              <a:defRPr sz="1875" b="0">
                <a:solidFill>
                  <a:srgbClr val="FFFFFF"/>
                </a:solidFill>
                <a:latin typeface="Arial"/>
                <a:ea typeface="Arial"/>
                <a:cs typeface="Arial"/>
              </a:defRPr>
            </a:pPr>
            <a:r>
              <a:rPr sz="1875" b="0">
                <a:solidFill>
                  <a:srgbClr val="FFFFFF"/>
                </a:solidFill>
                <a:latin typeface="Arial"/>
                <a:ea typeface="Arial"/>
                <a:cs typeface="Arial"/>
              </a:rPr>
              <a:t>Wen et al. (2023): arxiv.org/abs/2309.01194</a:t>
            </a:r>
          </a:p>
          <a:p>
            <a:pPr>
              <a:defRPr sz="1875" b="0">
                <a:solidFill>
                  <a:srgbClr val="FFFFFF"/>
                </a:solidFill>
                <a:latin typeface="Arial"/>
                <a:ea typeface="Arial"/>
                <a:cs typeface="Arial"/>
              </a:defRPr>
            </a:pPr>
            <a:r>
              <a:rPr sz="1875" b="0">
                <a:solidFill>
                  <a:srgbClr val="FFFFFF"/>
                </a:solidFill>
                <a:latin typeface="Arial"/>
                <a:ea typeface="Arial"/>
                <a:cs typeface="Arial"/>
              </a:rPr>
              <a:t>scikit-learn: pipelines, cross-validation and</a:t>
            </a:r>
          </a:p>
          <a:p>
            <a:pPr>
              <a:defRPr sz="1875" b="0">
                <a:solidFill>
                  <a:srgbClr val="FFFFFF"/>
                </a:solidFill>
                <a:latin typeface="Arial"/>
                <a:ea typeface="Arial"/>
                <a:cs typeface="Arial"/>
              </a:defRPr>
            </a:pPr>
            <a:r>
              <a:rPr sz="1875" b="0">
                <a:solidFill>
                  <a:srgbClr val="FFFFFF"/>
                </a:solidFill>
                <a:latin typeface="Arial"/>
                <a:ea typeface="Arial"/>
                <a:cs typeface="Arial"/>
              </a:rPr>
              <a:t>permutation importance documentation</a:t>
            </a:r>
          </a:p>
        </p:txBody>
      </p:sp>
    </p:spTree>
    <p:extLst>
      <p:ext uri="{BB962C8B-B14F-4D97-AF65-F5344CB8AC3E}">
        <ns4:creationId val="1704910182"/>
      </p:ext>
    </p:extLst>
  </p:cSld>
  <p:transition spd="med"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400"/>
                                        <p:tgtEl>
                                          <p:spTgt spid="6"/>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00"/>
                                        <p:tgtEl>
                                          <p:spTgt spid="8"/>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2026-10-13T15:49:44.5140000Z</dcterms:created>
  <dcterms:modified xsi:type="dcterms:W3CDTF">2026-10-13T15:49:44.5140000Z</dcterms:modified>
</coreProperties>
</file>